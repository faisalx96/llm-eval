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8" r:id="rId2"/>
    <p:sldId id="257" r:id="rId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48"/>
    <p:restoredTop sz="94648"/>
  </p:normalViewPr>
  <p:slideViewPr>
    <p:cSldViewPr snapToGrid="0">
      <p:cViewPr varScale="1">
        <p:scale>
          <a:sx n="117" d="100"/>
          <a:sy n="117" d="100"/>
        </p:scale>
        <p:origin x="3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background">
            <a:extLst>
              <a:ext uri="{FF2B5EF4-FFF2-40B4-BE49-F238E27FC236}">
                <a16:creationId xmlns:a16="http://schemas.microsoft.com/office/drawing/2014/main" id="{20B46D92-9602-42F3-A6ED-736C53CECC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0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full-slide-surface">
            <a:extLst>
              <a:ext uri="{FF2B5EF4-FFF2-40B4-BE49-F238E27FC236}">
                <a16:creationId xmlns:a16="http://schemas.microsoft.com/office/drawing/2014/main" id="{6B8079EF-F8A1-4B68-B100-7DEC43174A62}"/>
              </a:ext>
            </a:extLst>
          </p:cNvPr>
          <p:cNvSpPr>
            <a:spLocks noGrp="1"/>
          </p:cNvSpPr>
          <p:nvPr/>
        </p:nvSpPr>
        <p:spPr>
          <a:xfrm>
            <a:off x="38100" y="295275"/>
            <a:ext cx="12192000" cy="6562725"/>
          </a:xfrm>
          <a:prstGeom prst="rect">
            <a:avLst/>
          </a:prstGeom>
          <a:solidFill>
            <a:srgbClr val="1414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indent="0" algn="l" defTabSz="914400" rtl="0">
              <a:buNone/>
            </a:pPr>
            <a:endParaRPr/>
          </a:p>
        </p:txBody>
      </p:sp>
      <p:sp>
        <p:nvSpPr>
          <p:cNvPr id="3" name="top-accent-rule">
            <a:extLst>
              <a:ext uri="{FF2B5EF4-FFF2-40B4-BE49-F238E27FC236}">
                <a16:creationId xmlns:a16="http://schemas.microsoft.com/office/drawing/2014/main" id="{517F8CB3-4AA1-4DC7-8979-79FE957937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D4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bottom-rule">
            <a:extLst>
              <a:ext uri="{FF2B5EF4-FFF2-40B4-BE49-F238E27FC236}">
                <a16:creationId xmlns:a16="http://schemas.microsoft.com/office/drawing/2014/main" id="{CC2D44FC-FDC2-43B8-B4E7-5B57B8E96B41}"/>
              </a:ext>
            </a:extLst>
          </p:cNvPr>
          <p:cNvSpPr>
            <a:spLocks noGrp="1"/>
          </p:cNvSpPr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25253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0" name="Picture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" y="343057"/>
            <a:ext cx="400050" cy="399736"/>
          </a:xfrm>
          <a:prstGeom prst="rect">
            <a:avLst/>
          </a:prstGeom>
        </p:spPr>
      </p:pic>
      <p:pic>
        <p:nvPicPr>
          <p:cNvPr id="81" name="Picture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91828" y="304800"/>
            <a:ext cx="778595" cy="495300"/>
          </a:xfrm>
          <a:prstGeom prst="rect">
            <a:avLst/>
          </a:prstGeom>
        </p:spPr>
      </p:pic>
      <p:sp>
        <p:nvSpPr>
          <p:cNvPr id="8" name="kicker-label">
            <a:extLst>
              <a:ext uri="{FF2B5EF4-FFF2-40B4-BE49-F238E27FC236}">
                <a16:creationId xmlns:a16="http://schemas.microsoft.com/office/drawing/2014/main" id="{B6284605-0A42-4F9C-AFF3-08296CEBE588}"/>
              </a:ext>
            </a:extLst>
          </p:cNvPr>
          <p:cNvSpPr>
            <a:spLocks noGrp="1"/>
          </p:cNvSpPr>
          <p:nvPr/>
        </p:nvSpPr>
        <p:spPr>
          <a:xfrm>
            <a:off x="514350" y="933293"/>
            <a:ext cx="7123484" cy="3905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defRPr>
            </a:pPr>
            <a:r>
              <a:rPr sz="4000" b="1" dirty="0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2026 PRODUCT ROADMAP</a:t>
            </a:r>
          </a:p>
        </p:txBody>
      </p:sp>
      <p:sp>
        <p:nvSpPr>
          <p:cNvPr id="9" name="claim-title">
            <a:extLst>
              <a:ext uri="{FF2B5EF4-FFF2-40B4-BE49-F238E27FC236}">
                <a16:creationId xmlns:a16="http://schemas.microsoft.com/office/drawing/2014/main" id="{991D66DE-62F7-4DD1-ADA8-E8437BBEE9FD}"/>
              </a:ext>
            </a:extLst>
          </p:cNvPr>
          <p:cNvSpPr>
            <a:spLocks noGrp="1"/>
          </p:cNvSpPr>
          <p:nvPr/>
        </p:nvSpPr>
        <p:spPr>
          <a:xfrm>
            <a:off x="495300" y="1524000"/>
            <a:ext cx="7905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0" indent="0" algn="l" defTabSz="914400" rtl="0">
              <a:buNone/>
              <a:defRPr sz="3075" b="1">
                <a:solidFill>
                  <a:srgbClr val="EDEDF0"/>
                </a:solidFill>
                <a:latin typeface="Aptos Display"/>
                <a:ea typeface="Aptos Display"/>
                <a:cs typeface="Aptos Display"/>
              </a:defRPr>
            </a:pPr>
            <a:endParaRPr/>
          </a:p>
        </p:txBody>
      </p:sp>
      <p:sp>
        <p:nvSpPr>
          <p:cNvPr id="15" name="swimlane-base">
            <a:extLst>
              <a:ext uri="{FF2B5EF4-FFF2-40B4-BE49-F238E27FC236}">
                <a16:creationId xmlns:a16="http://schemas.microsoft.com/office/drawing/2014/main" id="{D58B707A-597E-4CB8-BA3E-A5787E0DD850}"/>
              </a:ext>
            </a:extLst>
          </p:cNvPr>
          <p:cNvSpPr>
            <a:spLocks noGrp="1"/>
          </p:cNvSpPr>
          <p:nvPr/>
        </p:nvSpPr>
        <p:spPr>
          <a:xfrm>
            <a:off x="552450" y="3981450"/>
            <a:ext cx="11087100" cy="28575"/>
          </a:xfrm>
          <a:prstGeom prst="rect">
            <a:avLst/>
          </a:prstGeom>
          <a:solidFill>
            <a:srgbClr val="25253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wimlane-accent">
            <a:extLst>
              <a:ext uri="{FF2B5EF4-FFF2-40B4-BE49-F238E27FC236}">
                <a16:creationId xmlns:a16="http://schemas.microsoft.com/office/drawing/2014/main" id="{D6A7B9C1-9E7C-4AE2-8B72-33DF080F2B6F}"/>
              </a:ext>
            </a:extLst>
          </p:cNvPr>
          <p:cNvSpPr>
            <a:spLocks noGrp="1"/>
          </p:cNvSpPr>
          <p:nvPr/>
        </p:nvSpPr>
        <p:spPr>
          <a:xfrm>
            <a:off x="552450" y="3981450"/>
            <a:ext cx="11087100" cy="28575"/>
          </a:xfrm>
          <a:prstGeom prst="rect">
            <a:avLst/>
          </a:prstGeom>
          <a:solidFill>
            <a:srgbClr val="00D4AA">
              <a:alpha val="5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connector-MAY">
            <a:extLst>
              <a:ext uri="{FF2B5EF4-FFF2-40B4-BE49-F238E27FC236}">
                <a16:creationId xmlns:a16="http://schemas.microsoft.com/office/drawing/2014/main" id="{CDF6C60A-6FB9-44D2-89C2-54B202938942}"/>
              </a:ext>
            </a:extLst>
          </p:cNvPr>
          <p:cNvSpPr>
            <a:spLocks noGrp="1"/>
          </p:cNvSpPr>
          <p:nvPr/>
        </p:nvSpPr>
        <p:spPr>
          <a:xfrm>
            <a:off x="552450" y="3619500"/>
            <a:ext cx="14288" cy="361950"/>
          </a:xfrm>
          <a:prstGeom prst="rect">
            <a:avLst/>
          </a:prstGeom>
          <a:solidFill>
            <a:srgbClr val="00D4AA">
              <a:alpha val="6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dot-MAY">
            <a:extLst>
              <a:ext uri="{FF2B5EF4-FFF2-40B4-BE49-F238E27FC236}">
                <a16:creationId xmlns:a16="http://schemas.microsoft.com/office/drawing/2014/main" id="{81754A13-3F57-4117-9A31-0B0574248E3C}"/>
              </a:ext>
            </a:extLst>
          </p:cNvPr>
          <p:cNvSpPr>
            <a:spLocks noGrp="1"/>
          </p:cNvSpPr>
          <p:nvPr/>
        </p:nvSpPr>
        <p:spPr>
          <a:xfrm>
            <a:off x="466725" y="3895725"/>
            <a:ext cx="171450" cy="171450"/>
          </a:xfrm>
          <a:prstGeom prst="ellipse">
            <a:avLst/>
          </a:prstGeom>
          <a:solidFill>
            <a:srgbClr val="00D4AA"/>
          </a:solidFill>
          <a:ln w="19050">
            <a:solidFill>
              <a:srgbClr val="1414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month-MAY">
            <a:extLst>
              <a:ext uri="{FF2B5EF4-FFF2-40B4-BE49-F238E27FC236}">
                <a16:creationId xmlns:a16="http://schemas.microsoft.com/office/drawing/2014/main" id="{CA9E7890-1FC2-489E-AB8F-0128E1D81E52}"/>
              </a:ext>
            </a:extLst>
          </p:cNvPr>
          <p:cNvSpPr>
            <a:spLocks noGrp="1"/>
          </p:cNvSpPr>
          <p:nvPr/>
        </p:nvSpPr>
        <p:spPr>
          <a:xfrm>
            <a:off x="285750" y="3724275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defRPr>
            </a:pPr>
            <a:endParaRPr/>
          </a:p>
        </p:txBody>
      </p:sp>
      <p:sp>
        <p:nvSpPr>
          <p:cNvPr id="20" name="milestone-card-MAY">
            <a:extLst>
              <a:ext uri="{FF2B5EF4-FFF2-40B4-BE49-F238E27FC236}">
                <a16:creationId xmlns:a16="http://schemas.microsoft.com/office/drawing/2014/main" id="{A84A5556-8A38-45EC-BC85-7B770F15D8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222232"/>
          </a:solidFill>
          <a:ln w="9525">
            <a:solidFill>
              <a:srgbClr val="00D4AA">
                <a:alpha val="53333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milestone-accent-MAY">
            <a:extLst>
              <a:ext uri="{FF2B5EF4-FFF2-40B4-BE49-F238E27FC236}">
                <a16:creationId xmlns:a16="http://schemas.microsoft.com/office/drawing/2014/main" id="{0A7BC8C3-E977-41FD-900F-5E7E885AAEE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00D4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itle-MAY">
            <a:extLst>
              <a:ext uri="{FF2B5EF4-FFF2-40B4-BE49-F238E27FC236}">
                <a16:creationId xmlns:a16="http://schemas.microsoft.com/office/drawing/2014/main" id="{BF95D4EC-F535-4BCD-B488-478B3EDDE7E1}"/>
              </a:ext>
            </a:extLst>
          </p:cNvPr>
          <p:cNvSpPr>
            <a:spLocks noGrp="1"/>
          </p:cNvSpPr>
          <p:nvPr/>
        </p:nvSpPr>
        <p:spPr>
          <a:xfrm>
            <a:off x="514350" y="3019425"/>
            <a:ext cx="10668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23" name="detail-MAY">
            <a:extLst>
              <a:ext uri="{FF2B5EF4-FFF2-40B4-BE49-F238E27FC236}">
                <a16:creationId xmlns:a16="http://schemas.microsoft.com/office/drawing/2014/main" id="{2B1B0355-AF99-45AF-B278-8AAE5DD2E679}"/>
              </a:ext>
            </a:extLst>
          </p:cNvPr>
          <p:cNvSpPr>
            <a:spLocks noGrp="1"/>
          </p:cNvSpPr>
          <p:nvPr/>
        </p:nvSpPr>
        <p:spPr>
          <a:xfrm>
            <a:off x="514350" y="3190875"/>
            <a:ext cx="10668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24" name="connector-JUN">
            <a:extLst>
              <a:ext uri="{FF2B5EF4-FFF2-40B4-BE49-F238E27FC236}">
                <a16:creationId xmlns:a16="http://schemas.microsoft.com/office/drawing/2014/main" id="{28D8AC7B-A7C2-4695-A90C-0DC469963767}"/>
              </a:ext>
            </a:extLst>
          </p:cNvPr>
          <p:cNvSpPr>
            <a:spLocks noGrp="1"/>
          </p:cNvSpPr>
          <p:nvPr/>
        </p:nvSpPr>
        <p:spPr>
          <a:xfrm>
            <a:off x="2136321" y="3981450"/>
            <a:ext cx="14288" cy="457200"/>
          </a:xfrm>
          <a:prstGeom prst="rect">
            <a:avLst/>
          </a:prstGeom>
          <a:solidFill>
            <a:srgbClr val="00A8FF">
              <a:alpha val="6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dot-JUN">
            <a:extLst>
              <a:ext uri="{FF2B5EF4-FFF2-40B4-BE49-F238E27FC236}">
                <a16:creationId xmlns:a16="http://schemas.microsoft.com/office/drawing/2014/main" id="{DF34B979-A0A0-4969-9553-77552628051D}"/>
              </a:ext>
            </a:extLst>
          </p:cNvPr>
          <p:cNvSpPr>
            <a:spLocks noGrp="1"/>
          </p:cNvSpPr>
          <p:nvPr/>
        </p:nvSpPr>
        <p:spPr>
          <a:xfrm>
            <a:off x="2050596" y="3895725"/>
            <a:ext cx="171450" cy="171450"/>
          </a:xfrm>
          <a:prstGeom prst="ellipse">
            <a:avLst/>
          </a:prstGeom>
          <a:solidFill>
            <a:srgbClr val="00A8FF"/>
          </a:solidFill>
          <a:ln w="19050">
            <a:solidFill>
              <a:srgbClr val="1414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month-JUN">
            <a:extLst>
              <a:ext uri="{FF2B5EF4-FFF2-40B4-BE49-F238E27FC236}">
                <a16:creationId xmlns:a16="http://schemas.microsoft.com/office/drawing/2014/main" id="{9AED1232-04F0-462C-80A3-3731B13BC5DD}"/>
              </a:ext>
            </a:extLst>
          </p:cNvPr>
          <p:cNvSpPr>
            <a:spLocks noGrp="1"/>
          </p:cNvSpPr>
          <p:nvPr/>
        </p:nvSpPr>
        <p:spPr>
          <a:xfrm>
            <a:off x="1869621" y="3562350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00A8FF"/>
                </a:solidFill>
                <a:latin typeface="Aptos Mono"/>
                <a:ea typeface="Aptos Mono"/>
                <a:cs typeface="Aptos Mono"/>
              </a:defRPr>
            </a:pPr>
            <a:endParaRPr/>
          </a:p>
        </p:txBody>
      </p:sp>
      <p:sp>
        <p:nvSpPr>
          <p:cNvPr id="27" name="milestone-card-JUN">
            <a:extLst>
              <a:ext uri="{FF2B5EF4-FFF2-40B4-BE49-F238E27FC236}">
                <a16:creationId xmlns:a16="http://schemas.microsoft.com/office/drawing/2014/main" id="{C7FFD9A3-641B-49EC-951B-5696900846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1A1A28"/>
          </a:solidFill>
          <a:ln w="9525">
            <a:solidFill>
              <a:srgbClr val="00A8FF">
                <a:alpha val="53333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milestone-accent-JUN">
            <a:extLst>
              <a:ext uri="{FF2B5EF4-FFF2-40B4-BE49-F238E27FC236}">
                <a16:creationId xmlns:a16="http://schemas.microsoft.com/office/drawing/2014/main" id="{9E994734-7B4D-4C18-B566-5EF5D46418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00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itle-JUN">
            <a:extLst>
              <a:ext uri="{FF2B5EF4-FFF2-40B4-BE49-F238E27FC236}">
                <a16:creationId xmlns:a16="http://schemas.microsoft.com/office/drawing/2014/main" id="{2319358D-2994-4832-B02E-70BF1F43F745}"/>
              </a:ext>
            </a:extLst>
          </p:cNvPr>
          <p:cNvSpPr>
            <a:spLocks noGrp="1"/>
          </p:cNvSpPr>
          <p:nvPr/>
        </p:nvSpPr>
        <p:spPr>
          <a:xfrm>
            <a:off x="1612446" y="4619625"/>
            <a:ext cx="10668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30" name="detail-JUN">
            <a:extLst>
              <a:ext uri="{FF2B5EF4-FFF2-40B4-BE49-F238E27FC236}">
                <a16:creationId xmlns:a16="http://schemas.microsoft.com/office/drawing/2014/main" id="{319BB137-DD7F-4D5E-BF5E-899B90A0D30D}"/>
              </a:ext>
            </a:extLst>
          </p:cNvPr>
          <p:cNvSpPr>
            <a:spLocks noGrp="1"/>
          </p:cNvSpPr>
          <p:nvPr/>
        </p:nvSpPr>
        <p:spPr>
          <a:xfrm>
            <a:off x="1612446" y="4791075"/>
            <a:ext cx="10668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31" name="connector-JUL">
            <a:extLst>
              <a:ext uri="{FF2B5EF4-FFF2-40B4-BE49-F238E27FC236}">
                <a16:creationId xmlns:a16="http://schemas.microsoft.com/office/drawing/2014/main" id="{6A998A8E-61E2-4ADC-A12F-27EDE5B36CB5}"/>
              </a:ext>
            </a:extLst>
          </p:cNvPr>
          <p:cNvSpPr>
            <a:spLocks noGrp="1"/>
          </p:cNvSpPr>
          <p:nvPr/>
        </p:nvSpPr>
        <p:spPr>
          <a:xfrm>
            <a:off x="3720193" y="3619500"/>
            <a:ext cx="14288" cy="361950"/>
          </a:xfrm>
          <a:prstGeom prst="rect">
            <a:avLst/>
          </a:prstGeom>
          <a:solidFill>
            <a:srgbClr val="00A8FF">
              <a:alpha val="6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dot-JUL">
            <a:extLst>
              <a:ext uri="{FF2B5EF4-FFF2-40B4-BE49-F238E27FC236}">
                <a16:creationId xmlns:a16="http://schemas.microsoft.com/office/drawing/2014/main" id="{FC8C5891-304E-4037-9EEE-5C689FE50BD3}"/>
              </a:ext>
            </a:extLst>
          </p:cNvPr>
          <p:cNvSpPr>
            <a:spLocks noGrp="1"/>
          </p:cNvSpPr>
          <p:nvPr/>
        </p:nvSpPr>
        <p:spPr>
          <a:xfrm>
            <a:off x="3634468" y="3895725"/>
            <a:ext cx="171450" cy="171450"/>
          </a:xfrm>
          <a:prstGeom prst="ellipse">
            <a:avLst/>
          </a:prstGeom>
          <a:solidFill>
            <a:srgbClr val="00A8FF"/>
          </a:solidFill>
          <a:ln w="19050">
            <a:solidFill>
              <a:srgbClr val="1414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month-JUL">
            <a:extLst>
              <a:ext uri="{FF2B5EF4-FFF2-40B4-BE49-F238E27FC236}">
                <a16:creationId xmlns:a16="http://schemas.microsoft.com/office/drawing/2014/main" id="{64C61B43-0135-426F-9E49-9E77B7F552D6}"/>
              </a:ext>
            </a:extLst>
          </p:cNvPr>
          <p:cNvSpPr>
            <a:spLocks noGrp="1"/>
          </p:cNvSpPr>
          <p:nvPr/>
        </p:nvSpPr>
        <p:spPr>
          <a:xfrm>
            <a:off x="3453493" y="3724275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00A8FF"/>
                </a:solidFill>
                <a:latin typeface="Aptos Mono"/>
                <a:ea typeface="Aptos Mono"/>
                <a:cs typeface="Aptos Mono"/>
              </a:defRPr>
            </a:pPr>
            <a:endParaRPr/>
          </a:p>
        </p:txBody>
      </p:sp>
      <p:sp>
        <p:nvSpPr>
          <p:cNvPr id="34" name="milestone-card-JUL">
            <a:extLst>
              <a:ext uri="{FF2B5EF4-FFF2-40B4-BE49-F238E27FC236}">
                <a16:creationId xmlns:a16="http://schemas.microsoft.com/office/drawing/2014/main" id="{0EF56A79-2F18-426C-A2CA-7F98DD6354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222232"/>
          </a:solidFill>
          <a:ln w="9525">
            <a:solidFill>
              <a:srgbClr val="00A8FF">
                <a:alpha val="53333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milestone-accent-JUL">
            <a:extLst>
              <a:ext uri="{FF2B5EF4-FFF2-40B4-BE49-F238E27FC236}">
                <a16:creationId xmlns:a16="http://schemas.microsoft.com/office/drawing/2014/main" id="{B30B5685-904F-4F77-A4E0-CADE92A76D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00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itle-JUL">
            <a:extLst>
              <a:ext uri="{FF2B5EF4-FFF2-40B4-BE49-F238E27FC236}">
                <a16:creationId xmlns:a16="http://schemas.microsoft.com/office/drawing/2014/main" id="{1AAD4FF4-505E-4384-811A-7BF12CAB17BF}"/>
              </a:ext>
            </a:extLst>
          </p:cNvPr>
          <p:cNvSpPr>
            <a:spLocks noGrp="1"/>
          </p:cNvSpPr>
          <p:nvPr/>
        </p:nvSpPr>
        <p:spPr>
          <a:xfrm>
            <a:off x="3196318" y="3019425"/>
            <a:ext cx="10668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37" name="detail-JUL">
            <a:extLst>
              <a:ext uri="{FF2B5EF4-FFF2-40B4-BE49-F238E27FC236}">
                <a16:creationId xmlns:a16="http://schemas.microsoft.com/office/drawing/2014/main" id="{62DF03B2-83AF-4461-99AE-E85A0BCB24E3}"/>
              </a:ext>
            </a:extLst>
          </p:cNvPr>
          <p:cNvSpPr>
            <a:spLocks noGrp="1"/>
          </p:cNvSpPr>
          <p:nvPr/>
        </p:nvSpPr>
        <p:spPr>
          <a:xfrm>
            <a:off x="3196318" y="3190875"/>
            <a:ext cx="10668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38" name="connector-AUG">
            <a:extLst>
              <a:ext uri="{FF2B5EF4-FFF2-40B4-BE49-F238E27FC236}">
                <a16:creationId xmlns:a16="http://schemas.microsoft.com/office/drawing/2014/main" id="{BC273907-D999-4CFD-8DC1-97FCF1104B02}"/>
              </a:ext>
            </a:extLst>
          </p:cNvPr>
          <p:cNvSpPr>
            <a:spLocks noGrp="1"/>
          </p:cNvSpPr>
          <p:nvPr/>
        </p:nvSpPr>
        <p:spPr>
          <a:xfrm>
            <a:off x="5304064" y="3981450"/>
            <a:ext cx="14288" cy="457200"/>
          </a:xfrm>
          <a:prstGeom prst="rect">
            <a:avLst/>
          </a:prstGeom>
          <a:solidFill>
            <a:srgbClr val="A855F7">
              <a:alpha val="6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dot-AUG">
            <a:extLst>
              <a:ext uri="{FF2B5EF4-FFF2-40B4-BE49-F238E27FC236}">
                <a16:creationId xmlns:a16="http://schemas.microsoft.com/office/drawing/2014/main" id="{0E95AF36-5C22-4C9B-BF32-94E39242B423}"/>
              </a:ext>
            </a:extLst>
          </p:cNvPr>
          <p:cNvSpPr>
            <a:spLocks noGrp="1"/>
          </p:cNvSpPr>
          <p:nvPr/>
        </p:nvSpPr>
        <p:spPr>
          <a:xfrm>
            <a:off x="5218339" y="3895725"/>
            <a:ext cx="171450" cy="171450"/>
          </a:xfrm>
          <a:prstGeom prst="ellipse">
            <a:avLst/>
          </a:prstGeom>
          <a:solidFill>
            <a:srgbClr val="A855F7"/>
          </a:solidFill>
          <a:ln w="19050">
            <a:solidFill>
              <a:srgbClr val="1414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month-AUG">
            <a:extLst>
              <a:ext uri="{FF2B5EF4-FFF2-40B4-BE49-F238E27FC236}">
                <a16:creationId xmlns:a16="http://schemas.microsoft.com/office/drawing/2014/main" id="{C88AD7F7-861F-4B3F-AC1E-5063D387FA25}"/>
              </a:ext>
            </a:extLst>
          </p:cNvPr>
          <p:cNvSpPr>
            <a:spLocks noGrp="1"/>
          </p:cNvSpPr>
          <p:nvPr/>
        </p:nvSpPr>
        <p:spPr>
          <a:xfrm>
            <a:off x="5037364" y="3562350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A855F7"/>
                </a:solidFill>
                <a:latin typeface="Aptos Mono"/>
                <a:ea typeface="Aptos Mono"/>
                <a:cs typeface="Aptos Mono"/>
              </a:defRPr>
            </a:pPr>
            <a:endParaRPr/>
          </a:p>
        </p:txBody>
      </p:sp>
      <p:sp>
        <p:nvSpPr>
          <p:cNvPr id="41" name="milestone-card-AUG">
            <a:extLst>
              <a:ext uri="{FF2B5EF4-FFF2-40B4-BE49-F238E27FC236}">
                <a16:creationId xmlns:a16="http://schemas.microsoft.com/office/drawing/2014/main" id="{BD2B8FF5-4D10-4E3E-B674-1396FCEBE7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1A1A28"/>
          </a:solidFill>
          <a:ln w="9525">
            <a:solidFill>
              <a:srgbClr val="A855F7">
                <a:alpha val="53333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milestone-accent-AUG">
            <a:extLst>
              <a:ext uri="{FF2B5EF4-FFF2-40B4-BE49-F238E27FC236}">
                <a16:creationId xmlns:a16="http://schemas.microsoft.com/office/drawing/2014/main" id="{5E749E42-D703-48CC-A7AD-E2F21BD376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A855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itle-AUG">
            <a:extLst>
              <a:ext uri="{FF2B5EF4-FFF2-40B4-BE49-F238E27FC236}">
                <a16:creationId xmlns:a16="http://schemas.microsoft.com/office/drawing/2014/main" id="{69907521-9BBF-4FDB-BECF-A974C5A46D9B}"/>
              </a:ext>
            </a:extLst>
          </p:cNvPr>
          <p:cNvSpPr>
            <a:spLocks noGrp="1"/>
          </p:cNvSpPr>
          <p:nvPr/>
        </p:nvSpPr>
        <p:spPr>
          <a:xfrm>
            <a:off x="4780189" y="4619625"/>
            <a:ext cx="10668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44" name="detail-AUG">
            <a:extLst>
              <a:ext uri="{FF2B5EF4-FFF2-40B4-BE49-F238E27FC236}">
                <a16:creationId xmlns:a16="http://schemas.microsoft.com/office/drawing/2014/main" id="{2E20C826-60D0-4D49-95E9-59561F969D5C}"/>
              </a:ext>
            </a:extLst>
          </p:cNvPr>
          <p:cNvSpPr>
            <a:spLocks noGrp="1"/>
          </p:cNvSpPr>
          <p:nvPr/>
        </p:nvSpPr>
        <p:spPr>
          <a:xfrm>
            <a:off x="4780189" y="4791075"/>
            <a:ext cx="10668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45" name="connector-SEP">
            <a:extLst>
              <a:ext uri="{FF2B5EF4-FFF2-40B4-BE49-F238E27FC236}">
                <a16:creationId xmlns:a16="http://schemas.microsoft.com/office/drawing/2014/main" id="{01426D46-77CE-4D90-B39C-BE03FED0DB32}"/>
              </a:ext>
            </a:extLst>
          </p:cNvPr>
          <p:cNvSpPr>
            <a:spLocks noGrp="1"/>
          </p:cNvSpPr>
          <p:nvPr/>
        </p:nvSpPr>
        <p:spPr>
          <a:xfrm>
            <a:off x="6887936" y="3619500"/>
            <a:ext cx="14288" cy="361950"/>
          </a:xfrm>
          <a:prstGeom prst="rect">
            <a:avLst/>
          </a:prstGeom>
          <a:solidFill>
            <a:srgbClr val="F59E0B">
              <a:alpha val="6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dot-SEP">
            <a:extLst>
              <a:ext uri="{FF2B5EF4-FFF2-40B4-BE49-F238E27FC236}">
                <a16:creationId xmlns:a16="http://schemas.microsoft.com/office/drawing/2014/main" id="{638068FF-6F25-4D8D-9662-26FF688B43C4}"/>
              </a:ext>
            </a:extLst>
          </p:cNvPr>
          <p:cNvSpPr>
            <a:spLocks noGrp="1"/>
          </p:cNvSpPr>
          <p:nvPr/>
        </p:nvSpPr>
        <p:spPr>
          <a:xfrm>
            <a:off x="6802211" y="3895725"/>
            <a:ext cx="171450" cy="171450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414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month-SEP">
            <a:extLst>
              <a:ext uri="{FF2B5EF4-FFF2-40B4-BE49-F238E27FC236}">
                <a16:creationId xmlns:a16="http://schemas.microsoft.com/office/drawing/2014/main" id="{E734A263-AB97-4F91-8916-12D5D59F910D}"/>
              </a:ext>
            </a:extLst>
          </p:cNvPr>
          <p:cNvSpPr>
            <a:spLocks noGrp="1"/>
          </p:cNvSpPr>
          <p:nvPr/>
        </p:nvSpPr>
        <p:spPr>
          <a:xfrm>
            <a:off x="6621236" y="3724275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F59E0B"/>
                </a:solidFill>
                <a:latin typeface="Aptos Mono"/>
                <a:ea typeface="Aptos Mono"/>
                <a:cs typeface="Aptos Mono"/>
              </a:defRPr>
            </a:pPr>
            <a:endParaRPr/>
          </a:p>
        </p:txBody>
      </p:sp>
      <p:sp>
        <p:nvSpPr>
          <p:cNvPr id="48" name="milestone-card-SEP">
            <a:extLst>
              <a:ext uri="{FF2B5EF4-FFF2-40B4-BE49-F238E27FC236}">
                <a16:creationId xmlns:a16="http://schemas.microsoft.com/office/drawing/2014/main" id="{672D776A-6F0E-44EB-80CB-E23025C41B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222232"/>
          </a:solidFill>
          <a:ln w="9525">
            <a:solidFill>
              <a:srgbClr val="F59E0B">
                <a:alpha val="53333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milestone-accent-SEP">
            <a:extLst>
              <a:ext uri="{FF2B5EF4-FFF2-40B4-BE49-F238E27FC236}">
                <a16:creationId xmlns:a16="http://schemas.microsoft.com/office/drawing/2014/main" id="{35A2401D-AB07-43DF-9958-6294A0738F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itle-SEP">
            <a:extLst>
              <a:ext uri="{FF2B5EF4-FFF2-40B4-BE49-F238E27FC236}">
                <a16:creationId xmlns:a16="http://schemas.microsoft.com/office/drawing/2014/main" id="{54AA8202-1F7B-4248-8117-9A6D3C126988}"/>
              </a:ext>
            </a:extLst>
          </p:cNvPr>
          <p:cNvSpPr>
            <a:spLocks noGrp="1"/>
          </p:cNvSpPr>
          <p:nvPr/>
        </p:nvSpPr>
        <p:spPr>
          <a:xfrm>
            <a:off x="6364061" y="3019425"/>
            <a:ext cx="10668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51" name="detail-SEP">
            <a:extLst>
              <a:ext uri="{FF2B5EF4-FFF2-40B4-BE49-F238E27FC236}">
                <a16:creationId xmlns:a16="http://schemas.microsoft.com/office/drawing/2014/main" id="{3B0A8F77-ED11-49CF-AD31-85D6351CEA25}"/>
              </a:ext>
            </a:extLst>
          </p:cNvPr>
          <p:cNvSpPr>
            <a:spLocks noGrp="1"/>
          </p:cNvSpPr>
          <p:nvPr/>
        </p:nvSpPr>
        <p:spPr>
          <a:xfrm>
            <a:off x="6364061" y="3190875"/>
            <a:ext cx="10668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52" name="connector-OCT">
            <a:extLst>
              <a:ext uri="{FF2B5EF4-FFF2-40B4-BE49-F238E27FC236}">
                <a16:creationId xmlns:a16="http://schemas.microsoft.com/office/drawing/2014/main" id="{5AAFF327-2FFF-4255-854F-F7E1912687C4}"/>
              </a:ext>
            </a:extLst>
          </p:cNvPr>
          <p:cNvSpPr>
            <a:spLocks noGrp="1"/>
          </p:cNvSpPr>
          <p:nvPr/>
        </p:nvSpPr>
        <p:spPr>
          <a:xfrm>
            <a:off x="8471807" y="3981450"/>
            <a:ext cx="14288" cy="457200"/>
          </a:xfrm>
          <a:prstGeom prst="rect">
            <a:avLst/>
          </a:prstGeom>
          <a:solidFill>
            <a:srgbClr val="00D4AA">
              <a:alpha val="6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dot-OCT">
            <a:extLst>
              <a:ext uri="{FF2B5EF4-FFF2-40B4-BE49-F238E27FC236}">
                <a16:creationId xmlns:a16="http://schemas.microsoft.com/office/drawing/2014/main" id="{93E963B7-3CBF-47A5-B835-3D7A3FDC0F0C}"/>
              </a:ext>
            </a:extLst>
          </p:cNvPr>
          <p:cNvSpPr>
            <a:spLocks noGrp="1"/>
          </p:cNvSpPr>
          <p:nvPr/>
        </p:nvSpPr>
        <p:spPr>
          <a:xfrm>
            <a:off x="8386082" y="3895725"/>
            <a:ext cx="171450" cy="171450"/>
          </a:xfrm>
          <a:prstGeom prst="ellipse">
            <a:avLst/>
          </a:prstGeom>
          <a:solidFill>
            <a:srgbClr val="00D4AA"/>
          </a:solidFill>
          <a:ln w="19050">
            <a:solidFill>
              <a:srgbClr val="1414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month-OCT">
            <a:extLst>
              <a:ext uri="{FF2B5EF4-FFF2-40B4-BE49-F238E27FC236}">
                <a16:creationId xmlns:a16="http://schemas.microsoft.com/office/drawing/2014/main" id="{40E014E0-C90C-43B8-B1AF-FB151F381BB4}"/>
              </a:ext>
            </a:extLst>
          </p:cNvPr>
          <p:cNvSpPr>
            <a:spLocks noGrp="1"/>
          </p:cNvSpPr>
          <p:nvPr/>
        </p:nvSpPr>
        <p:spPr>
          <a:xfrm>
            <a:off x="8205107" y="3562350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defRPr>
            </a:pPr>
            <a:endParaRPr/>
          </a:p>
        </p:txBody>
      </p:sp>
      <p:sp>
        <p:nvSpPr>
          <p:cNvPr id="55" name="milestone-card-OCT">
            <a:extLst>
              <a:ext uri="{FF2B5EF4-FFF2-40B4-BE49-F238E27FC236}">
                <a16:creationId xmlns:a16="http://schemas.microsoft.com/office/drawing/2014/main" id="{3876477E-DA84-4ABB-8300-53F5EB71B0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1A1A28"/>
          </a:solidFill>
          <a:ln w="9525">
            <a:solidFill>
              <a:srgbClr val="00D4AA">
                <a:alpha val="53333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milestone-accent-OCT">
            <a:extLst>
              <a:ext uri="{FF2B5EF4-FFF2-40B4-BE49-F238E27FC236}">
                <a16:creationId xmlns:a16="http://schemas.microsoft.com/office/drawing/2014/main" id="{371BB80A-BA60-4D27-B232-9B243E24A8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00D4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itle-OCT">
            <a:extLst>
              <a:ext uri="{FF2B5EF4-FFF2-40B4-BE49-F238E27FC236}">
                <a16:creationId xmlns:a16="http://schemas.microsoft.com/office/drawing/2014/main" id="{C7EE9E90-F613-46A7-B9E0-FB04A603B020}"/>
              </a:ext>
            </a:extLst>
          </p:cNvPr>
          <p:cNvSpPr>
            <a:spLocks noGrp="1"/>
          </p:cNvSpPr>
          <p:nvPr/>
        </p:nvSpPr>
        <p:spPr>
          <a:xfrm>
            <a:off x="7947932" y="4619625"/>
            <a:ext cx="10668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58" name="detail-OCT">
            <a:extLst>
              <a:ext uri="{FF2B5EF4-FFF2-40B4-BE49-F238E27FC236}">
                <a16:creationId xmlns:a16="http://schemas.microsoft.com/office/drawing/2014/main" id="{A00DAD13-C086-4546-AA33-00366A12C16F}"/>
              </a:ext>
            </a:extLst>
          </p:cNvPr>
          <p:cNvSpPr>
            <a:spLocks noGrp="1"/>
          </p:cNvSpPr>
          <p:nvPr/>
        </p:nvSpPr>
        <p:spPr>
          <a:xfrm>
            <a:off x="7947932" y="4791075"/>
            <a:ext cx="10668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59" name="connector-NOV">
            <a:extLst>
              <a:ext uri="{FF2B5EF4-FFF2-40B4-BE49-F238E27FC236}">
                <a16:creationId xmlns:a16="http://schemas.microsoft.com/office/drawing/2014/main" id="{66EA33A7-203D-4354-8458-37F2A01D5C59}"/>
              </a:ext>
            </a:extLst>
          </p:cNvPr>
          <p:cNvSpPr>
            <a:spLocks noGrp="1"/>
          </p:cNvSpPr>
          <p:nvPr/>
        </p:nvSpPr>
        <p:spPr>
          <a:xfrm>
            <a:off x="10055679" y="3619500"/>
            <a:ext cx="14288" cy="361950"/>
          </a:xfrm>
          <a:prstGeom prst="rect">
            <a:avLst/>
          </a:prstGeom>
          <a:solidFill>
            <a:srgbClr val="10B981">
              <a:alpha val="6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dot-NOV">
            <a:extLst>
              <a:ext uri="{FF2B5EF4-FFF2-40B4-BE49-F238E27FC236}">
                <a16:creationId xmlns:a16="http://schemas.microsoft.com/office/drawing/2014/main" id="{FA7956C4-D984-43A7-B28F-7F974D21E0B6}"/>
              </a:ext>
            </a:extLst>
          </p:cNvPr>
          <p:cNvSpPr>
            <a:spLocks noGrp="1"/>
          </p:cNvSpPr>
          <p:nvPr/>
        </p:nvSpPr>
        <p:spPr>
          <a:xfrm>
            <a:off x="9969954" y="3895725"/>
            <a:ext cx="171450" cy="171450"/>
          </a:xfrm>
          <a:prstGeom prst="ellipse">
            <a:avLst/>
          </a:prstGeom>
          <a:solidFill>
            <a:srgbClr val="10B981"/>
          </a:solidFill>
          <a:ln w="19050">
            <a:solidFill>
              <a:srgbClr val="1414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month-NOV">
            <a:extLst>
              <a:ext uri="{FF2B5EF4-FFF2-40B4-BE49-F238E27FC236}">
                <a16:creationId xmlns:a16="http://schemas.microsoft.com/office/drawing/2014/main" id="{1045B55D-B257-4F1C-AE57-F6AC7F2C1698}"/>
              </a:ext>
            </a:extLst>
          </p:cNvPr>
          <p:cNvSpPr>
            <a:spLocks noGrp="1"/>
          </p:cNvSpPr>
          <p:nvPr/>
        </p:nvSpPr>
        <p:spPr>
          <a:xfrm>
            <a:off x="9788979" y="3724275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10B981"/>
                </a:solidFill>
                <a:latin typeface="Aptos Mono"/>
                <a:ea typeface="Aptos Mono"/>
                <a:cs typeface="Aptos Mono"/>
              </a:defRPr>
            </a:pPr>
            <a:endParaRPr/>
          </a:p>
        </p:txBody>
      </p:sp>
      <p:sp>
        <p:nvSpPr>
          <p:cNvPr id="62" name="milestone-card-NOV">
            <a:extLst>
              <a:ext uri="{FF2B5EF4-FFF2-40B4-BE49-F238E27FC236}">
                <a16:creationId xmlns:a16="http://schemas.microsoft.com/office/drawing/2014/main" id="{908D7AF0-54B3-49B7-9267-615AD4D253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222232"/>
          </a:solidFill>
          <a:ln w="9525">
            <a:solidFill>
              <a:srgbClr val="10B981">
                <a:alpha val="53333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milestone-accent-NOV">
            <a:extLst>
              <a:ext uri="{FF2B5EF4-FFF2-40B4-BE49-F238E27FC236}">
                <a16:creationId xmlns:a16="http://schemas.microsoft.com/office/drawing/2014/main" id="{E562D1D8-38AB-490E-B6B3-29C60C8A9F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itle-NOV">
            <a:extLst>
              <a:ext uri="{FF2B5EF4-FFF2-40B4-BE49-F238E27FC236}">
                <a16:creationId xmlns:a16="http://schemas.microsoft.com/office/drawing/2014/main" id="{A64AD3CB-CCF5-4C5D-8897-DBE4CCC8297C}"/>
              </a:ext>
            </a:extLst>
          </p:cNvPr>
          <p:cNvSpPr>
            <a:spLocks noGrp="1"/>
          </p:cNvSpPr>
          <p:nvPr/>
        </p:nvSpPr>
        <p:spPr>
          <a:xfrm>
            <a:off x="9531804" y="3019425"/>
            <a:ext cx="10668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65" name="detail-NOV">
            <a:extLst>
              <a:ext uri="{FF2B5EF4-FFF2-40B4-BE49-F238E27FC236}">
                <a16:creationId xmlns:a16="http://schemas.microsoft.com/office/drawing/2014/main" id="{D8DB6A48-9ABF-4BF0-90A7-DF68A9E1FAFB}"/>
              </a:ext>
            </a:extLst>
          </p:cNvPr>
          <p:cNvSpPr>
            <a:spLocks noGrp="1"/>
          </p:cNvSpPr>
          <p:nvPr/>
        </p:nvSpPr>
        <p:spPr>
          <a:xfrm>
            <a:off x="9531804" y="3190875"/>
            <a:ext cx="10668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66" name="connector-DEC">
            <a:extLst>
              <a:ext uri="{FF2B5EF4-FFF2-40B4-BE49-F238E27FC236}">
                <a16:creationId xmlns:a16="http://schemas.microsoft.com/office/drawing/2014/main" id="{986AD770-45D6-49F7-85CF-B63C04041CA1}"/>
              </a:ext>
            </a:extLst>
          </p:cNvPr>
          <p:cNvSpPr>
            <a:spLocks noGrp="1"/>
          </p:cNvSpPr>
          <p:nvPr/>
        </p:nvSpPr>
        <p:spPr>
          <a:xfrm>
            <a:off x="11639550" y="3981450"/>
            <a:ext cx="14288" cy="457200"/>
          </a:xfrm>
          <a:prstGeom prst="rect">
            <a:avLst/>
          </a:prstGeom>
          <a:solidFill>
            <a:srgbClr val="F59E0B">
              <a:alpha val="6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dot-DEC">
            <a:extLst>
              <a:ext uri="{FF2B5EF4-FFF2-40B4-BE49-F238E27FC236}">
                <a16:creationId xmlns:a16="http://schemas.microsoft.com/office/drawing/2014/main" id="{4DD435B3-B574-4650-8EA8-F6F146A29B06}"/>
              </a:ext>
            </a:extLst>
          </p:cNvPr>
          <p:cNvSpPr>
            <a:spLocks noGrp="1"/>
          </p:cNvSpPr>
          <p:nvPr/>
        </p:nvSpPr>
        <p:spPr>
          <a:xfrm>
            <a:off x="11553825" y="3895725"/>
            <a:ext cx="171450" cy="171450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414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month-DEC">
            <a:extLst>
              <a:ext uri="{FF2B5EF4-FFF2-40B4-BE49-F238E27FC236}">
                <a16:creationId xmlns:a16="http://schemas.microsoft.com/office/drawing/2014/main" id="{FEB54916-3392-420B-8F50-FF0F338A7956}"/>
              </a:ext>
            </a:extLst>
          </p:cNvPr>
          <p:cNvSpPr>
            <a:spLocks noGrp="1"/>
          </p:cNvSpPr>
          <p:nvPr/>
        </p:nvSpPr>
        <p:spPr>
          <a:xfrm>
            <a:off x="11372850" y="3562350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F59E0B"/>
                </a:solidFill>
                <a:latin typeface="Aptos Mono"/>
                <a:ea typeface="Aptos Mono"/>
                <a:cs typeface="Aptos Mono"/>
              </a:defRPr>
            </a:pPr>
            <a:endParaRPr/>
          </a:p>
        </p:txBody>
      </p:sp>
      <p:sp>
        <p:nvSpPr>
          <p:cNvPr id="69" name="milestone-card-DEC">
            <a:extLst>
              <a:ext uri="{FF2B5EF4-FFF2-40B4-BE49-F238E27FC236}">
                <a16:creationId xmlns:a16="http://schemas.microsoft.com/office/drawing/2014/main" id="{EDBAE3D2-098E-458F-B6F5-7B7E9AF38D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1A1A28"/>
          </a:solidFill>
          <a:ln w="9525">
            <a:solidFill>
              <a:srgbClr val="F59E0B">
                <a:alpha val="53333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milestone-accent-DEC">
            <a:extLst>
              <a:ext uri="{FF2B5EF4-FFF2-40B4-BE49-F238E27FC236}">
                <a16:creationId xmlns:a16="http://schemas.microsoft.com/office/drawing/2014/main" id="{5B5270F9-A48C-43DE-AA8F-9C7E65FCBF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title-DEC">
            <a:extLst>
              <a:ext uri="{FF2B5EF4-FFF2-40B4-BE49-F238E27FC236}">
                <a16:creationId xmlns:a16="http://schemas.microsoft.com/office/drawing/2014/main" id="{5D627496-045C-46C8-A992-E6EA1FE69A01}"/>
              </a:ext>
            </a:extLst>
          </p:cNvPr>
          <p:cNvSpPr>
            <a:spLocks noGrp="1"/>
          </p:cNvSpPr>
          <p:nvPr/>
        </p:nvSpPr>
        <p:spPr>
          <a:xfrm>
            <a:off x="10629900" y="4619625"/>
            <a:ext cx="10668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72" name="detail-DEC">
            <a:extLst>
              <a:ext uri="{FF2B5EF4-FFF2-40B4-BE49-F238E27FC236}">
                <a16:creationId xmlns:a16="http://schemas.microsoft.com/office/drawing/2014/main" id="{3C9EEE5D-0BB1-466D-B885-E2924D69F8DF}"/>
              </a:ext>
            </a:extLst>
          </p:cNvPr>
          <p:cNvSpPr>
            <a:spLocks noGrp="1"/>
          </p:cNvSpPr>
          <p:nvPr/>
        </p:nvSpPr>
        <p:spPr>
          <a:xfrm>
            <a:off x="10629900" y="4791075"/>
            <a:ext cx="10668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75" name="page-marker">
            <a:extLst>
              <a:ext uri="{FF2B5EF4-FFF2-40B4-BE49-F238E27FC236}">
                <a16:creationId xmlns:a16="http://schemas.microsoft.com/office/drawing/2014/main" id="{25DC0D00-3F7F-478F-95B0-612401772974}"/>
              </a:ext>
            </a:extLst>
          </p:cNvPr>
          <p:cNvSpPr>
            <a:spLocks noGrp="1"/>
          </p:cNvSpPr>
          <p:nvPr/>
        </p:nvSpPr>
        <p:spPr>
          <a:xfrm>
            <a:off x="11087100" y="6286500"/>
            <a:ext cx="323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7A7A9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A7A90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79" name="may-complete-badge">
            <a:extLst>
              <a:ext uri="{FF2B5EF4-FFF2-40B4-BE49-F238E27FC236}">
                <a16:creationId xmlns:a16="http://schemas.microsoft.com/office/drawing/2014/main" id="{329C7BAE-7497-4178-AECD-743A7CB01DE5}"/>
              </a:ext>
            </a:extLst>
          </p:cNvPr>
          <p:cNvSpPr>
            <a:spLocks noGrp="1"/>
          </p:cNvSpPr>
          <p:nvPr/>
        </p:nvSpPr>
        <p:spPr>
          <a:xfrm>
            <a:off x="400050" y="3829050"/>
            <a:ext cx="323850" cy="323850"/>
          </a:xfrm>
          <a:prstGeom prst="ellipse">
            <a:avLst/>
          </a:prstGeom>
          <a:solidFill>
            <a:srgbClr val="00D4AA"/>
          </a:solidFill>
          <a:ln w="28575">
            <a:solidFill>
              <a:srgbClr val="14141E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" name="may-complete-check">
            <a:extLst>
              <a:ext uri="{FF2B5EF4-FFF2-40B4-BE49-F238E27FC236}">
                <a16:creationId xmlns:a16="http://schemas.microsoft.com/office/drawing/2014/main" id="{2FC56AF4-51A3-4B6D-9E49-1EA2914EEEE6}"/>
              </a:ext>
            </a:extLst>
          </p:cNvPr>
          <p:cNvSpPr>
            <a:spLocks noGrp="1"/>
          </p:cNvSpPr>
          <p:nvPr/>
        </p:nvSpPr>
        <p:spPr>
          <a:xfrm>
            <a:off x="404812" y="3893124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425" b="1">
                <a:solidFill>
                  <a:srgbClr val="14141E"/>
                </a:solidFill>
              </a:defRPr>
            </a:pPr>
            <a:r>
              <a:rPr sz="1425" b="1" dirty="0">
                <a:solidFill>
                  <a:srgbClr val="14141E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83" name="month-pill-bg-MAY">
            <a:extLst>
              <a:ext uri="{FF2B5EF4-FFF2-40B4-BE49-F238E27FC236}">
                <a16:creationId xmlns:a16="http://schemas.microsoft.com/office/drawing/2014/main" id="{4C7E0C96-BDCE-4696-93AB-F6E3841CD494}"/>
              </a:ext>
            </a:extLst>
          </p:cNvPr>
          <p:cNvSpPr>
            <a:spLocks noGrp="1"/>
          </p:cNvSpPr>
          <p:nvPr/>
        </p:nvSpPr>
        <p:spPr>
          <a:xfrm>
            <a:off x="323850" y="4238625"/>
            <a:ext cx="457200" cy="171450"/>
          </a:xfrm>
          <a:prstGeom prst="rect">
            <a:avLst/>
          </a:prstGeom>
          <a:solidFill>
            <a:srgbClr val="1414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84" name="month-pill-MAY">
            <a:extLst>
              <a:ext uri="{FF2B5EF4-FFF2-40B4-BE49-F238E27FC236}">
                <a16:creationId xmlns:a16="http://schemas.microsoft.com/office/drawing/2014/main" id="{364CAC1C-EEC8-43A5-A190-FF2F2CC6744B}"/>
              </a:ext>
            </a:extLst>
          </p:cNvPr>
          <p:cNvSpPr>
            <a:spLocks noGrp="1"/>
          </p:cNvSpPr>
          <p:nvPr/>
        </p:nvSpPr>
        <p:spPr>
          <a:xfrm>
            <a:off x="323850" y="423862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50" b="1">
                <a:solidFill>
                  <a:srgbClr val="00D4AA"/>
                </a:solidFill>
              </a:defRPr>
            </a:pPr>
            <a:r>
              <a:rPr sz="750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MAY</a:t>
            </a:r>
          </a:p>
        </p:txBody>
      </p:sp>
      <p:sp>
        <p:nvSpPr>
          <p:cNvPr id="85" name="month-pill-bg-JUN">
            <a:extLst>
              <a:ext uri="{FF2B5EF4-FFF2-40B4-BE49-F238E27FC236}">
                <a16:creationId xmlns:a16="http://schemas.microsoft.com/office/drawing/2014/main" id="{9ED0D060-3A11-49D5-99A1-7E9CAD1FB8AB}"/>
              </a:ext>
            </a:extLst>
          </p:cNvPr>
          <p:cNvSpPr>
            <a:spLocks noGrp="1"/>
          </p:cNvSpPr>
          <p:nvPr/>
        </p:nvSpPr>
        <p:spPr>
          <a:xfrm>
            <a:off x="1907762" y="3629025"/>
            <a:ext cx="457200" cy="171450"/>
          </a:xfrm>
          <a:prstGeom prst="rect">
            <a:avLst/>
          </a:prstGeom>
          <a:solidFill>
            <a:srgbClr val="1414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86" name="month-pill-JUN">
            <a:extLst>
              <a:ext uri="{FF2B5EF4-FFF2-40B4-BE49-F238E27FC236}">
                <a16:creationId xmlns:a16="http://schemas.microsoft.com/office/drawing/2014/main" id="{415F98F0-572A-4AF2-8241-42EE781F53BB}"/>
              </a:ext>
            </a:extLst>
          </p:cNvPr>
          <p:cNvSpPr>
            <a:spLocks noGrp="1"/>
          </p:cNvSpPr>
          <p:nvPr/>
        </p:nvSpPr>
        <p:spPr>
          <a:xfrm>
            <a:off x="1907762" y="362902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50" b="1">
                <a:solidFill>
                  <a:srgbClr val="00A8FF"/>
                </a:solidFill>
              </a:defRPr>
            </a:pPr>
            <a:r>
              <a:rPr sz="750" b="1">
                <a:solidFill>
                  <a:srgbClr val="00A8FF"/>
                </a:solidFill>
                <a:latin typeface="Aptos Mono"/>
                <a:ea typeface="Aptos Mono"/>
                <a:cs typeface="Aptos Mono"/>
              </a:rPr>
              <a:t>JUN</a:t>
            </a:r>
          </a:p>
        </p:txBody>
      </p:sp>
      <p:sp>
        <p:nvSpPr>
          <p:cNvPr id="87" name="month-pill-bg-JUL">
            <a:extLst>
              <a:ext uri="{FF2B5EF4-FFF2-40B4-BE49-F238E27FC236}">
                <a16:creationId xmlns:a16="http://schemas.microsoft.com/office/drawing/2014/main" id="{113FF010-EB07-496E-89C4-10052A44F105}"/>
              </a:ext>
            </a:extLst>
          </p:cNvPr>
          <p:cNvSpPr>
            <a:spLocks noGrp="1"/>
          </p:cNvSpPr>
          <p:nvPr/>
        </p:nvSpPr>
        <p:spPr>
          <a:xfrm>
            <a:off x="3491579" y="4162425"/>
            <a:ext cx="457200" cy="171450"/>
          </a:xfrm>
          <a:prstGeom prst="rect">
            <a:avLst/>
          </a:prstGeom>
          <a:solidFill>
            <a:srgbClr val="1414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88" name="month-pill-JUL">
            <a:extLst>
              <a:ext uri="{FF2B5EF4-FFF2-40B4-BE49-F238E27FC236}">
                <a16:creationId xmlns:a16="http://schemas.microsoft.com/office/drawing/2014/main" id="{3442F896-015E-49C1-BFF8-41292CFD16BD}"/>
              </a:ext>
            </a:extLst>
          </p:cNvPr>
          <p:cNvSpPr>
            <a:spLocks noGrp="1"/>
          </p:cNvSpPr>
          <p:nvPr/>
        </p:nvSpPr>
        <p:spPr>
          <a:xfrm>
            <a:off x="3491579" y="416242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50" b="1">
                <a:solidFill>
                  <a:srgbClr val="00A8FF"/>
                </a:solidFill>
              </a:defRPr>
            </a:pPr>
            <a:r>
              <a:rPr sz="750" b="1">
                <a:solidFill>
                  <a:srgbClr val="00A8FF"/>
                </a:solidFill>
                <a:latin typeface="Aptos Mono"/>
                <a:ea typeface="Aptos Mono"/>
                <a:cs typeface="Aptos Mono"/>
              </a:rPr>
              <a:t>JUL</a:t>
            </a:r>
          </a:p>
        </p:txBody>
      </p:sp>
      <p:sp>
        <p:nvSpPr>
          <p:cNvPr id="89" name="month-pill-bg-AUG">
            <a:extLst>
              <a:ext uri="{FF2B5EF4-FFF2-40B4-BE49-F238E27FC236}">
                <a16:creationId xmlns:a16="http://schemas.microsoft.com/office/drawing/2014/main" id="{4F569329-6C32-4898-95BD-33E3E61FBB89}"/>
              </a:ext>
            </a:extLst>
          </p:cNvPr>
          <p:cNvSpPr>
            <a:spLocks noGrp="1"/>
          </p:cNvSpPr>
          <p:nvPr/>
        </p:nvSpPr>
        <p:spPr>
          <a:xfrm>
            <a:off x="5075492" y="3629025"/>
            <a:ext cx="457200" cy="171450"/>
          </a:xfrm>
          <a:prstGeom prst="rect">
            <a:avLst/>
          </a:prstGeom>
          <a:solidFill>
            <a:srgbClr val="1414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90" name="month-pill-AUG">
            <a:extLst>
              <a:ext uri="{FF2B5EF4-FFF2-40B4-BE49-F238E27FC236}">
                <a16:creationId xmlns:a16="http://schemas.microsoft.com/office/drawing/2014/main" id="{CD42B882-617B-46FD-A64E-243D00124A4A}"/>
              </a:ext>
            </a:extLst>
          </p:cNvPr>
          <p:cNvSpPr>
            <a:spLocks noGrp="1"/>
          </p:cNvSpPr>
          <p:nvPr/>
        </p:nvSpPr>
        <p:spPr>
          <a:xfrm>
            <a:off x="5075492" y="362902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50" b="1">
                <a:solidFill>
                  <a:srgbClr val="A855F7"/>
                </a:solidFill>
              </a:defRPr>
            </a:pPr>
            <a:r>
              <a:rPr sz="750" b="1">
                <a:solidFill>
                  <a:srgbClr val="A855F7"/>
                </a:solidFill>
                <a:latin typeface="Aptos Mono"/>
                <a:ea typeface="Aptos Mono"/>
                <a:cs typeface="Aptos Mono"/>
              </a:rPr>
              <a:t>AUG</a:t>
            </a:r>
          </a:p>
        </p:txBody>
      </p:sp>
      <p:sp>
        <p:nvSpPr>
          <p:cNvPr id="91" name="month-pill-bg-SEP">
            <a:extLst>
              <a:ext uri="{FF2B5EF4-FFF2-40B4-BE49-F238E27FC236}">
                <a16:creationId xmlns:a16="http://schemas.microsoft.com/office/drawing/2014/main" id="{78116B59-D6CC-45EF-9DB6-D5DA582B9B22}"/>
              </a:ext>
            </a:extLst>
          </p:cNvPr>
          <p:cNvSpPr>
            <a:spLocks noGrp="1"/>
          </p:cNvSpPr>
          <p:nvPr/>
        </p:nvSpPr>
        <p:spPr>
          <a:xfrm>
            <a:off x="6659309" y="4162425"/>
            <a:ext cx="457200" cy="171450"/>
          </a:xfrm>
          <a:prstGeom prst="rect">
            <a:avLst/>
          </a:prstGeom>
          <a:solidFill>
            <a:srgbClr val="1414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92" name="month-pill-SEP">
            <a:extLst>
              <a:ext uri="{FF2B5EF4-FFF2-40B4-BE49-F238E27FC236}">
                <a16:creationId xmlns:a16="http://schemas.microsoft.com/office/drawing/2014/main" id="{5728F80D-506A-4723-9429-96D723D4F961}"/>
              </a:ext>
            </a:extLst>
          </p:cNvPr>
          <p:cNvSpPr>
            <a:spLocks noGrp="1"/>
          </p:cNvSpPr>
          <p:nvPr/>
        </p:nvSpPr>
        <p:spPr>
          <a:xfrm>
            <a:off x="6659309" y="416242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50" b="1">
                <a:solidFill>
                  <a:srgbClr val="F59E0B"/>
                </a:solidFill>
              </a:defRPr>
            </a:pPr>
            <a:r>
              <a:rPr sz="750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SEP</a:t>
            </a:r>
          </a:p>
        </p:txBody>
      </p:sp>
      <p:sp>
        <p:nvSpPr>
          <p:cNvPr id="93" name="month-pill-bg-OCT">
            <a:extLst>
              <a:ext uri="{FF2B5EF4-FFF2-40B4-BE49-F238E27FC236}">
                <a16:creationId xmlns:a16="http://schemas.microsoft.com/office/drawing/2014/main" id="{5158AFDD-7949-43A6-980D-707C2A0EE6D3}"/>
              </a:ext>
            </a:extLst>
          </p:cNvPr>
          <p:cNvSpPr>
            <a:spLocks noGrp="1"/>
          </p:cNvSpPr>
          <p:nvPr/>
        </p:nvSpPr>
        <p:spPr>
          <a:xfrm>
            <a:off x="8243221" y="3629025"/>
            <a:ext cx="457200" cy="171450"/>
          </a:xfrm>
          <a:prstGeom prst="rect">
            <a:avLst/>
          </a:prstGeom>
          <a:solidFill>
            <a:srgbClr val="1414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94" name="month-pill-OCT">
            <a:extLst>
              <a:ext uri="{FF2B5EF4-FFF2-40B4-BE49-F238E27FC236}">
                <a16:creationId xmlns:a16="http://schemas.microsoft.com/office/drawing/2014/main" id="{F567C645-91B6-4410-8219-C8D07FC7BA23}"/>
              </a:ext>
            </a:extLst>
          </p:cNvPr>
          <p:cNvSpPr>
            <a:spLocks noGrp="1"/>
          </p:cNvSpPr>
          <p:nvPr/>
        </p:nvSpPr>
        <p:spPr>
          <a:xfrm>
            <a:off x="8243221" y="362902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50" b="1">
                <a:solidFill>
                  <a:srgbClr val="00D4AA"/>
                </a:solidFill>
              </a:defRPr>
            </a:pPr>
            <a:r>
              <a:rPr sz="750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OCT</a:t>
            </a:r>
          </a:p>
        </p:txBody>
      </p:sp>
      <p:sp>
        <p:nvSpPr>
          <p:cNvPr id="95" name="month-pill-bg-NOV">
            <a:extLst>
              <a:ext uri="{FF2B5EF4-FFF2-40B4-BE49-F238E27FC236}">
                <a16:creationId xmlns:a16="http://schemas.microsoft.com/office/drawing/2014/main" id="{823529E3-C203-4C18-8EAF-59D14C921DC7}"/>
              </a:ext>
            </a:extLst>
          </p:cNvPr>
          <p:cNvSpPr>
            <a:spLocks noGrp="1"/>
          </p:cNvSpPr>
          <p:nvPr/>
        </p:nvSpPr>
        <p:spPr>
          <a:xfrm>
            <a:off x="9827038" y="4162425"/>
            <a:ext cx="457200" cy="171450"/>
          </a:xfrm>
          <a:prstGeom prst="rect">
            <a:avLst/>
          </a:prstGeom>
          <a:solidFill>
            <a:srgbClr val="1414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96" name="month-pill-NOV">
            <a:extLst>
              <a:ext uri="{FF2B5EF4-FFF2-40B4-BE49-F238E27FC236}">
                <a16:creationId xmlns:a16="http://schemas.microsoft.com/office/drawing/2014/main" id="{22BE0CAD-4996-43DF-8A8C-A6CB186D9181}"/>
              </a:ext>
            </a:extLst>
          </p:cNvPr>
          <p:cNvSpPr>
            <a:spLocks noGrp="1"/>
          </p:cNvSpPr>
          <p:nvPr/>
        </p:nvSpPr>
        <p:spPr>
          <a:xfrm>
            <a:off x="9827038" y="416242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50" b="1">
                <a:solidFill>
                  <a:srgbClr val="10B981"/>
                </a:solidFill>
              </a:defRPr>
            </a:pPr>
            <a:r>
              <a:rPr sz="750" b="1">
                <a:solidFill>
                  <a:srgbClr val="10B981"/>
                </a:solidFill>
                <a:latin typeface="Aptos Mono"/>
                <a:ea typeface="Aptos Mono"/>
                <a:cs typeface="Aptos Mono"/>
              </a:rPr>
              <a:t>NOV</a:t>
            </a:r>
          </a:p>
        </p:txBody>
      </p:sp>
      <p:sp>
        <p:nvSpPr>
          <p:cNvPr id="97" name="month-pill-bg-DEC">
            <a:extLst>
              <a:ext uri="{FF2B5EF4-FFF2-40B4-BE49-F238E27FC236}">
                <a16:creationId xmlns:a16="http://schemas.microsoft.com/office/drawing/2014/main" id="{810341E6-8779-4DA1-BD25-9F6362C1A107}"/>
              </a:ext>
            </a:extLst>
          </p:cNvPr>
          <p:cNvSpPr>
            <a:spLocks noGrp="1"/>
          </p:cNvSpPr>
          <p:nvPr/>
        </p:nvSpPr>
        <p:spPr>
          <a:xfrm>
            <a:off x="11410950" y="3629025"/>
            <a:ext cx="457200" cy="171450"/>
          </a:xfrm>
          <a:prstGeom prst="rect">
            <a:avLst/>
          </a:prstGeom>
          <a:solidFill>
            <a:srgbClr val="1414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98" name="month-pill-DEC">
            <a:extLst>
              <a:ext uri="{FF2B5EF4-FFF2-40B4-BE49-F238E27FC236}">
                <a16:creationId xmlns:a16="http://schemas.microsoft.com/office/drawing/2014/main" id="{2DFDB0C7-62E3-48A2-8FA8-AA15BF85C983}"/>
              </a:ext>
            </a:extLst>
          </p:cNvPr>
          <p:cNvSpPr>
            <a:spLocks noGrp="1"/>
          </p:cNvSpPr>
          <p:nvPr/>
        </p:nvSpPr>
        <p:spPr>
          <a:xfrm>
            <a:off x="11410950" y="362902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50" b="1">
                <a:solidFill>
                  <a:srgbClr val="F59E0B"/>
                </a:solidFill>
              </a:defRPr>
            </a:pPr>
            <a:r>
              <a:rPr sz="750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DEC</a:t>
            </a:r>
          </a:p>
        </p:txBody>
      </p:sp>
      <p:sp>
        <p:nvSpPr>
          <p:cNvPr id="101" name="premium-card-MAY">
            <a:extLst>
              <a:ext uri="{FF2B5EF4-FFF2-40B4-BE49-F238E27FC236}">
                <a16:creationId xmlns:a16="http://schemas.microsoft.com/office/drawing/2014/main" id="{DAEEACDE-027D-4A18-B433-F2FCC6B7343F}"/>
              </a:ext>
            </a:extLst>
          </p:cNvPr>
          <p:cNvSpPr>
            <a:spLocks noGrp="1"/>
          </p:cNvSpPr>
          <p:nvPr/>
        </p:nvSpPr>
        <p:spPr>
          <a:xfrm>
            <a:off x="361950" y="2705100"/>
            <a:ext cx="1485900" cy="895350"/>
          </a:xfrm>
          <a:prstGeom prst="rect">
            <a:avLst/>
          </a:prstGeom>
          <a:solidFill>
            <a:srgbClr val="1A1A28"/>
          </a:solidFill>
          <a:ln w="9525">
            <a:solidFill>
              <a:srgbClr val="00D4AA">
                <a:alpha val="60000"/>
              </a:srgbClr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 lang="ar-SA"/>
          </a:p>
        </p:txBody>
      </p:sp>
      <p:sp>
        <p:nvSpPr>
          <p:cNvPr id="102" name="premium-card-accent-MAY">
            <a:extLst>
              <a:ext uri="{FF2B5EF4-FFF2-40B4-BE49-F238E27FC236}">
                <a16:creationId xmlns:a16="http://schemas.microsoft.com/office/drawing/2014/main" id="{B358CEB5-D0A6-4275-86D9-680390AD6F52}"/>
              </a:ext>
            </a:extLst>
          </p:cNvPr>
          <p:cNvSpPr>
            <a:spLocks noGrp="1"/>
          </p:cNvSpPr>
          <p:nvPr/>
        </p:nvSpPr>
        <p:spPr>
          <a:xfrm>
            <a:off x="361950" y="2705100"/>
            <a:ext cx="1485900" cy="38100"/>
          </a:xfrm>
          <a:prstGeom prst="rect">
            <a:avLst/>
          </a:prstGeom>
          <a:solidFill>
            <a:srgbClr val="00D4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03" name="premium-row-bg-MAY-1">
            <a:extLst>
              <a:ext uri="{FF2B5EF4-FFF2-40B4-BE49-F238E27FC236}">
                <a16:creationId xmlns:a16="http://schemas.microsoft.com/office/drawing/2014/main" id="{FC7BFB20-D640-4A90-86E9-DEAF68F34BCE}"/>
              </a:ext>
            </a:extLst>
          </p:cNvPr>
          <p:cNvSpPr>
            <a:spLocks noGrp="1"/>
          </p:cNvSpPr>
          <p:nvPr/>
        </p:nvSpPr>
        <p:spPr>
          <a:xfrm>
            <a:off x="476250" y="2828925"/>
            <a:ext cx="12573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04" name="premium-row-dot-MAY-1">
            <a:extLst>
              <a:ext uri="{FF2B5EF4-FFF2-40B4-BE49-F238E27FC236}">
                <a16:creationId xmlns:a16="http://schemas.microsoft.com/office/drawing/2014/main" id="{08EAAF77-27F0-48E2-AF91-6A1B371B24C7}"/>
              </a:ext>
            </a:extLst>
          </p:cNvPr>
          <p:cNvSpPr>
            <a:spLocks noGrp="1"/>
          </p:cNvSpPr>
          <p:nvPr/>
        </p:nvSpPr>
        <p:spPr>
          <a:xfrm>
            <a:off x="552450" y="2895600"/>
            <a:ext cx="57150" cy="57150"/>
          </a:xfrm>
          <a:prstGeom prst="ellipse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05" name="premium-row-text-MAY-1">
            <a:extLst>
              <a:ext uri="{FF2B5EF4-FFF2-40B4-BE49-F238E27FC236}">
                <a16:creationId xmlns:a16="http://schemas.microsoft.com/office/drawing/2014/main" id="{A5D3D2DD-816F-44BF-97D1-CC897C987E06}"/>
              </a:ext>
            </a:extLst>
          </p:cNvPr>
          <p:cNvSpPr>
            <a:spLocks noGrp="1"/>
          </p:cNvSpPr>
          <p:nvPr/>
        </p:nvSpPr>
        <p:spPr>
          <a:xfrm>
            <a:off x="676275" y="2847975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lang="en-US" sz="668" b="0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WAN Beta Deployment</a:t>
            </a:r>
            <a:endParaRPr sz="668" b="0" dirty="0">
              <a:solidFill>
                <a:srgbClr val="EDED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6" name="premium-row-bg-MAY-2">
            <a:extLst>
              <a:ext uri="{FF2B5EF4-FFF2-40B4-BE49-F238E27FC236}">
                <a16:creationId xmlns:a16="http://schemas.microsoft.com/office/drawing/2014/main" id="{EF035A8F-6C9F-4AED-BEED-E021BAF2F9D7}"/>
              </a:ext>
            </a:extLst>
          </p:cNvPr>
          <p:cNvSpPr>
            <a:spLocks noGrp="1"/>
          </p:cNvSpPr>
          <p:nvPr/>
        </p:nvSpPr>
        <p:spPr>
          <a:xfrm>
            <a:off x="476250" y="3067050"/>
            <a:ext cx="1257300" cy="190500"/>
          </a:xfrm>
          <a:prstGeom prst="rect">
            <a:avLst/>
          </a:prstGeom>
          <a:solidFill>
            <a:srgbClr val="1818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07" name="premium-row-dot-MAY-2">
            <a:extLst>
              <a:ext uri="{FF2B5EF4-FFF2-40B4-BE49-F238E27FC236}">
                <a16:creationId xmlns:a16="http://schemas.microsoft.com/office/drawing/2014/main" id="{C4A11BB0-337F-4D0B-B167-5CCEB2A5DC45}"/>
              </a:ext>
            </a:extLst>
          </p:cNvPr>
          <p:cNvSpPr>
            <a:spLocks noGrp="1"/>
          </p:cNvSpPr>
          <p:nvPr/>
        </p:nvSpPr>
        <p:spPr>
          <a:xfrm>
            <a:off x="552450" y="3133725"/>
            <a:ext cx="57150" cy="57150"/>
          </a:xfrm>
          <a:prstGeom prst="ellipse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08" name="premium-row-text-MAY-2">
            <a:extLst>
              <a:ext uri="{FF2B5EF4-FFF2-40B4-BE49-F238E27FC236}">
                <a16:creationId xmlns:a16="http://schemas.microsoft.com/office/drawing/2014/main" id="{EB50F232-F2E0-47A0-A97A-FC6DE9FB4C12}"/>
              </a:ext>
            </a:extLst>
          </p:cNvPr>
          <p:cNvSpPr>
            <a:spLocks noGrp="1"/>
          </p:cNvSpPr>
          <p:nvPr/>
        </p:nvSpPr>
        <p:spPr>
          <a:xfrm>
            <a:off x="676275" y="3086100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lang="en-US" sz="668" b="0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CMS Integration</a:t>
            </a:r>
            <a:endParaRPr sz="668" b="0" dirty="0">
              <a:solidFill>
                <a:srgbClr val="EDED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9" name="premium-row-bg-MAY-3">
            <a:extLst>
              <a:ext uri="{FF2B5EF4-FFF2-40B4-BE49-F238E27FC236}">
                <a16:creationId xmlns:a16="http://schemas.microsoft.com/office/drawing/2014/main" id="{7343C8FB-75B9-40D1-8568-6CFB4FB451C1}"/>
              </a:ext>
            </a:extLst>
          </p:cNvPr>
          <p:cNvSpPr>
            <a:spLocks noGrp="1"/>
          </p:cNvSpPr>
          <p:nvPr/>
        </p:nvSpPr>
        <p:spPr>
          <a:xfrm>
            <a:off x="476250" y="3305175"/>
            <a:ext cx="12573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 lang="ar-SA" dirty="0"/>
          </a:p>
        </p:txBody>
      </p:sp>
      <p:sp>
        <p:nvSpPr>
          <p:cNvPr id="110" name="premium-row-dot-MAY-3">
            <a:extLst>
              <a:ext uri="{FF2B5EF4-FFF2-40B4-BE49-F238E27FC236}">
                <a16:creationId xmlns:a16="http://schemas.microsoft.com/office/drawing/2014/main" id="{C5F65667-496A-4FA1-935D-87AEB954A6C7}"/>
              </a:ext>
            </a:extLst>
          </p:cNvPr>
          <p:cNvSpPr>
            <a:spLocks noGrp="1"/>
          </p:cNvSpPr>
          <p:nvPr/>
        </p:nvSpPr>
        <p:spPr>
          <a:xfrm>
            <a:off x="552450" y="3371850"/>
            <a:ext cx="57150" cy="57150"/>
          </a:xfrm>
          <a:prstGeom prst="ellipse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 lang="ar-SA"/>
          </a:p>
        </p:txBody>
      </p:sp>
      <p:sp>
        <p:nvSpPr>
          <p:cNvPr id="111" name="premium-row-text-MAY-3">
            <a:extLst>
              <a:ext uri="{FF2B5EF4-FFF2-40B4-BE49-F238E27FC236}">
                <a16:creationId xmlns:a16="http://schemas.microsoft.com/office/drawing/2014/main" id="{9F8D3434-B0F6-41FC-AC97-18690EE55947}"/>
              </a:ext>
            </a:extLst>
          </p:cNvPr>
          <p:cNvSpPr>
            <a:spLocks noGrp="1"/>
          </p:cNvSpPr>
          <p:nvPr/>
        </p:nvSpPr>
        <p:spPr>
          <a:xfrm>
            <a:off x="676275" y="3324225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lang="en-US" sz="668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Compare Cohort View</a:t>
            </a:r>
            <a:endParaRPr sz="668" b="0" dirty="0">
              <a:solidFill>
                <a:srgbClr val="EDED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2" name="premium-card-JUN">
            <a:extLst>
              <a:ext uri="{FF2B5EF4-FFF2-40B4-BE49-F238E27FC236}">
                <a16:creationId xmlns:a16="http://schemas.microsoft.com/office/drawing/2014/main" id="{DF925371-E1A7-478B-95AA-F1EC6C7A90DB}"/>
              </a:ext>
            </a:extLst>
          </p:cNvPr>
          <p:cNvSpPr>
            <a:spLocks noGrp="1"/>
          </p:cNvSpPr>
          <p:nvPr/>
        </p:nvSpPr>
        <p:spPr>
          <a:xfrm>
            <a:off x="1390650" y="4381500"/>
            <a:ext cx="1485900" cy="895350"/>
          </a:xfrm>
          <a:prstGeom prst="rect">
            <a:avLst/>
          </a:prstGeom>
          <a:solidFill>
            <a:srgbClr val="1A1A28"/>
          </a:solidFill>
          <a:ln w="9525">
            <a:solidFill>
              <a:srgbClr val="00A8FF">
                <a:alpha val="60000"/>
              </a:srgbClr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 lang="ar-SA"/>
          </a:p>
        </p:txBody>
      </p:sp>
      <p:sp>
        <p:nvSpPr>
          <p:cNvPr id="113" name="premium-card-accent-JUN">
            <a:extLst>
              <a:ext uri="{FF2B5EF4-FFF2-40B4-BE49-F238E27FC236}">
                <a16:creationId xmlns:a16="http://schemas.microsoft.com/office/drawing/2014/main" id="{0D77AA30-EB19-4172-B54E-A2BD53C35C4B}"/>
              </a:ext>
            </a:extLst>
          </p:cNvPr>
          <p:cNvSpPr>
            <a:spLocks noGrp="1"/>
          </p:cNvSpPr>
          <p:nvPr/>
        </p:nvSpPr>
        <p:spPr>
          <a:xfrm>
            <a:off x="1390650" y="4381500"/>
            <a:ext cx="1485900" cy="38100"/>
          </a:xfrm>
          <a:prstGeom prst="rect">
            <a:avLst/>
          </a:prstGeom>
          <a:solidFill>
            <a:srgbClr val="00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14" name="premium-row-bg-JUN-1">
            <a:extLst>
              <a:ext uri="{FF2B5EF4-FFF2-40B4-BE49-F238E27FC236}">
                <a16:creationId xmlns:a16="http://schemas.microsoft.com/office/drawing/2014/main" id="{345CB6F9-7B5B-4A71-9E2B-B18502590E0A}"/>
              </a:ext>
            </a:extLst>
          </p:cNvPr>
          <p:cNvSpPr>
            <a:spLocks noGrp="1"/>
          </p:cNvSpPr>
          <p:nvPr/>
        </p:nvSpPr>
        <p:spPr>
          <a:xfrm>
            <a:off x="1504950" y="4505325"/>
            <a:ext cx="12573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15" name="premium-row-dot-JUN-1">
            <a:extLst>
              <a:ext uri="{FF2B5EF4-FFF2-40B4-BE49-F238E27FC236}">
                <a16:creationId xmlns:a16="http://schemas.microsoft.com/office/drawing/2014/main" id="{0168A5FF-2216-4981-90A7-824551F12508}"/>
              </a:ext>
            </a:extLst>
          </p:cNvPr>
          <p:cNvSpPr>
            <a:spLocks noGrp="1"/>
          </p:cNvSpPr>
          <p:nvPr/>
        </p:nvSpPr>
        <p:spPr>
          <a:xfrm>
            <a:off x="1581150" y="4572000"/>
            <a:ext cx="57150" cy="57150"/>
          </a:xfrm>
          <a:prstGeom prst="ellipse">
            <a:avLst/>
          </a:prstGeom>
          <a:solidFill>
            <a:srgbClr val="00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16" name="premium-row-text-JUN-1">
            <a:extLst>
              <a:ext uri="{FF2B5EF4-FFF2-40B4-BE49-F238E27FC236}">
                <a16:creationId xmlns:a16="http://schemas.microsoft.com/office/drawing/2014/main" id="{2CBDB0F5-8ED6-4EEE-B2D7-3C20662B1929}"/>
              </a:ext>
            </a:extLst>
          </p:cNvPr>
          <p:cNvSpPr>
            <a:spLocks noGrp="1"/>
          </p:cNvSpPr>
          <p:nvPr/>
        </p:nvSpPr>
        <p:spPr>
          <a:xfrm>
            <a:off x="1704975" y="4524375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lang="en-US" sz="668" b="0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Datasets</a:t>
            </a:r>
            <a:endParaRPr sz="668" b="0" dirty="0">
              <a:solidFill>
                <a:srgbClr val="EDED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7" name="premium-row-bg-JUN-2">
            <a:extLst>
              <a:ext uri="{FF2B5EF4-FFF2-40B4-BE49-F238E27FC236}">
                <a16:creationId xmlns:a16="http://schemas.microsoft.com/office/drawing/2014/main" id="{EA541793-A01C-4B6F-AE1C-E26F8B6AF096}"/>
              </a:ext>
            </a:extLst>
          </p:cNvPr>
          <p:cNvSpPr>
            <a:spLocks noGrp="1"/>
          </p:cNvSpPr>
          <p:nvPr/>
        </p:nvSpPr>
        <p:spPr>
          <a:xfrm>
            <a:off x="1504950" y="4743450"/>
            <a:ext cx="1257300" cy="190500"/>
          </a:xfrm>
          <a:prstGeom prst="rect">
            <a:avLst/>
          </a:prstGeom>
          <a:solidFill>
            <a:srgbClr val="1818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18" name="premium-row-dot-JUN-2">
            <a:extLst>
              <a:ext uri="{FF2B5EF4-FFF2-40B4-BE49-F238E27FC236}">
                <a16:creationId xmlns:a16="http://schemas.microsoft.com/office/drawing/2014/main" id="{959D4F88-59B4-4333-B876-6DAB34F11444}"/>
              </a:ext>
            </a:extLst>
          </p:cNvPr>
          <p:cNvSpPr>
            <a:spLocks noGrp="1"/>
          </p:cNvSpPr>
          <p:nvPr/>
        </p:nvSpPr>
        <p:spPr>
          <a:xfrm>
            <a:off x="1581150" y="4810125"/>
            <a:ext cx="57150" cy="57150"/>
          </a:xfrm>
          <a:prstGeom prst="ellipse">
            <a:avLst/>
          </a:prstGeom>
          <a:solidFill>
            <a:srgbClr val="00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19" name="premium-row-text-JUN-2">
            <a:extLst>
              <a:ext uri="{FF2B5EF4-FFF2-40B4-BE49-F238E27FC236}">
                <a16:creationId xmlns:a16="http://schemas.microsoft.com/office/drawing/2014/main" id="{00F49B70-B233-4520-AA64-D3F60694CB74}"/>
              </a:ext>
            </a:extLst>
          </p:cNvPr>
          <p:cNvSpPr>
            <a:spLocks noGrp="1"/>
          </p:cNvSpPr>
          <p:nvPr/>
        </p:nvSpPr>
        <p:spPr>
          <a:xfrm>
            <a:off x="1704975" y="4762500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lang="en-US" sz="668" b="0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Root Cause Workbench</a:t>
            </a:r>
            <a:endParaRPr sz="668" b="0" dirty="0">
              <a:solidFill>
                <a:srgbClr val="EDED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3" name="premium-card-JUL">
            <a:extLst>
              <a:ext uri="{FF2B5EF4-FFF2-40B4-BE49-F238E27FC236}">
                <a16:creationId xmlns:a16="http://schemas.microsoft.com/office/drawing/2014/main" id="{639F6FD3-91CC-49C1-8DA9-614E0FB14C39}"/>
              </a:ext>
            </a:extLst>
          </p:cNvPr>
          <p:cNvSpPr>
            <a:spLocks noGrp="1"/>
          </p:cNvSpPr>
          <p:nvPr/>
        </p:nvSpPr>
        <p:spPr>
          <a:xfrm>
            <a:off x="2971800" y="2705100"/>
            <a:ext cx="1485900" cy="895350"/>
          </a:xfrm>
          <a:prstGeom prst="rect">
            <a:avLst/>
          </a:prstGeom>
          <a:solidFill>
            <a:srgbClr val="1A1A28"/>
          </a:solidFill>
          <a:ln w="9525">
            <a:solidFill>
              <a:srgbClr val="00A8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24" name="premium-card-accent-JUL">
            <a:extLst>
              <a:ext uri="{FF2B5EF4-FFF2-40B4-BE49-F238E27FC236}">
                <a16:creationId xmlns:a16="http://schemas.microsoft.com/office/drawing/2014/main" id="{9E42618E-84E8-45FC-9E6F-0C01CC09B172}"/>
              </a:ext>
            </a:extLst>
          </p:cNvPr>
          <p:cNvSpPr>
            <a:spLocks noGrp="1"/>
          </p:cNvSpPr>
          <p:nvPr/>
        </p:nvSpPr>
        <p:spPr>
          <a:xfrm>
            <a:off x="2971800" y="2705100"/>
            <a:ext cx="1485900" cy="38100"/>
          </a:xfrm>
          <a:prstGeom prst="rect">
            <a:avLst/>
          </a:prstGeom>
          <a:solidFill>
            <a:srgbClr val="00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25" name="premium-row-bg-JUL-1">
            <a:extLst>
              <a:ext uri="{FF2B5EF4-FFF2-40B4-BE49-F238E27FC236}">
                <a16:creationId xmlns:a16="http://schemas.microsoft.com/office/drawing/2014/main" id="{13015758-2A3E-43CA-9A5D-E0ACA31CC7C3}"/>
              </a:ext>
            </a:extLst>
          </p:cNvPr>
          <p:cNvSpPr>
            <a:spLocks noGrp="1"/>
          </p:cNvSpPr>
          <p:nvPr/>
        </p:nvSpPr>
        <p:spPr>
          <a:xfrm>
            <a:off x="3086100" y="2828925"/>
            <a:ext cx="12573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26" name="premium-row-dot-JUL-1">
            <a:extLst>
              <a:ext uri="{FF2B5EF4-FFF2-40B4-BE49-F238E27FC236}">
                <a16:creationId xmlns:a16="http://schemas.microsoft.com/office/drawing/2014/main" id="{2B0E2BDE-0C73-412B-86AD-DB521890FF97}"/>
              </a:ext>
            </a:extLst>
          </p:cNvPr>
          <p:cNvSpPr>
            <a:spLocks noGrp="1"/>
          </p:cNvSpPr>
          <p:nvPr/>
        </p:nvSpPr>
        <p:spPr>
          <a:xfrm>
            <a:off x="3162300" y="2895600"/>
            <a:ext cx="57150" cy="57150"/>
          </a:xfrm>
          <a:prstGeom prst="ellipse">
            <a:avLst/>
          </a:prstGeom>
          <a:solidFill>
            <a:srgbClr val="00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27" name="premium-row-text-JUL-1">
            <a:extLst>
              <a:ext uri="{FF2B5EF4-FFF2-40B4-BE49-F238E27FC236}">
                <a16:creationId xmlns:a16="http://schemas.microsoft.com/office/drawing/2014/main" id="{EA06D460-FC64-4D9F-9CA0-9A82A8B3481F}"/>
              </a:ext>
            </a:extLst>
          </p:cNvPr>
          <p:cNvSpPr>
            <a:spLocks noGrp="1"/>
          </p:cNvSpPr>
          <p:nvPr/>
        </p:nvSpPr>
        <p:spPr>
          <a:xfrm>
            <a:off x="3286125" y="2847975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lang="en-US" sz="668" b="0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LLM Arena</a:t>
            </a:r>
            <a:endParaRPr sz="668" b="0" dirty="0">
              <a:solidFill>
                <a:srgbClr val="EDED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8" name="premium-row-bg-JUL-2">
            <a:extLst>
              <a:ext uri="{FF2B5EF4-FFF2-40B4-BE49-F238E27FC236}">
                <a16:creationId xmlns:a16="http://schemas.microsoft.com/office/drawing/2014/main" id="{1F42ABD4-128D-44DD-AB57-BE489DC460E2}"/>
              </a:ext>
            </a:extLst>
          </p:cNvPr>
          <p:cNvSpPr>
            <a:spLocks noGrp="1"/>
          </p:cNvSpPr>
          <p:nvPr/>
        </p:nvSpPr>
        <p:spPr>
          <a:xfrm>
            <a:off x="3086100" y="3067050"/>
            <a:ext cx="1257300" cy="190500"/>
          </a:xfrm>
          <a:prstGeom prst="rect">
            <a:avLst/>
          </a:prstGeom>
          <a:solidFill>
            <a:srgbClr val="1818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29" name="premium-row-dot-JUL-2">
            <a:extLst>
              <a:ext uri="{FF2B5EF4-FFF2-40B4-BE49-F238E27FC236}">
                <a16:creationId xmlns:a16="http://schemas.microsoft.com/office/drawing/2014/main" id="{83B18F28-3C4F-469D-9F9F-5246446B2EF8}"/>
              </a:ext>
            </a:extLst>
          </p:cNvPr>
          <p:cNvSpPr>
            <a:spLocks noGrp="1"/>
          </p:cNvSpPr>
          <p:nvPr/>
        </p:nvSpPr>
        <p:spPr>
          <a:xfrm>
            <a:off x="3162300" y="3133725"/>
            <a:ext cx="57150" cy="57150"/>
          </a:xfrm>
          <a:prstGeom prst="ellipse">
            <a:avLst/>
          </a:prstGeom>
          <a:solidFill>
            <a:srgbClr val="00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30" name="premium-row-text-JUL-2">
            <a:extLst>
              <a:ext uri="{FF2B5EF4-FFF2-40B4-BE49-F238E27FC236}">
                <a16:creationId xmlns:a16="http://schemas.microsoft.com/office/drawing/2014/main" id="{A8EE79CD-32F1-4103-9EF3-92D75F815A12}"/>
              </a:ext>
            </a:extLst>
          </p:cNvPr>
          <p:cNvSpPr>
            <a:spLocks noGrp="1"/>
          </p:cNvSpPr>
          <p:nvPr/>
        </p:nvSpPr>
        <p:spPr>
          <a:xfrm>
            <a:off x="3286125" y="3086100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lang="en-US" sz="668" b="0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CI /CD Gatekeeper </a:t>
            </a:r>
            <a:endParaRPr sz="668" b="0" dirty="0">
              <a:solidFill>
                <a:srgbClr val="EDED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1" name="premium-row-bg-JUL-3">
            <a:extLst>
              <a:ext uri="{FF2B5EF4-FFF2-40B4-BE49-F238E27FC236}">
                <a16:creationId xmlns:a16="http://schemas.microsoft.com/office/drawing/2014/main" id="{B1BB1668-D57E-46EB-87BF-9EBB448CC5A9}"/>
              </a:ext>
            </a:extLst>
          </p:cNvPr>
          <p:cNvSpPr>
            <a:spLocks noGrp="1"/>
          </p:cNvSpPr>
          <p:nvPr/>
        </p:nvSpPr>
        <p:spPr>
          <a:xfrm>
            <a:off x="3086100" y="3305175"/>
            <a:ext cx="12573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 lang="ar-SA"/>
          </a:p>
        </p:txBody>
      </p:sp>
      <p:sp>
        <p:nvSpPr>
          <p:cNvPr id="132" name="premium-row-dot-JUL-3">
            <a:extLst>
              <a:ext uri="{FF2B5EF4-FFF2-40B4-BE49-F238E27FC236}">
                <a16:creationId xmlns:a16="http://schemas.microsoft.com/office/drawing/2014/main" id="{3D2883A5-FD3A-476C-BA7D-8D115E249FEF}"/>
              </a:ext>
            </a:extLst>
          </p:cNvPr>
          <p:cNvSpPr>
            <a:spLocks noGrp="1"/>
          </p:cNvSpPr>
          <p:nvPr/>
        </p:nvSpPr>
        <p:spPr>
          <a:xfrm>
            <a:off x="3162300" y="3371850"/>
            <a:ext cx="57150" cy="57150"/>
          </a:xfrm>
          <a:prstGeom prst="ellipse">
            <a:avLst/>
          </a:prstGeom>
          <a:solidFill>
            <a:srgbClr val="00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33" name="premium-row-text-JUL-3">
            <a:extLst>
              <a:ext uri="{FF2B5EF4-FFF2-40B4-BE49-F238E27FC236}">
                <a16:creationId xmlns:a16="http://schemas.microsoft.com/office/drawing/2014/main" id="{E0C01CCF-5A82-4AE2-BEF6-70BE41F71231}"/>
              </a:ext>
            </a:extLst>
          </p:cNvPr>
          <p:cNvSpPr>
            <a:spLocks noGrp="1"/>
          </p:cNvSpPr>
          <p:nvPr/>
        </p:nvSpPr>
        <p:spPr>
          <a:xfrm>
            <a:off x="3286125" y="3324225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0" indent="0" algn="l" defTabSz="914400" rtl="0">
              <a:buNone/>
              <a:defRPr sz="668" b="0">
                <a:solidFill>
                  <a:srgbClr val="EDEDF0"/>
                </a:solidFill>
              </a:defRPr>
            </a:pPr>
            <a:r>
              <a:rPr lang="en-US" sz="668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Run Eval from Platform</a:t>
            </a:r>
            <a:endParaRPr sz="668" b="0" dirty="0">
              <a:solidFill>
                <a:srgbClr val="EDED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4" name="premium-card-AUG">
            <a:extLst>
              <a:ext uri="{FF2B5EF4-FFF2-40B4-BE49-F238E27FC236}">
                <a16:creationId xmlns:a16="http://schemas.microsoft.com/office/drawing/2014/main" id="{C9381B79-C7D6-41EE-B0A5-3D438C998883}"/>
              </a:ext>
            </a:extLst>
          </p:cNvPr>
          <p:cNvSpPr>
            <a:spLocks noGrp="1"/>
          </p:cNvSpPr>
          <p:nvPr/>
        </p:nvSpPr>
        <p:spPr>
          <a:xfrm>
            <a:off x="4552950" y="4381500"/>
            <a:ext cx="1485900" cy="895350"/>
          </a:xfrm>
          <a:prstGeom prst="rect">
            <a:avLst/>
          </a:prstGeom>
          <a:solidFill>
            <a:srgbClr val="1A1A28"/>
          </a:solidFill>
          <a:ln w="9525">
            <a:solidFill>
              <a:srgbClr val="A855F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35" name="premium-card-accent-AUG">
            <a:extLst>
              <a:ext uri="{FF2B5EF4-FFF2-40B4-BE49-F238E27FC236}">
                <a16:creationId xmlns:a16="http://schemas.microsoft.com/office/drawing/2014/main" id="{23269310-718B-4D6D-B4F2-1B1F03149BF3}"/>
              </a:ext>
            </a:extLst>
          </p:cNvPr>
          <p:cNvSpPr>
            <a:spLocks noGrp="1"/>
          </p:cNvSpPr>
          <p:nvPr/>
        </p:nvSpPr>
        <p:spPr>
          <a:xfrm>
            <a:off x="4552950" y="4381500"/>
            <a:ext cx="1485900" cy="38100"/>
          </a:xfrm>
          <a:prstGeom prst="rect">
            <a:avLst/>
          </a:prstGeom>
          <a:solidFill>
            <a:srgbClr val="A855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36" name="premium-row-bg-AUG-1">
            <a:extLst>
              <a:ext uri="{FF2B5EF4-FFF2-40B4-BE49-F238E27FC236}">
                <a16:creationId xmlns:a16="http://schemas.microsoft.com/office/drawing/2014/main" id="{A1434E25-B1E0-4DB2-8316-6BB6723E3933}"/>
              </a:ext>
            </a:extLst>
          </p:cNvPr>
          <p:cNvSpPr>
            <a:spLocks noGrp="1"/>
          </p:cNvSpPr>
          <p:nvPr/>
        </p:nvSpPr>
        <p:spPr>
          <a:xfrm>
            <a:off x="4667250" y="4505325"/>
            <a:ext cx="12573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37" name="premium-row-dot-AUG-1">
            <a:extLst>
              <a:ext uri="{FF2B5EF4-FFF2-40B4-BE49-F238E27FC236}">
                <a16:creationId xmlns:a16="http://schemas.microsoft.com/office/drawing/2014/main" id="{80751091-6A2F-420F-A3D5-0F34320F8C28}"/>
              </a:ext>
            </a:extLst>
          </p:cNvPr>
          <p:cNvSpPr>
            <a:spLocks noGrp="1"/>
          </p:cNvSpPr>
          <p:nvPr/>
        </p:nvSpPr>
        <p:spPr>
          <a:xfrm>
            <a:off x="4743450" y="4572000"/>
            <a:ext cx="57150" cy="57150"/>
          </a:xfrm>
          <a:prstGeom prst="ellipse">
            <a:avLst/>
          </a:prstGeom>
          <a:solidFill>
            <a:srgbClr val="A855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38" name="premium-row-text-AUG-1">
            <a:extLst>
              <a:ext uri="{FF2B5EF4-FFF2-40B4-BE49-F238E27FC236}">
                <a16:creationId xmlns:a16="http://schemas.microsoft.com/office/drawing/2014/main" id="{D3AF0282-A193-4BAA-93A9-81BBC9B56AED}"/>
              </a:ext>
            </a:extLst>
          </p:cNvPr>
          <p:cNvSpPr>
            <a:spLocks noGrp="1"/>
          </p:cNvSpPr>
          <p:nvPr/>
        </p:nvSpPr>
        <p:spPr>
          <a:xfrm>
            <a:off x="4867275" y="4524375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lang="en-US" sz="668" b="0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Insights Dashboard</a:t>
            </a:r>
          </a:p>
        </p:txBody>
      </p:sp>
      <p:sp>
        <p:nvSpPr>
          <p:cNvPr id="139" name="premium-row-bg-AUG-2">
            <a:extLst>
              <a:ext uri="{FF2B5EF4-FFF2-40B4-BE49-F238E27FC236}">
                <a16:creationId xmlns:a16="http://schemas.microsoft.com/office/drawing/2014/main" id="{D26FD30E-76AA-46EE-9FE0-432C9BA92496}"/>
              </a:ext>
            </a:extLst>
          </p:cNvPr>
          <p:cNvSpPr>
            <a:spLocks noGrp="1"/>
          </p:cNvSpPr>
          <p:nvPr/>
        </p:nvSpPr>
        <p:spPr>
          <a:xfrm>
            <a:off x="4667250" y="4743450"/>
            <a:ext cx="1257300" cy="190500"/>
          </a:xfrm>
          <a:prstGeom prst="rect">
            <a:avLst/>
          </a:prstGeom>
          <a:solidFill>
            <a:srgbClr val="1818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40" name="premium-row-dot-AUG-2">
            <a:extLst>
              <a:ext uri="{FF2B5EF4-FFF2-40B4-BE49-F238E27FC236}">
                <a16:creationId xmlns:a16="http://schemas.microsoft.com/office/drawing/2014/main" id="{DA57D9F7-9091-4AE6-A4ED-0317835C9336}"/>
              </a:ext>
            </a:extLst>
          </p:cNvPr>
          <p:cNvSpPr>
            <a:spLocks noGrp="1"/>
          </p:cNvSpPr>
          <p:nvPr/>
        </p:nvSpPr>
        <p:spPr>
          <a:xfrm>
            <a:off x="4743450" y="4810125"/>
            <a:ext cx="57150" cy="57150"/>
          </a:xfrm>
          <a:prstGeom prst="ellipse">
            <a:avLst/>
          </a:prstGeom>
          <a:solidFill>
            <a:srgbClr val="A855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41" name="premium-row-text-AUG-2">
            <a:extLst>
              <a:ext uri="{FF2B5EF4-FFF2-40B4-BE49-F238E27FC236}">
                <a16:creationId xmlns:a16="http://schemas.microsoft.com/office/drawing/2014/main" id="{4714797E-691D-4D7A-83D7-AF63DA365260}"/>
              </a:ext>
            </a:extLst>
          </p:cNvPr>
          <p:cNvSpPr>
            <a:spLocks noGrp="1"/>
          </p:cNvSpPr>
          <p:nvPr/>
        </p:nvSpPr>
        <p:spPr>
          <a:xfrm>
            <a:off x="4867275" y="4762500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0" indent="0" algn="l" defTabSz="914400" rtl="0">
              <a:buNone/>
              <a:defRPr sz="668" b="0">
                <a:solidFill>
                  <a:srgbClr val="EDEDF0"/>
                </a:solidFill>
              </a:defRPr>
            </a:pPr>
            <a:r>
              <a:rPr lang="en-US" sz="668" b="0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SDK Tracing Helpers</a:t>
            </a:r>
          </a:p>
        </p:txBody>
      </p:sp>
      <p:sp>
        <p:nvSpPr>
          <p:cNvPr id="142" name="premium-row-bg-AUG-3">
            <a:extLst>
              <a:ext uri="{FF2B5EF4-FFF2-40B4-BE49-F238E27FC236}">
                <a16:creationId xmlns:a16="http://schemas.microsoft.com/office/drawing/2014/main" id="{DFA6B801-0B13-47D1-ABF8-BF60D39D5080}"/>
              </a:ext>
            </a:extLst>
          </p:cNvPr>
          <p:cNvSpPr>
            <a:spLocks noGrp="1"/>
          </p:cNvSpPr>
          <p:nvPr/>
        </p:nvSpPr>
        <p:spPr>
          <a:xfrm>
            <a:off x="4667250" y="4981575"/>
            <a:ext cx="12573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43" name="premium-row-dot-AUG-3">
            <a:extLst>
              <a:ext uri="{FF2B5EF4-FFF2-40B4-BE49-F238E27FC236}">
                <a16:creationId xmlns:a16="http://schemas.microsoft.com/office/drawing/2014/main" id="{2011F2D4-1313-4552-8743-532C084DE7BA}"/>
              </a:ext>
            </a:extLst>
          </p:cNvPr>
          <p:cNvSpPr>
            <a:spLocks noGrp="1"/>
          </p:cNvSpPr>
          <p:nvPr/>
        </p:nvSpPr>
        <p:spPr>
          <a:xfrm>
            <a:off x="4743450" y="5048250"/>
            <a:ext cx="57150" cy="57150"/>
          </a:xfrm>
          <a:prstGeom prst="ellipse">
            <a:avLst/>
          </a:prstGeom>
          <a:solidFill>
            <a:srgbClr val="A855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44" name="premium-row-text-AUG-3">
            <a:extLst>
              <a:ext uri="{FF2B5EF4-FFF2-40B4-BE49-F238E27FC236}">
                <a16:creationId xmlns:a16="http://schemas.microsoft.com/office/drawing/2014/main" id="{96C9B7CB-C6A4-43A7-94E1-D80F13B25D7A}"/>
              </a:ext>
            </a:extLst>
          </p:cNvPr>
          <p:cNvSpPr>
            <a:spLocks noGrp="1"/>
          </p:cNvSpPr>
          <p:nvPr/>
        </p:nvSpPr>
        <p:spPr>
          <a:xfrm>
            <a:off x="4867275" y="5000625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0" indent="0" algn="l" defTabSz="914400" rtl="0">
              <a:buNone/>
              <a:defRPr sz="668" b="0">
                <a:solidFill>
                  <a:srgbClr val="EDEDF0"/>
                </a:solidFill>
              </a:defRPr>
            </a:pPr>
            <a:r>
              <a:rPr lang="en-US" sz="668" b="0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Experiments Studio</a:t>
            </a:r>
            <a:endParaRPr sz="668" b="0" dirty="0">
              <a:solidFill>
                <a:srgbClr val="EDED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5" name="premium-card-SEP">
            <a:extLst>
              <a:ext uri="{FF2B5EF4-FFF2-40B4-BE49-F238E27FC236}">
                <a16:creationId xmlns:a16="http://schemas.microsoft.com/office/drawing/2014/main" id="{B3DE7B25-5385-4C17-B84C-0EC432AF62B6}"/>
              </a:ext>
            </a:extLst>
          </p:cNvPr>
          <p:cNvSpPr>
            <a:spLocks noGrp="1"/>
          </p:cNvSpPr>
          <p:nvPr/>
        </p:nvSpPr>
        <p:spPr>
          <a:xfrm>
            <a:off x="6134100" y="2705100"/>
            <a:ext cx="1485900" cy="895350"/>
          </a:xfrm>
          <a:prstGeom prst="rect">
            <a:avLst/>
          </a:prstGeom>
          <a:solidFill>
            <a:srgbClr val="1A1A28"/>
          </a:solidFill>
          <a:ln w="9525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46" name="premium-card-accent-SEP">
            <a:extLst>
              <a:ext uri="{FF2B5EF4-FFF2-40B4-BE49-F238E27FC236}">
                <a16:creationId xmlns:a16="http://schemas.microsoft.com/office/drawing/2014/main" id="{817E8D2E-76F0-4187-8DF9-0F83BC8D2B85}"/>
              </a:ext>
            </a:extLst>
          </p:cNvPr>
          <p:cNvSpPr>
            <a:spLocks noGrp="1"/>
          </p:cNvSpPr>
          <p:nvPr/>
        </p:nvSpPr>
        <p:spPr>
          <a:xfrm>
            <a:off x="6134100" y="2705100"/>
            <a:ext cx="1485900" cy="3810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47" name="premium-row-bg-SEP-1">
            <a:extLst>
              <a:ext uri="{FF2B5EF4-FFF2-40B4-BE49-F238E27FC236}">
                <a16:creationId xmlns:a16="http://schemas.microsoft.com/office/drawing/2014/main" id="{6E98FFE2-25C6-4F30-926F-1B1590193215}"/>
              </a:ext>
            </a:extLst>
          </p:cNvPr>
          <p:cNvSpPr>
            <a:spLocks noGrp="1"/>
          </p:cNvSpPr>
          <p:nvPr/>
        </p:nvSpPr>
        <p:spPr>
          <a:xfrm>
            <a:off x="6248400" y="2828925"/>
            <a:ext cx="12573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 lang="ar-SA"/>
          </a:p>
        </p:txBody>
      </p:sp>
      <p:sp>
        <p:nvSpPr>
          <p:cNvPr id="148" name="premium-row-dot-SEP-1">
            <a:extLst>
              <a:ext uri="{FF2B5EF4-FFF2-40B4-BE49-F238E27FC236}">
                <a16:creationId xmlns:a16="http://schemas.microsoft.com/office/drawing/2014/main" id="{7967C345-4A06-4631-AB0E-3E87951F9B6F}"/>
              </a:ext>
            </a:extLst>
          </p:cNvPr>
          <p:cNvSpPr>
            <a:spLocks noGrp="1"/>
          </p:cNvSpPr>
          <p:nvPr/>
        </p:nvSpPr>
        <p:spPr>
          <a:xfrm>
            <a:off x="6324600" y="2895600"/>
            <a:ext cx="57150" cy="57150"/>
          </a:xfrm>
          <a:prstGeom prst="ellipse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49" name="premium-row-text-SEP-1">
            <a:extLst>
              <a:ext uri="{FF2B5EF4-FFF2-40B4-BE49-F238E27FC236}">
                <a16:creationId xmlns:a16="http://schemas.microsoft.com/office/drawing/2014/main" id="{EDFC21C9-6AF0-4D45-A7DF-78B413C08FA4}"/>
              </a:ext>
            </a:extLst>
          </p:cNvPr>
          <p:cNvSpPr>
            <a:spLocks noGrp="1"/>
          </p:cNvSpPr>
          <p:nvPr/>
        </p:nvSpPr>
        <p:spPr>
          <a:xfrm>
            <a:off x="6448425" y="2847975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lang="en-US" sz="668" b="0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Auto Optimizer</a:t>
            </a:r>
          </a:p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endParaRPr sz="668" b="0" dirty="0">
              <a:solidFill>
                <a:srgbClr val="EDED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0" name="premium-row-bg-SEP-2">
            <a:extLst>
              <a:ext uri="{FF2B5EF4-FFF2-40B4-BE49-F238E27FC236}">
                <a16:creationId xmlns:a16="http://schemas.microsoft.com/office/drawing/2014/main" id="{15715281-795F-4182-9376-A6D825616660}"/>
              </a:ext>
            </a:extLst>
          </p:cNvPr>
          <p:cNvSpPr>
            <a:spLocks noGrp="1"/>
          </p:cNvSpPr>
          <p:nvPr/>
        </p:nvSpPr>
        <p:spPr>
          <a:xfrm>
            <a:off x="6248400" y="3067050"/>
            <a:ext cx="1257300" cy="190500"/>
          </a:xfrm>
          <a:prstGeom prst="rect">
            <a:avLst/>
          </a:prstGeom>
          <a:solidFill>
            <a:srgbClr val="1818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51" name="premium-row-dot-SEP-2">
            <a:extLst>
              <a:ext uri="{FF2B5EF4-FFF2-40B4-BE49-F238E27FC236}">
                <a16:creationId xmlns:a16="http://schemas.microsoft.com/office/drawing/2014/main" id="{E590AADD-2A49-472B-95B3-F14B41B0EDFC}"/>
              </a:ext>
            </a:extLst>
          </p:cNvPr>
          <p:cNvSpPr>
            <a:spLocks noGrp="1"/>
          </p:cNvSpPr>
          <p:nvPr/>
        </p:nvSpPr>
        <p:spPr>
          <a:xfrm>
            <a:off x="6324600" y="3133725"/>
            <a:ext cx="57150" cy="57150"/>
          </a:xfrm>
          <a:prstGeom prst="ellipse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52" name="premium-row-text-SEP-2">
            <a:extLst>
              <a:ext uri="{FF2B5EF4-FFF2-40B4-BE49-F238E27FC236}">
                <a16:creationId xmlns:a16="http://schemas.microsoft.com/office/drawing/2014/main" id="{FBAF3E44-1C70-4D67-BDB2-EB256A165411}"/>
              </a:ext>
            </a:extLst>
          </p:cNvPr>
          <p:cNvSpPr>
            <a:spLocks noGrp="1"/>
          </p:cNvSpPr>
          <p:nvPr/>
        </p:nvSpPr>
        <p:spPr>
          <a:xfrm>
            <a:off x="6448425" y="3086100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lang="en-US" sz="668" b="0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Evaluation Marketplace</a:t>
            </a:r>
          </a:p>
        </p:txBody>
      </p:sp>
      <p:sp>
        <p:nvSpPr>
          <p:cNvPr id="153" name="premium-row-bg-SEP-3">
            <a:extLst>
              <a:ext uri="{FF2B5EF4-FFF2-40B4-BE49-F238E27FC236}">
                <a16:creationId xmlns:a16="http://schemas.microsoft.com/office/drawing/2014/main" id="{F833BB90-3BA1-47F0-BC40-E0D61D73F852}"/>
              </a:ext>
            </a:extLst>
          </p:cNvPr>
          <p:cNvSpPr>
            <a:spLocks noGrp="1"/>
          </p:cNvSpPr>
          <p:nvPr/>
        </p:nvSpPr>
        <p:spPr>
          <a:xfrm>
            <a:off x="6248400" y="3305175"/>
            <a:ext cx="12573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54" name="premium-row-dot-SEP-3">
            <a:extLst>
              <a:ext uri="{FF2B5EF4-FFF2-40B4-BE49-F238E27FC236}">
                <a16:creationId xmlns:a16="http://schemas.microsoft.com/office/drawing/2014/main" id="{ADA08BF8-DB12-4342-A0EF-0F7D4AC24643}"/>
              </a:ext>
            </a:extLst>
          </p:cNvPr>
          <p:cNvSpPr>
            <a:spLocks noGrp="1"/>
          </p:cNvSpPr>
          <p:nvPr/>
        </p:nvSpPr>
        <p:spPr>
          <a:xfrm>
            <a:off x="6324600" y="3371850"/>
            <a:ext cx="57150" cy="57150"/>
          </a:xfrm>
          <a:prstGeom prst="ellipse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55" name="premium-row-text-SEP-3">
            <a:extLst>
              <a:ext uri="{FF2B5EF4-FFF2-40B4-BE49-F238E27FC236}">
                <a16:creationId xmlns:a16="http://schemas.microsoft.com/office/drawing/2014/main" id="{48CDF30E-F4A3-427B-8D6C-7929CF167332}"/>
              </a:ext>
            </a:extLst>
          </p:cNvPr>
          <p:cNvSpPr>
            <a:spLocks noGrp="1"/>
          </p:cNvSpPr>
          <p:nvPr/>
        </p:nvSpPr>
        <p:spPr>
          <a:xfrm>
            <a:off x="6448425" y="3324225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rtl="0">
              <a:defRPr sz="668" b="0">
                <a:solidFill>
                  <a:srgbClr val="EDEDF0"/>
                </a:solidFill>
              </a:defRPr>
            </a:pPr>
            <a:r>
              <a:rPr lang="en-US" sz="668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Production Tracing</a:t>
            </a:r>
            <a:endParaRPr lang="en-US" sz="668" b="0" dirty="0">
              <a:solidFill>
                <a:srgbClr val="EDED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6" name="premium-card-OCT">
            <a:extLst>
              <a:ext uri="{FF2B5EF4-FFF2-40B4-BE49-F238E27FC236}">
                <a16:creationId xmlns:a16="http://schemas.microsoft.com/office/drawing/2014/main" id="{BA100588-40F7-48FA-8DCD-006E142AEAF7}"/>
              </a:ext>
            </a:extLst>
          </p:cNvPr>
          <p:cNvSpPr>
            <a:spLocks noGrp="1"/>
          </p:cNvSpPr>
          <p:nvPr/>
        </p:nvSpPr>
        <p:spPr>
          <a:xfrm>
            <a:off x="7715250" y="4381500"/>
            <a:ext cx="1485900" cy="895350"/>
          </a:xfrm>
          <a:prstGeom prst="rect">
            <a:avLst/>
          </a:prstGeom>
          <a:solidFill>
            <a:srgbClr val="1A1A28"/>
          </a:solidFill>
          <a:ln w="9525">
            <a:solidFill>
              <a:srgbClr val="00D4A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57" name="premium-card-accent-OCT">
            <a:extLst>
              <a:ext uri="{FF2B5EF4-FFF2-40B4-BE49-F238E27FC236}">
                <a16:creationId xmlns:a16="http://schemas.microsoft.com/office/drawing/2014/main" id="{2C375B0C-6EAC-4065-88C2-538DE0D98838}"/>
              </a:ext>
            </a:extLst>
          </p:cNvPr>
          <p:cNvSpPr>
            <a:spLocks noGrp="1"/>
          </p:cNvSpPr>
          <p:nvPr/>
        </p:nvSpPr>
        <p:spPr>
          <a:xfrm>
            <a:off x="7715250" y="4381500"/>
            <a:ext cx="1485900" cy="38100"/>
          </a:xfrm>
          <a:prstGeom prst="rect">
            <a:avLst/>
          </a:prstGeom>
          <a:solidFill>
            <a:srgbClr val="00D4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58" name="premium-row-bg-OCT-1">
            <a:extLst>
              <a:ext uri="{FF2B5EF4-FFF2-40B4-BE49-F238E27FC236}">
                <a16:creationId xmlns:a16="http://schemas.microsoft.com/office/drawing/2014/main" id="{E23F48F4-F035-450C-8708-5681AAAF14B8}"/>
              </a:ext>
            </a:extLst>
          </p:cNvPr>
          <p:cNvSpPr>
            <a:spLocks noGrp="1"/>
          </p:cNvSpPr>
          <p:nvPr/>
        </p:nvSpPr>
        <p:spPr>
          <a:xfrm>
            <a:off x="7829550" y="4505325"/>
            <a:ext cx="12573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59" name="premium-row-dot-OCT-1">
            <a:extLst>
              <a:ext uri="{FF2B5EF4-FFF2-40B4-BE49-F238E27FC236}">
                <a16:creationId xmlns:a16="http://schemas.microsoft.com/office/drawing/2014/main" id="{4B443EE0-1752-49F2-9A13-2A41C549547B}"/>
              </a:ext>
            </a:extLst>
          </p:cNvPr>
          <p:cNvSpPr>
            <a:spLocks noGrp="1"/>
          </p:cNvSpPr>
          <p:nvPr/>
        </p:nvSpPr>
        <p:spPr>
          <a:xfrm>
            <a:off x="7905750" y="4572000"/>
            <a:ext cx="57150" cy="57150"/>
          </a:xfrm>
          <a:prstGeom prst="ellipse">
            <a:avLst/>
          </a:prstGeom>
          <a:solidFill>
            <a:srgbClr val="00D4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60" name="premium-row-text-OCT-1">
            <a:extLst>
              <a:ext uri="{FF2B5EF4-FFF2-40B4-BE49-F238E27FC236}">
                <a16:creationId xmlns:a16="http://schemas.microsoft.com/office/drawing/2014/main" id="{22A2DC82-941F-4325-B894-564BAB0AC186}"/>
              </a:ext>
            </a:extLst>
          </p:cNvPr>
          <p:cNvSpPr>
            <a:spLocks noGrp="1"/>
          </p:cNvSpPr>
          <p:nvPr/>
        </p:nvSpPr>
        <p:spPr>
          <a:xfrm>
            <a:off x="8029575" y="4524375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lang="en-US" sz="668" b="0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Synthetic Dataset Builder</a:t>
            </a:r>
          </a:p>
        </p:txBody>
      </p:sp>
      <p:sp>
        <p:nvSpPr>
          <p:cNvPr id="161" name="premium-row-bg-OCT-2">
            <a:extLst>
              <a:ext uri="{FF2B5EF4-FFF2-40B4-BE49-F238E27FC236}">
                <a16:creationId xmlns:a16="http://schemas.microsoft.com/office/drawing/2014/main" id="{F5A26E6C-4ECE-4F3E-94C9-308960D1C1DB}"/>
              </a:ext>
            </a:extLst>
          </p:cNvPr>
          <p:cNvSpPr>
            <a:spLocks noGrp="1"/>
          </p:cNvSpPr>
          <p:nvPr/>
        </p:nvSpPr>
        <p:spPr>
          <a:xfrm>
            <a:off x="7829550" y="4743450"/>
            <a:ext cx="1257300" cy="190500"/>
          </a:xfrm>
          <a:prstGeom prst="rect">
            <a:avLst/>
          </a:prstGeom>
          <a:solidFill>
            <a:srgbClr val="1818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62" name="premium-row-dot-OCT-2">
            <a:extLst>
              <a:ext uri="{FF2B5EF4-FFF2-40B4-BE49-F238E27FC236}">
                <a16:creationId xmlns:a16="http://schemas.microsoft.com/office/drawing/2014/main" id="{4658B674-F9ED-4822-9D48-65F5E3D6A535}"/>
              </a:ext>
            </a:extLst>
          </p:cNvPr>
          <p:cNvSpPr>
            <a:spLocks noGrp="1"/>
          </p:cNvSpPr>
          <p:nvPr/>
        </p:nvSpPr>
        <p:spPr>
          <a:xfrm>
            <a:off x="7905750" y="4810125"/>
            <a:ext cx="57150" cy="57150"/>
          </a:xfrm>
          <a:prstGeom prst="ellipse">
            <a:avLst/>
          </a:prstGeom>
          <a:solidFill>
            <a:srgbClr val="00D4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63" name="premium-row-text-OCT-2">
            <a:extLst>
              <a:ext uri="{FF2B5EF4-FFF2-40B4-BE49-F238E27FC236}">
                <a16:creationId xmlns:a16="http://schemas.microsoft.com/office/drawing/2014/main" id="{62295C4B-6E46-4DC7-A2C2-D59E575C50E1}"/>
              </a:ext>
            </a:extLst>
          </p:cNvPr>
          <p:cNvSpPr>
            <a:spLocks noGrp="1"/>
          </p:cNvSpPr>
          <p:nvPr/>
        </p:nvSpPr>
        <p:spPr>
          <a:xfrm>
            <a:off x="8029575" y="4762500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lang="en-US" sz="668" b="0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Multi-Turn Eval Pack</a:t>
            </a:r>
            <a:endParaRPr sz="668" b="0" dirty="0">
              <a:solidFill>
                <a:srgbClr val="EDED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4" name="premium-row-bg-OCT-3">
            <a:extLst>
              <a:ext uri="{FF2B5EF4-FFF2-40B4-BE49-F238E27FC236}">
                <a16:creationId xmlns:a16="http://schemas.microsoft.com/office/drawing/2014/main" id="{FC2B0DEA-2377-4627-BD41-48BCE2E3DB12}"/>
              </a:ext>
            </a:extLst>
          </p:cNvPr>
          <p:cNvSpPr>
            <a:spLocks noGrp="1"/>
          </p:cNvSpPr>
          <p:nvPr/>
        </p:nvSpPr>
        <p:spPr>
          <a:xfrm>
            <a:off x="7829550" y="4981575"/>
            <a:ext cx="12573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65" name="premium-row-dot-OCT-3">
            <a:extLst>
              <a:ext uri="{FF2B5EF4-FFF2-40B4-BE49-F238E27FC236}">
                <a16:creationId xmlns:a16="http://schemas.microsoft.com/office/drawing/2014/main" id="{B2DFE073-3E0A-4CD5-8872-5A2F616F5D8B}"/>
              </a:ext>
            </a:extLst>
          </p:cNvPr>
          <p:cNvSpPr>
            <a:spLocks noGrp="1"/>
          </p:cNvSpPr>
          <p:nvPr/>
        </p:nvSpPr>
        <p:spPr>
          <a:xfrm>
            <a:off x="7905750" y="5048250"/>
            <a:ext cx="57150" cy="57150"/>
          </a:xfrm>
          <a:prstGeom prst="ellipse">
            <a:avLst/>
          </a:prstGeom>
          <a:solidFill>
            <a:srgbClr val="00D4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66" name="premium-row-text-OCT-3">
            <a:extLst>
              <a:ext uri="{FF2B5EF4-FFF2-40B4-BE49-F238E27FC236}">
                <a16:creationId xmlns:a16="http://schemas.microsoft.com/office/drawing/2014/main" id="{5E2EF614-D434-45ED-A016-69429E21EF6B}"/>
              </a:ext>
            </a:extLst>
          </p:cNvPr>
          <p:cNvSpPr>
            <a:spLocks noGrp="1"/>
          </p:cNvSpPr>
          <p:nvPr/>
        </p:nvSpPr>
        <p:spPr>
          <a:xfrm>
            <a:off x="8029575" y="5000625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lang="en-US" sz="668" b="0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Chat Eval Pack</a:t>
            </a:r>
            <a:endParaRPr sz="668" b="0" dirty="0">
              <a:solidFill>
                <a:srgbClr val="EDED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7" name="premium-card-NOV">
            <a:extLst>
              <a:ext uri="{FF2B5EF4-FFF2-40B4-BE49-F238E27FC236}">
                <a16:creationId xmlns:a16="http://schemas.microsoft.com/office/drawing/2014/main" id="{2F042748-1F98-4786-8474-FFA7EE014A7C}"/>
              </a:ext>
            </a:extLst>
          </p:cNvPr>
          <p:cNvSpPr>
            <a:spLocks noGrp="1"/>
          </p:cNvSpPr>
          <p:nvPr/>
        </p:nvSpPr>
        <p:spPr>
          <a:xfrm>
            <a:off x="9296400" y="2705100"/>
            <a:ext cx="1485900" cy="895350"/>
          </a:xfrm>
          <a:prstGeom prst="rect">
            <a:avLst/>
          </a:prstGeom>
          <a:solidFill>
            <a:srgbClr val="1A1A28"/>
          </a:solidFill>
          <a:ln w="9525">
            <a:solidFill>
              <a:srgbClr val="10B98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68" name="premium-card-accent-NOV">
            <a:extLst>
              <a:ext uri="{FF2B5EF4-FFF2-40B4-BE49-F238E27FC236}">
                <a16:creationId xmlns:a16="http://schemas.microsoft.com/office/drawing/2014/main" id="{5DF304AD-4CA1-47D8-8FCC-A7CCE020B355}"/>
              </a:ext>
            </a:extLst>
          </p:cNvPr>
          <p:cNvSpPr>
            <a:spLocks noGrp="1"/>
          </p:cNvSpPr>
          <p:nvPr/>
        </p:nvSpPr>
        <p:spPr>
          <a:xfrm>
            <a:off x="9296400" y="2705100"/>
            <a:ext cx="1485900" cy="38100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69" name="premium-row-bg-NOV-1">
            <a:extLst>
              <a:ext uri="{FF2B5EF4-FFF2-40B4-BE49-F238E27FC236}">
                <a16:creationId xmlns:a16="http://schemas.microsoft.com/office/drawing/2014/main" id="{65830A0E-B276-47BC-9A96-929D171D4DDB}"/>
              </a:ext>
            </a:extLst>
          </p:cNvPr>
          <p:cNvSpPr>
            <a:spLocks noGrp="1"/>
          </p:cNvSpPr>
          <p:nvPr/>
        </p:nvSpPr>
        <p:spPr>
          <a:xfrm>
            <a:off x="9410700" y="2828925"/>
            <a:ext cx="12573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70" name="premium-row-dot-NOV-1">
            <a:extLst>
              <a:ext uri="{FF2B5EF4-FFF2-40B4-BE49-F238E27FC236}">
                <a16:creationId xmlns:a16="http://schemas.microsoft.com/office/drawing/2014/main" id="{5155195B-37B3-4A73-963D-4A54F58F0A17}"/>
              </a:ext>
            </a:extLst>
          </p:cNvPr>
          <p:cNvSpPr>
            <a:spLocks noGrp="1"/>
          </p:cNvSpPr>
          <p:nvPr/>
        </p:nvSpPr>
        <p:spPr>
          <a:xfrm>
            <a:off x="9486900" y="2895600"/>
            <a:ext cx="57150" cy="57150"/>
          </a:xfrm>
          <a:prstGeom prst="ellipse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71" name="premium-row-text-NOV-1">
            <a:extLst>
              <a:ext uri="{FF2B5EF4-FFF2-40B4-BE49-F238E27FC236}">
                <a16:creationId xmlns:a16="http://schemas.microsoft.com/office/drawing/2014/main" id="{29766623-149E-42CB-AED7-86373657733C}"/>
              </a:ext>
            </a:extLst>
          </p:cNvPr>
          <p:cNvSpPr>
            <a:spLocks noGrp="1"/>
          </p:cNvSpPr>
          <p:nvPr/>
        </p:nvSpPr>
        <p:spPr>
          <a:xfrm>
            <a:off x="9610725" y="2847975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lang="en-US" sz="668" b="0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Guardrails Eval Pack</a:t>
            </a:r>
            <a:endParaRPr sz="668" b="0" dirty="0">
              <a:solidFill>
                <a:srgbClr val="EDED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2" name="premium-row-bg-NOV-2">
            <a:extLst>
              <a:ext uri="{FF2B5EF4-FFF2-40B4-BE49-F238E27FC236}">
                <a16:creationId xmlns:a16="http://schemas.microsoft.com/office/drawing/2014/main" id="{13C845DA-81A8-4603-A99E-C3F2D96DFCA1}"/>
              </a:ext>
            </a:extLst>
          </p:cNvPr>
          <p:cNvSpPr>
            <a:spLocks noGrp="1"/>
          </p:cNvSpPr>
          <p:nvPr/>
        </p:nvSpPr>
        <p:spPr>
          <a:xfrm>
            <a:off x="9410700" y="3067050"/>
            <a:ext cx="1257300" cy="190500"/>
          </a:xfrm>
          <a:prstGeom prst="rect">
            <a:avLst/>
          </a:prstGeom>
          <a:solidFill>
            <a:srgbClr val="1818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 lang="ar-SA"/>
          </a:p>
        </p:txBody>
      </p:sp>
      <p:sp>
        <p:nvSpPr>
          <p:cNvPr id="173" name="premium-row-dot-NOV-2">
            <a:extLst>
              <a:ext uri="{FF2B5EF4-FFF2-40B4-BE49-F238E27FC236}">
                <a16:creationId xmlns:a16="http://schemas.microsoft.com/office/drawing/2014/main" id="{FB240CFF-DFDE-4C75-8438-44043F778CE3}"/>
              </a:ext>
            </a:extLst>
          </p:cNvPr>
          <p:cNvSpPr>
            <a:spLocks noGrp="1"/>
          </p:cNvSpPr>
          <p:nvPr/>
        </p:nvSpPr>
        <p:spPr>
          <a:xfrm>
            <a:off x="9486900" y="3133725"/>
            <a:ext cx="57150" cy="57150"/>
          </a:xfrm>
          <a:prstGeom prst="ellipse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74" name="premium-row-text-NOV-2">
            <a:extLst>
              <a:ext uri="{FF2B5EF4-FFF2-40B4-BE49-F238E27FC236}">
                <a16:creationId xmlns:a16="http://schemas.microsoft.com/office/drawing/2014/main" id="{00186E3B-9C3D-4A20-84E6-1EE380DC1A85}"/>
              </a:ext>
            </a:extLst>
          </p:cNvPr>
          <p:cNvSpPr>
            <a:spLocks noGrp="1"/>
          </p:cNvSpPr>
          <p:nvPr/>
        </p:nvSpPr>
        <p:spPr>
          <a:xfrm>
            <a:off x="9610725" y="3086100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lang="en-US" sz="668" b="0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General Performance Metrics</a:t>
            </a:r>
            <a:endParaRPr sz="668" b="0" dirty="0">
              <a:solidFill>
                <a:srgbClr val="EDED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5" name="premium-row-bg-NOV-3">
            <a:extLst>
              <a:ext uri="{FF2B5EF4-FFF2-40B4-BE49-F238E27FC236}">
                <a16:creationId xmlns:a16="http://schemas.microsoft.com/office/drawing/2014/main" id="{50ADC6E9-85C6-48D2-BBE6-369A33E73C8B}"/>
              </a:ext>
            </a:extLst>
          </p:cNvPr>
          <p:cNvSpPr>
            <a:spLocks noGrp="1"/>
          </p:cNvSpPr>
          <p:nvPr/>
        </p:nvSpPr>
        <p:spPr>
          <a:xfrm>
            <a:off x="9410700" y="3305175"/>
            <a:ext cx="12573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76" name="premium-row-dot-NOV-3">
            <a:extLst>
              <a:ext uri="{FF2B5EF4-FFF2-40B4-BE49-F238E27FC236}">
                <a16:creationId xmlns:a16="http://schemas.microsoft.com/office/drawing/2014/main" id="{7EEDF6F3-D965-49CD-A18A-6C9409CB0D0A}"/>
              </a:ext>
            </a:extLst>
          </p:cNvPr>
          <p:cNvSpPr>
            <a:spLocks noGrp="1"/>
          </p:cNvSpPr>
          <p:nvPr/>
        </p:nvSpPr>
        <p:spPr>
          <a:xfrm>
            <a:off x="9486900" y="3371850"/>
            <a:ext cx="57150" cy="57150"/>
          </a:xfrm>
          <a:prstGeom prst="ellipse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77" name="premium-row-text-NOV-3">
            <a:extLst>
              <a:ext uri="{FF2B5EF4-FFF2-40B4-BE49-F238E27FC236}">
                <a16:creationId xmlns:a16="http://schemas.microsoft.com/office/drawing/2014/main" id="{16FFE8EA-FD39-4416-98AF-EE095E231E05}"/>
              </a:ext>
            </a:extLst>
          </p:cNvPr>
          <p:cNvSpPr>
            <a:spLocks noGrp="1"/>
          </p:cNvSpPr>
          <p:nvPr/>
        </p:nvSpPr>
        <p:spPr>
          <a:xfrm>
            <a:off x="9610725" y="3324225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lang="en-US" sz="668" b="0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More Metrics and Packs</a:t>
            </a:r>
          </a:p>
        </p:txBody>
      </p:sp>
      <p:sp>
        <p:nvSpPr>
          <p:cNvPr id="178" name="premium-card-DEC">
            <a:extLst>
              <a:ext uri="{FF2B5EF4-FFF2-40B4-BE49-F238E27FC236}">
                <a16:creationId xmlns:a16="http://schemas.microsoft.com/office/drawing/2014/main" id="{044D1327-F91B-4E51-9224-3CE44B990040}"/>
              </a:ext>
            </a:extLst>
          </p:cNvPr>
          <p:cNvSpPr>
            <a:spLocks noGrp="1"/>
          </p:cNvSpPr>
          <p:nvPr/>
        </p:nvSpPr>
        <p:spPr>
          <a:xfrm>
            <a:off x="10439400" y="4381500"/>
            <a:ext cx="1428750" cy="895350"/>
          </a:xfrm>
          <a:prstGeom prst="rect">
            <a:avLst/>
          </a:prstGeom>
          <a:solidFill>
            <a:srgbClr val="1A1A28"/>
          </a:solidFill>
          <a:ln w="9525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 lang="ar-SA"/>
          </a:p>
        </p:txBody>
      </p:sp>
      <p:sp>
        <p:nvSpPr>
          <p:cNvPr id="179" name="premium-card-accent-DEC">
            <a:extLst>
              <a:ext uri="{FF2B5EF4-FFF2-40B4-BE49-F238E27FC236}">
                <a16:creationId xmlns:a16="http://schemas.microsoft.com/office/drawing/2014/main" id="{75CF9E9F-EF9B-4E33-9D60-853A684EB9D7}"/>
              </a:ext>
            </a:extLst>
          </p:cNvPr>
          <p:cNvSpPr>
            <a:spLocks noGrp="1"/>
          </p:cNvSpPr>
          <p:nvPr/>
        </p:nvSpPr>
        <p:spPr>
          <a:xfrm>
            <a:off x="10439400" y="4381500"/>
            <a:ext cx="1428750" cy="3810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80" name="premium-row-bg-DEC-1">
            <a:extLst>
              <a:ext uri="{FF2B5EF4-FFF2-40B4-BE49-F238E27FC236}">
                <a16:creationId xmlns:a16="http://schemas.microsoft.com/office/drawing/2014/main" id="{8AC18C1B-A047-4D7D-8362-DC3576282011}"/>
              </a:ext>
            </a:extLst>
          </p:cNvPr>
          <p:cNvSpPr>
            <a:spLocks noGrp="1"/>
          </p:cNvSpPr>
          <p:nvPr/>
        </p:nvSpPr>
        <p:spPr>
          <a:xfrm>
            <a:off x="10553700" y="4505325"/>
            <a:ext cx="120015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81" name="premium-row-dot-DEC-1">
            <a:extLst>
              <a:ext uri="{FF2B5EF4-FFF2-40B4-BE49-F238E27FC236}">
                <a16:creationId xmlns:a16="http://schemas.microsoft.com/office/drawing/2014/main" id="{6AE14149-32F8-4AC3-8402-9C286CCD1879}"/>
              </a:ext>
            </a:extLst>
          </p:cNvPr>
          <p:cNvSpPr>
            <a:spLocks noGrp="1"/>
          </p:cNvSpPr>
          <p:nvPr/>
        </p:nvSpPr>
        <p:spPr>
          <a:xfrm>
            <a:off x="10629900" y="4572000"/>
            <a:ext cx="57150" cy="57150"/>
          </a:xfrm>
          <a:prstGeom prst="ellipse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82" name="premium-row-text-DEC-1">
            <a:extLst>
              <a:ext uri="{FF2B5EF4-FFF2-40B4-BE49-F238E27FC236}">
                <a16:creationId xmlns:a16="http://schemas.microsoft.com/office/drawing/2014/main" id="{785BAACC-DBD3-45ED-BCFE-D242E81D257C}"/>
              </a:ext>
            </a:extLst>
          </p:cNvPr>
          <p:cNvSpPr>
            <a:spLocks noGrp="1"/>
          </p:cNvSpPr>
          <p:nvPr/>
        </p:nvSpPr>
        <p:spPr>
          <a:xfrm>
            <a:off x="10753725" y="4524375"/>
            <a:ext cx="990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lang="en-US" sz="668" b="0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System Analyzer</a:t>
            </a:r>
            <a:endParaRPr sz="668" b="0" dirty="0">
              <a:solidFill>
                <a:srgbClr val="EDED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3" name="premium-row-bg-DEC-2">
            <a:extLst>
              <a:ext uri="{FF2B5EF4-FFF2-40B4-BE49-F238E27FC236}">
                <a16:creationId xmlns:a16="http://schemas.microsoft.com/office/drawing/2014/main" id="{A44DBE95-7039-4B50-A7F1-7B1DDB4B8BF1}"/>
              </a:ext>
            </a:extLst>
          </p:cNvPr>
          <p:cNvSpPr>
            <a:spLocks noGrp="1"/>
          </p:cNvSpPr>
          <p:nvPr/>
        </p:nvSpPr>
        <p:spPr>
          <a:xfrm>
            <a:off x="10553700" y="4743450"/>
            <a:ext cx="1200150" cy="190500"/>
          </a:xfrm>
          <a:prstGeom prst="rect">
            <a:avLst/>
          </a:prstGeom>
          <a:solidFill>
            <a:srgbClr val="1818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84" name="premium-row-dot-DEC-2">
            <a:extLst>
              <a:ext uri="{FF2B5EF4-FFF2-40B4-BE49-F238E27FC236}">
                <a16:creationId xmlns:a16="http://schemas.microsoft.com/office/drawing/2014/main" id="{3457E392-E22D-49CE-9600-62AF1ED3F5B9}"/>
              </a:ext>
            </a:extLst>
          </p:cNvPr>
          <p:cNvSpPr>
            <a:spLocks noGrp="1"/>
          </p:cNvSpPr>
          <p:nvPr/>
        </p:nvSpPr>
        <p:spPr>
          <a:xfrm>
            <a:off x="10629900" y="4810125"/>
            <a:ext cx="57150" cy="57150"/>
          </a:xfrm>
          <a:prstGeom prst="ellipse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85" name="premium-row-text-DEC-2">
            <a:extLst>
              <a:ext uri="{FF2B5EF4-FFF2-40B4-BE49-F238E27FC236}">
                <a16:creationId xmlns:a16="http://schemas.microsoft.com/office/drawing/2014/main" id="{508D1951-7D29-48AD-9F73-118AFB1E43E4}"/>
              </a:ext>
            </a:extLst>
          </p:cNvPr>
          <p:cNvSpPr>
            <a:spLocks noGrp="1"/>
          </p:cNvSpPr>
          <p:nvPr/>
        </p:nvSpPr>
        <p:spPr>
          <a:xfrm>
            <a:off x="10753725" y="4762500"/>
            <a:ext cx="990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lang="en-US" sz="668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Platform V2</a:t>
            </a:r>
            <a:endParaRPr sz="668" b="0" dirty="0">
              <a:solidFill>
                <a:srgbClr val="EDEDF0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800464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vision-background">
            <a:extLst>
              <a:ext uri="{FF2B5EF4-FFF2-40B4-BE49-F238E27FC236}">
                <a16:creationId xmlns:a16="http://schemas.microsoft.com/office/drawing/2014/main" id="{3B1B3F35-B44E-4234-9F94-9A839A6259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0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" name="vision-surface">
            <a:extLst>
              <a:ext uri="{FF2B5EF4-FFF2-40B4-BE49-F238E27FC236}">
                <a16:creationId xmlns:a16="http://schemas.microsoft.com/office/drawing/2014/main" id="{B065CF56-7003-4254-ABA6-331FCB12B4F2}"/>
              </a:ext>
            </a:extLst>
          </p:cNvPr>
          <p:cNvSpPr>
            <a:spLocks noGrp="1"/>
          </p:cNvSpPr>
          <p:nvPr/>
        </p:nvSpPr>
        <p:spPr>
          <a:xfrm>
            <a:off x="0" y="295275"/>
            <a:ext cx="12192000" cy="6562725"/>
          </a:xfrm>
          <a:prstGeom prst="rect">
            <a:avLst/>
          </a:prstGeom>
          <a:solidFill>
            <a:srgbClr val="1414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" name="vision-top-accent">
            <a:extLst>
              <a:ext uri="{FF2B5EF4-FFF2-40B4-BE49-F238E27FC236}">
                <a16:creationId xmlns:a16="http://schemas.microsoft.com/office/drawing/2014/main" id="{8308A972-4D58-4A5C-B3C0-C51EC9AFC8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D4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" name="vision-bottom-rule">
            <a:extLst>
              <a:ext uri="{FF2B5EF4-FFF2-40B4-BE49-F238E27FC236}">
                <a16:creationId xmlns:a16="http://schemas.microsoft.com/office/drawing/2014/main" id="{C7304A3D-0F43-4BE3-BB63-1B6BA37C8DEC}"/>
              </a:ext>
            </a:extLst>
          </p:cNvPr>
          <p:cNvSpPr>
            <a:spLocks noGrp="1"/>
          </p:cNvSpPr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25253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" y="324007"/>
            <a:ext cx="400050" cy="39973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91828" y="285750"/>
            <a:ext cx="778595" cy="495300"/>
          </a:xfrm>
          <a:prstGeom prst="rect">
            <a:avLst/>
          </a:prstGeom>
        </p:spPr>
      </p:pic>
      <p:sp>
        <p:nvSpPr>
          <p:cNvPr id="7" name="vision-kicker">
            <a:extLst>
              <a:ext uri="{FF2B5EF4-FFF2-40B4-BE49-F238E27FC236}">
                <a16:creationId xmlns:a16="http://schemas.microsoft.com/office/drawing/2014/main" id="{50E1C3DA-910D-452B-83B6-E5A6B3058658}"/>
              </a:ext>
            </a:extLst>
          </p:cNvPr>
          <p:cNvSpPr>
            <a:spLocks noGrp="1"/>
          </p:cNvSpPr>
          <p:nvPr/>
        </p:nvSpPr>
        <p:spPr>
          <a:xfrm>
            <a:off x="2000250" y="371475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00D4AA"/>
                </a:solidFill>
              </a:defRPr>
            </a:pPr>
            <a:r>
              <a:rPr sz="788" b="1" dirty="0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QYM PLATFORM STRATEGY</a:t>
            </a:r>
          </a:p>
        </p:txBody>
      </p:sp>
      <p:sp>
        <p:nvSpPr>
          <p:cNvPr id="8" name="vision-title">
            <a:extLst>
              <a:ext uri="{FF2B5EF4-FFF2-40B4-BE49-F238E27FC236}">
                <a16:creationId xmlns:a16="http://schemas.microsoft.com/office/drawing/2014/main" id="{C031B04F-1122-4732-A091-2B5753A4F878}"/>
              </a:ext>
            </a:extLst>
          </p:cNvPr>
          <p:cNvSpPr>
            <a:spLocks noGrp="1"/>
          </p:cNvSpPr>
          <p:nvPr/>
        </p:nvSpPr>
        <p:spPr>
          <a:xfrm>
            <a:off x="495300" y="990600"/>
            <a:ext cx="7239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EDEDF0"/>
                </a:solidFill>
              </a:defRPr>
            </a:pPr>
            <a:r>
              <a:rPr sz="3000" b="1">
                <a:solidFill>
                  <a:srgbClr val="EDEDF0"/>
                </a:solidFill>
                <a:latin typeface="Aptos Display"/>
                <a:ea typeface="Aptos Display"/>
                <a:cs typeface="Aptos Display"/>
              </a:rPr>
              <a:t>The AI Quality Operating System</a:t>
            </a:r>
          </a:p>
        </p:txBody>
      </p:sp>
      <p:sp>
        <p:nvSpPr>
          <p:cNvPr id="9" name="vision-subtitle">
            <a:extLst>
              <a:ext uri="{FF2B5EF4-FFF2-40B4-BE49-F238E27FC236}">
                <a16:creationId xmlns:a16="http://schemas.microsoft.com/office/drawing/2014/main" id="{BD98634B-82EF-40D4-9F94-7B6BB82580BF}"/>
              </a:ext>
            </a:extLst>
          </p:cNvPr>
          <p:cNvSpPr>
            <a:spLocks noGrp="1"/>
          </p:cNvSpPr>
          <p:nvPr/>
        </p:nvSpPr>
        <p:spPr>
          <a:xfrm>
            <a:off x="514350" y="1524000"/>
            <a:ext cx="7905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8A8BA"/>
                </a:solidFill>
              </a:defRPr>
            </a:pPr>
            <a:r>
              <a:rPr sz="120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Qym moves beyond evaluation into a full platform for measuring, improving, protecting, and understanding AI systems across product and engineering teams.</a:t>
            </a:r>
          </a:p>
        </p:txBody>
      </p:sp>
      <p:sp>
        <p:nvSpPr>
          <p:cNvPr id="10" name="vision-promise-box">
            <a:extLst>
              <a:ext uri="{FF2B5EF4-FFF2-40B4-BE49-F238E27FC236}">
                <a16:creationId xmlns:a16="http://schemas.microsoft.com/office/drawing/2014/main" id="{349FF0AF-151B-411E-864A-4AD1D9DC35F8}"/>
              </a:ext>
            </a:extLst>
          </p:cNvPr>
          <p:cNvSpPr>
            <a:spLocks noGrp="1"/>
          </p:cNvSpPr>
          <p:nvPr/>
        </p:nvSpPr>
        <p:spPr>
          <a:xfrm>
            <a:off x="9010650" y="914400"/>
            <a:ext cx="2076450" cy="838200"/>
          </a:xfrm>
          <a:prstGeom prst="rect">
            <a:avLst/>
          </a:prstGeom>
          <a:solidFill>
            <a:srgbClr val="1A1A28"/>
          </a:solidFill>
          <a:ln w="9525">
            <a:solidFill>
              <a:srgbClr val="00D4AA">
                <a:alpha val="40000"/>
              </a:srgbClr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 lang="ar-SA"/>
          </a:p>
        </p:txBody>
      </p:sp>
      <p:sp>
        <p:nvSpPr>
          <p:cNvPr id="11" name="vision-promise-label">
            <a:extLst>
              <a:ext uri="{FF2B5EF4-FFF2-40B4-BE49-F238E27FC236}">
                <a16:creationId xmlns:a16="http://schemas.microsoft.com/office/drawing/2014/main" id="{AE99763C-D0CC-4142-A836-3DA36A536361}"/>
              </a:ext>
            </a:extLst>
          </p:cNvPr>
          <p:cNvSpPr>
            <a:spLocks noGrp="1"/>
          </p:cNvSpPr>
          <p:nvPr/>
        </p:nvSpPr>
        <p:spPr>
          <a:xfrm>
            <a:off x="9220200" y="1057275"/>
            <a:ext cx="16192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8" b="1">
                <a:solidFill>
                  <a:srgbClr val="00D4AA"/>
                </a:solidFill>
              </a:defRPr>
            </a:pPr>
            <a:r>
              <a:rPr sz="638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PROMISE</a:t>
            </a:r>
          </a:p>
        </p:txBody>
      </p:sp>
      <p:sp>
        <p:nvSpPr>
          <p:cNvPr id="12" name="vision-promise-copy">
            <a:extLst>
              <a:ext uri="{FF2B5EF4-FFF2-40B4-BE49-F238E27FC236}">
                <a16:creationId xmlns:a16="http://schemas.microsoft.com/office/drawing/2014/main" id="{F2C53431-F9D2-446C-BABE-E7CB10A921C5}"/>
              </a:ext>
            </a:extLst>
          </p:cNvPr>
          <p:cNvSpPr>
            <a:spLocks noGrp="1"/>
          </p:cNvSpPr>
          <p:nvPr/>
        </p:nvSpPr>
        <p:spPr>
          <a:xfrm>
            <a:off x="9201150" y="1285875"/>
            <a:ext cx="1676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1">
                <a:solidFill>
                  <a:srgbClr val="EDEDF0"/>
                </a:solidFill>
              </a:defRPr>
            </a:pPr>
            <a:r>
              <a:rPr sz="1013" b="1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Measure. Improve. Protect. Learn.</a:t>
            </a:r>
          </a:p>
        </p:txBody>
      </p:sp>
      <p:sp>
        <p:nvSpPr>
          <p:cNvPr id="13" name="pillar-label">
            <a:extLst>
              <a:ext uri="{FF2B5EF4-FFF2-40B4-BE49-F238E27FC236}">
                <a16:creationId xmlns:a16="http://schemas.microsoft.com/office/drawing/2014/main" id="{6F5D1FE3-6535-4821-80A2-5ED256192AB7}"/>
              </a:ext>
            </a:extLst>
          </p:cNvPr>
          <p:cNvSpPr>
            <a:spLocks noGrp="1"/>
          </p:cNvSpPr>
          <p:nvPr/>
        </p:nvSpPr>
        <p:spPr>
          <a:xfrm>
            <a:off x="495300" y="2238375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00D4AA"/>
                </a:solidFill>
              </a:defRPr>
            </a:pPr>
            <a:r>
              <a:rPr sz="750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FOUR PRODUCT PILLARS</a:t>
            </a:r>
          </a:p>
        </p:txBody>
      </p:sp>
      <p:sp>
        <p:nvSpPr>
          <p:cNvPr id="14" name="pillar-rule">
            <a:extLst>
              <a:ext uri="{FF2B5EF4-FFF2-40B4-BE49-F238E27FC236}">
                <a16:creationId xmlns:a16="http://schemas.microsoft.com/office/drawing/2014/main" id="{B1618151-2E4B-4B83-87FC-CD1F4EB384FB}"/>
              </a:ext>
            </a:extLst>
          </p:cNvPr>
          <p:cNvSpPr>
            <a:spLocks noGrp="1"/>
          </p:cNvSpPr>
          <p:nvPr/>
        </p:nvSpPr>
        <p:spPr>
          <a:xfrm>
            <a:off x="2238375" y="2333625"/>
            <a:ext cx="9639300" cy="11430"/>
          </a:xfrm>
          <a:prstGeom prst="rect">
            <a:avLst/>
          </a:prstGeom>
          <a:solidFill>
            <a:srgbClr val="25253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5" name="pillar-card-1">
            <a:extLst>
              <a:ext uri="{FF2B5EF4-FFF2-40B4-BE49-F238E27FC236}">
                <a16:creationId xmlns:a16="http://schemas.microsoft.com/office/drawing/2014/main" id="{D53AB58E-614C-484D-90AB-599CE37CD9FB}"/>
              </a:ext>
            </a:extLst>
          </p:cNvPr>
          <p:cNvSpPr>
            <a:spLocks noGrp="1"/>
          </p:cNvSpPr>
          <p:nvPr/>
        </p:nvSpPr>
        <p:spPr>
          <a:xfrm>
            <a:off x="495300" y="2628900"/>
            <a:ext cx="2667000" cy="3448050"/>
          </a:xfrm>
          <a:prstGeom prst="rect">
            <a:avLst/>
          </a:prstGeom>
          <a:solidFill>
            <a:srgbClr val="1A1A28"/>
          </a:solidFill>
          <a:ln w="9525">
            <a:solidFill>
              <a:srgbClr val="00D4AA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6" name="pillar-accent-1">
            <a:extLst>
              <a:ext uri="{FF2B5EF4-FFF2-40B4-BE49-F238E27FC236}">
                <a16:creationId xmlns:a16="http://schemas.microsoft.com/office/drawing/2014/main" id="{EE8D38FC-64DD-4917-89E2-370D85F25552}"/>
              </a:ext>
            </a:extLst>
          </p:cNvPr>
          <p:cNvSpPr>
            <a:spLocks noGrp="1"/>
          </p:cNvSpPr>
          <p:nvPr/>
        </p:nvSpPr>
        <p:spPr>
          <a:xfrm>
            <a:off x="495300" y="2628900"/>
            <a:ext cx="2667000" cy="47625"/>
          </a:xfrm>
          <a:prstGeom prst="rect">
            <a:avLst/>
          </a:prstGeom>
          <a:solidFill>
            <a:srgbClr val="00D4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7" name="pillar-number-bg-1">
            <a:extLst>
              <a:ext uri="{FF2B5EF4-FFF2-40B4-BE49-F238E27FC236}">
                <a16:creationId xmlns:a16="http://schemas.microsoft.com/office/drawing/2014/main" id="{4E4BD378-3C4D-4310-8CFB-A8B5ACA524A8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323850" cy="323850"/>
          </a:xfrm>
          <a:prstGeom prst="ellipse">
            <a:avLst/>
          </a:prstGeom>
          <a:solidFill>
            <a:srgbClr val="00D4AA">
              <a:alpha val="13333"/>
            </a:srgbClr>
          </a:solidFill>
          <a:ln w="9525">
            <a:solidFill>
              <a:srgbClr val="00D4A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8" name="pillar-number-1">
            <a:extLst>
              <a:ext uri="{FF2B5EF4-FFF2-40B4-BE49-F238E27FC236}">
                <a16:creationId xmlns:a16="http://schemas.microsoft.com/office/drawing/2014/main" id="{C49038D0-1566-42FA-B1D5-058B0FC5108A}"/>
              </a:ext>
            </a:extLst>
          </p:cNvPr>
          <p:cNvSpPr>
            <a:spLocks noGrp="1"/>
          </p:cNvSpPr>
          <p:nvPr/>
        </p:nvSpPr>
        <p:spPr>
          <a:xfrm>
            <a:off x="685800" y="2905125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0D4AA"/>
                </a:solidFill>
              </a:defRPr>
            </a:pPr>
            <a:r>
              <a:rPr sz="900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19" name="pillar-eyebrow-1">
            <a:extLst>
              <a:ext uri="{FF2B5EF4-FFF2-40B4-BE49-F238E27FC236}">
                <a16:creationId xmlns:a16="http://schemas.microsoft.com/office/drawing/2014/main" id="{735154E4-753D-40D0-8E11-AEDAD48417B9}"/>
              </a:ext>
            </a:extLst>
          </p:cNvPr>
          <p:cNvSpPr>
            <a:spLocks noGrp="1"/>
          </p:cNvSpPr>
          <p:nvPr/>
        </p:nvSpPr>
        <p:spPr>
          <a:xfrm>
            <a:off x="1143000" y="2876550"/>
            <a:ext cx="1790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00D4AA"/>
                </a:solidFill>
              </a:defRPr>
            </a:pPr>
            <a:r>
              <a:rPr sz="675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QYM EVALUATE</a:t>
            </a:r>
          </a:p>
        </p:txBody>
      </p:sp>
      <p:sp>
        <p:nvSpPr>
          <p:cNvPr id="20" name="pillar-title-1">
            <a:extLst>
              <a:ext uri="{FF2B5EF4-FFF2-40B4-BE49-F238E27FC236}">
                <a16:creationId xmlns:a16="http://schemas.microsoft.com/office/drawing/2014/main" id="{60F1CE44-614E-4A1F-A877-E7FA8C64BAB1}"/>
              </a:ext>
            </a:extLst>
          </p:cNvPr>
          <p:cNvSpPr>
            <a:spLocks noGrp="1"/>
          </p:cNvSpPr>
          <p:nvPr/>
        </p:nvSpPr>
        <p:spPr>
          <a:xfrm>
            <a:off x="685800" y="3371850"/>
            <a:ext cx="2286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EDEDF0"/>
                </a:solidFill>
              </a:defRPr>
            </a:pPr>
            <a:r>
              <a:rPr sz="1425" b="1">
                <a:solidFill>
                  <a:srgbClr val="EDEDF0"/>
                </a:solidFill>
                <a:latin typeface="Aptos Display"/>
                <a:ea typeface="Aptos Display"/>
                <a:cs typeface="Aptos Display"/>
              </a:rPr>
              <a:t>Measure AI quality with confidence</a:t>
            </a:r>
          </a:p>
        </p:txBody>
      </p:sp>
      <p:sp>
        <p:nvSpPr>
          <p:cNvPr id="21" name="pillar-proof-1">
            <a:extLst>
              <a:ext uri="{FF2B5EF4-FFF2-40B4-BE49-F238E27FC236}">
                <a16:creationId xmlns:a16="http://schemas.microsoft.com/office/drawing/2014/main" id="{B0F3808A-4453-423E-8930-136F98FBAC9A}"/>
              </a:ext>
            </a:extLst>
          </p:cNvPr>
          <p:cNvSpPr>
            <a:spLocks noGrp="1"/>
          </p:cNvSpPr>
          <p:nvPr/>
        </p:nvSpPr>
        <p:spPr>
          <a:xfrm>
            <a:off x="685800" y="3981450"/>
            <a:ext cx="2286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A8A8BA"/>
                </a:solidFill>
              </a:defRPr>
            </a:pPr>
            <a:r>
              <a:rPr sz="885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The system of record for datasets, runs, judges, reviews, and dashboards.</a:t>
            </a:r>
          </a:p>
        </p:txBody>
      </p:sp>
      <p:sp>
        <p:nvSpPr>
          <p:cNvPr id="22" name="pillar-separator-1">
            <a:extLst>
              <a:ext uri="{FF2B5EF4-FFF2-40B4-BE49-F238E27FC236}">
                <a16:creationId xmlns:a16="http://schemas.microsoft.com/office/drawing/2014/main" id="{2E01EDF9-1790-484A-806A-7F11BBC7EA9D}"/>
              </a:ext>
            </a:extLst>
          </p:cNvPr>
          <p:cNvSpPr>
            <a:spLocks noGrp="1"/>
          </p:cNvSpPr>
          <p:nvPr/>
        </p:nvSpPr>
        <p:spPr>
          <a:xfrm>
            <a:off x="685800" y="4714875"/>
            <a:ext cx="2286000" cy="9525"/>
          </a:xfrm>
          <a:prstGeom prst="rect">
            <a:avLst/>
          </a:prstGeom>
          <a:solidFill>
            <a:srgbClr val="FFFFFF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3" name="pillar-row-bg-1-1">
            <a:extLst>
              <a:ext uri="{FF2B5EF4-FFF2-40B4-BE49-F238E27FC236}">
                <a16:creationId xmlns:a16="http://schemas.microsoft.com/office/drawing/2014/main" id="{73FF91E0-7522-49F1-A762-8B8323331B7D}"/>
              </a:ext>
            </a:extLst>
          </p:cNvPr>
          <p:cNvSpPr>
            <a:spLocks noGrp="1"/>
          </p:cNvSpPr>
          <p:nvPr/>
        </p:nvSpPr>
        <p:spPr>
          <a:xfrm>
            <a:off x="685800" y="4886325"/>
            <a:ext cx="22860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4" name="pillar-row-dot-1-1">
            <a:extLst>
              <a:ext uri="{FF2B5EF4-FFF2-40B4-BE49-F238E27FC236}">
                <a16:creationId xmlns:a16="http://schemas.microsoft.com/office/drawing/2014/main" id="{85D26C99-3A95-4EF7-A306-3A0043F7E632}"/>
              </a:ext>
            </a:extLst>
          </p:cNvPr>
          <p:cNvSpPr>
            <a:spLocks noGrp="1"/>
          </p:cNvSpPr>
          <p:nvPr/>
        </p:nvSpPr>
        <p:spPr>
          <a:xfrm>
            <a:off x="790575" y="4953000"/>
            <a:ext cx="57150" cy="57150"/>
          </a:xfrm>
          <a:prstGeom prst="ellipse">
            <a:avLst/>
          </a:prstGeom>
          <a:solidFill>
            <a:srgbClr val="00D4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5" name="pillar-row-text-1-1">
            <a:extLst>
              <a:ext uri="{FF2B5EF4-FFF2-40B4-BE49-F238E27FC236}">
                <a16:creationId xmlns:a16="http://schemas.microsoft.com/office/drawing/2014/main" id="{68EB1721-1087-4000-84E2-970D041837EF}"/>
              </a:ext>
            </a:extLst>
          </p:cNvPr>
          <p:cNvSpPr>
            <a:spLocks noGrp="1"/>
          </p:cNvSpPr>
          <p:nvPr/>
        </p:nvSpPr>
        <p:spPr>
          <a:xfrm>
            <a:off x="942975" y="4905375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EDEDF0"/>
                </a:solidFill>
              </a:defRPr>
            </a:pPr>
            <a:r>
              <a:rPr sz="690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Versioned datasets</a:t>
            </a:r>
          </a:p>
        </p:txBody>
      </p:sp>
      <p:sp>
        <p:nvSpPr>
          <p:cNvPr id="26" name="pillar-row-bg-1-2">
            <a:extLst>
              <a:ext uri="{FF2B5EF4-FFF2-40B4-BE49-F238E27FC236}">
                <a16:creationId xmlns:a16="http://schemas.microsoft.com/office/drawing/2014/main" id="{9D8C2D64-A19D-4F11-B51E-08082A383BE4}"/>
              </a:ext>
            </a:extLst>
          </p:cNvPr>
          <p:cNvSpPr>
            <a:spLocks noGrp="1"/>
          </p:cNvSpPr>
          <p:nvPr/>
        </p:nvSpPr>
        <p:spPr>
          <a:xfrm>
            <a:off x="685800" y="5153025"/>
            <a:ext cx="2286000" cy="190500"/>
          </a:xfrm>
          <a:prstGeom prst="rect">
            <a:avLst/>
          </a:prstGeom>
          <a:solidFill>
            <a:srgbClr val="1818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7" name="pillar-row-dot-1-2">
            <a:extLst>
              <a:ext uri="{FF2B5EF4-FFF2-40B4-BE49-F238E27FC236}">
                <a16:creationId xmlns:a16="http://schemas.microsoft.com/office/drawing/2014/main" id="{CB18B01F-9B57-43D0-AF7D-D86EBE2F98B5}"/>
              </a:ext>
            </a:extLst>
          </p:cNvPr>
          <p:cNvSpPr>
            <a:spLocks noGrp="1"/>
          </p:cNvSpPr>
          <p:nvPr/>
        </p:nvSpPr>
        <p:spPr>
          <a:xfrm>
            <a:off x="790575" y="5219700"/>
            <a:ext cx="57150" cy="57150"/>
          </a:xfrm>
          <a:prstGeom prst="ellipse">
            <a:avLst/>
          </a:prstGeom>
          <a:solidFill>
            <a:srgbClr val="00D4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8" name="pillar-row-text-1-2">
            <a:extLst>
              <a:ext uri="{FF2B5EF4-FFF2-40B4-BE49-F238E27FC236}">
                <a16:creationId xmlns:a16="http://schemas.microsoft.com/office/drawing/2014/main" id="{CEE6627C-DE43-4EBB-ADE9-6DC16E741E07}"/>
              </a:ext>
            </a:extLst>
          </p:cNvPr>
          <p:cNvSpPr>
            <a:spLocks noGrp="1"/>
          </p:cNvSpPr>
          <p:nvPr/>
        </p:nvSpPr>
        <p:spPr>
          <a:xfrm>
            <a:off x="942975" y="5172075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EDEDF0"/>
                </a:solidFill>
              </a:defRPr>
            </a:pPr>
            <a:r>
              <a:rPr sz="690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Live evaluation runs</a:t>
            </a:r>
          </a:p>
        </p:txBody>
      </p:sp>
      <p:sp>
        <p:nvSpPr>
          <p:cNvPr id="29" name="pillar-row-bg-1-3">
            <a:extLst>
              <a:ext uri="{FF2B5EF4-FFF2-40B4-BE49-F238E27FC236}">
                <a16:creationId xmlns:a16="http://schemas.microsoft.com/office/drawing/2014/main" id="{461B5EEF-E36D-4779-8D1E-FBCA3B614B98}"/>
              </a:ext>
            </a:extLst>
          </p:cNvPr>
          <p:cNvSpPr>
            <a:spLocks noGrp="1"/>
          </p:cNvSpPr>
          <p:nvPr/>
        </p:nvSpPr>
        <p:spPr>
          <a:xfrm>
            <a:off x="685800" y="5419725"/>
            <a:ext cx="22860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0" name="pillar-row-dot-1-3">
            <a:extLst>
              <a:ext uri="{FF2B5EF4-FFF2-40B4-BE49-F238E27FC236}">
                <a16:creationId xmlns:a16="http://schemas.microsoft.com/office/drawing/2014/main" id="{581F44F8-35E5-40E1-97BB-08E044118318}"/>
              </a:ext>
            </a:extLst>
          </p:cNvPr>
          <p:cNvSpPr>
            <a:spLocks noGrp="1"/>
          </p:cNvSpPr>
          <p:nvPr/>
        </p:nvSpPr>
        <p:spPr>
          <a:xfrm>
            <a:off x="790575" y="5486400"/>
            <a:ext cx="57150" cy="57150"/>
          </a:xfrm>
          <a:prstGeom prst="ellipse">
            <a:avLst/>
          </a:prstGeom>
          <a:solidFill>
            <a:srgbClr val="00D4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1" name="pillar-row-text-1-3">
            <a:extLst>
              <a:ext uri="{FF2B5EF4-FFF2-40B4-BE49-F238E27FC236}">
                <a16:creationId xmlns:a16="http://schemas.microsoft.com/office/drawing/2014/main" id="{096679F9-6A36-4C4B-B5EB-D80612903FAE}"/>
              </a:ext>
            </a:extLst>
          </p:cNvPr>
          <p:cNvSpPr>
            <a:spLocks noGrp="1"/>
          </p:cNvSpPr>
          <p:nvPr/>
        </p:nvSpPr>
        <p:spPr>
          <a:xfrm>
            <a:off x="942975" y="5438775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EDEDF0"/>
                </a:solidFill>
              </a:defRPr>
            </a:pPr>
            <a:r>
              <a:rPr sz="690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LLM judges</a:t>
            </a:r>
          </a:p>
        </p:txBody>
      </p:sp>
      <p:sp>
        <p:nvSpPr>
          <p:cNvPr id="32" name="pillar-row-bg-1-4">
            <a:extLst>
              <a:ext uri="{FF2B5EF4-FFF2-40B4-BE49-F238E27FC236}">
                <a16:creationId xmlns:a16="http://schemas.microsoft.com/office/drawing/2014/main" id="{29EE1A15-7784-44E3-8F17-8266D1B980ED}"/>
              </a:ext>
            </a:extLst>
          </p:cNvPr>
          <p:cNvSpPr>
            <a:spLocks noGrp="1"/>
          </p:cNvSpPr>
          <p:nvPr/>
        </p:nvSpPr>
        <p:spPr>
          <a:xfrm>
            <a:off x="685800" y="5686425"/>
            <a:ext cx="2286000" cy="190500"/>
          </a:xfrm>
          <a:prstGeom prst="rect">
            <a:avLst/>
          </a:prstGeom>
          <a:solidFill>
            <a:srgbClr val="1818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3" name="pillar-row-dot-1-4">
            <a:extLst>
              <a:ext uri="{FF2B5EF4-FFF2-40B4-BE49-F238E27FC236}">
                <a16:creationId xmlns:a16="http://schemas.microsoft.com/office/drawing/2014/main" id="{548B58BF-AD15-4DF6-82AA-60A9966667C9}"/>
              </a:ext>
            </a:extLst>
          </p:cNvPr>
          <p:cNvSpPr>
            <a:spLocks noGrp="1"/>
          </p:cNvSpPr>
          <p:nvPr/>
        </p:nvSpPr>
        <p:spPr>
          <a:xfrm>
            <a:off x="790575" y="5753100"/>
            <a:ext cx="57150" cy="57150"/>
          </a:xfrm>
          <a:prstGeom prst="ellipse">
            <a:avLst/>
          </a:prstGeom>
          <a:solidFill>
            <a:srgbClr val="00D4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4" name="pillar-row-text-1-4">
            <a:extLst>
              <a:ext uri="{FF2B5EF4-FFF2-40B4-BE49-F238E27FC236}">
                <a16:creationId xmlns:a16="http://schemas.microsoft.com/office/drawing/2014/main" id="{DC5CE88B-5983-42AC-B0A6-42C883CAEFDE}"/>
              </a:ext>
            </a:extLst>
          </p:cNvPr>
          <p:cNvSpPr>
            <a:spLocks noGrp="1"/>
          </p:cNvSpPr>
          <p:nvPr/>
        </p:nvSpPr>
        <p:spPr>
          <a:xfrm>
            <a:off x="942975" y="5705475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EDEDF0"/>
                </a:solidFill>
              </a:defRPr>
            </a:pPr>
            <a:r>
              <a:rPr sz="690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Review workflows</a:t>
            </a:r>
          </a:p>
        </p:txBody>
      </p:sp>
      <p:sp>
        <p:nvSpPr>
          <p:cNvPr id="35" name="pillar-card-2">
            <a:extLst>
              <a:ext uri="{FF2B5EF4-FFF2-40B4-BE49-F238E27FC236}">
                <a16:creationId xmlns:a16="http://schemas.microsoft.com/office/drawing/2014/main" id="{3077E855-7146-4BC9-BCDF-D149B740A63C}"/>
              </a:ext>
            </a:extLst>
          </p:cNvPr>
          <p:cNvSpPr>
            <a:spLocks noGrp="1"/>
          </p:cNvSpPr>
          <p:nvPr/>
        </p:nvSpPr>
        <p:spPr>
          <a:xfrm>
            <a:off x="3371850" y="2628900"/>
            <a:ext cx="2667000" cy="3448050"/>
          </a:xfrm>
          <a:prstGeom prst="rect">
            <a:avLst/>
          </a:prstGeom>
          <a:solidFill>
            <a:srgbClr val="1A1A28"/>
          </a:solidFill>
          <a:ln w="9525">
            <a:solidFill>
              <a:srgbClr val="00A8FF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6" name="pillar-accent-2">
            <a:extLst>
              <a:ext uri="{FF2B5EF4-FFF2-40B4-BE49-F238E27FC236}">
                <a16:creationId xmlns:a16="http://schemas.microsoft.com/office/drawing/2014/main" id="{CC501E84-6BE3-4419-B215-9E076D14111D}"/>
              </a:ext>
            </a:extLst>
          </p:cNvPr>
          <p:cNvSpPr>
            <a:spLocks noGrp="1"/>
          </p:cNvSpPr>
          <p:nvPr/>
        </p:nvSpPr>
        <p:spPr>
          <a:xfrm>
            <a:off x="3371850" y="2628900"/>
            <a:ext cx="2667000" cy="47625"/>
          </a:xfrm>
          <a:prstGeom prst="rect">
            <a:avLst/>
          </a:prstGeom>
          <a:solidFill>
            <a:srgbClr val="00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7" name="pillar-number-bg-2">
            <a:extLst>
              <a:ext uri="{FF2B5EF4-FFF2-40B4-BE49-F238E27FC236}">
                <a16:creationId xmlns:a16="http://schemas.microsoft.com/office/drawing/2014/main" id="{1F935CA0-1924-4959-850E-8E25C34429D1}"/>
              </a:ext>
            </a:extLst>
          </p:cNvPr>
          <p:cNvSpPr>
            <a:spLocks noGrp="1"/>
          </p:cNvSpPr>
          <p:nvPr/>
        </p:nvSpPr>
        <p:spPr>
          <a:xfrm>
            <a:off x="3562350" y="2857500"/>
            <a:ext cx="323850" cy="323850"/>
          </a:xfrm>
          <a:prstGeom prst="ellipse">
            <a:avLst/>
          </a:prstGeom>
          <a:solidFill>
            <a:srgbClr val="00A8FF">
              <a:alpha val="13333"/>
            </a:srgbClr>
          </a:solidFill>
          <a:ln w="9525">
            <a:solidFill>
              <a:srgbClr val="00A8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8" name="pillar-number-2">
            <a:extLst>
              <a:ext uri="{FF2B5EF4-FFF2-40B4-BE49-F238E27FC236}">
                <a16:creationId xmlns:a16="http://schemas.microsoft.com/office/drawing/2014/main" id="{E09EE058-9D52-45FF-A643-FD190A0BB83F}"/>
              </a:ext>
            </a:extLst>
          </p:cNvPr>
          <p:cNvSpPr>
            <a:spLocks noGrp="1"/>
          </p:cNvSpPr>
          <p:nvPr/>
        </p:nvSpPr>
        <p:spPr>
          <a:xfrm>
            <a:off x="3562350" y="2905125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0A8FF"/>
                </a:solidFill>
              </a:defRPr>
            </a:pPr>
            <a:r>
              <a:rPr sz="900" b="1">
                <a:solidFill>
                  <a:srgbClr val="00A8F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39" name="pillar-eyebrow-2">
            <a:extLst>
              <a:ext uri="{FF2B5EF4-FFF2-40B4-BE49-F238E27FC236}">
                <a16:creationId xmlns:a16="http://schemas.microsoft.com/office/drawing/2014/main" id="{0921DBE2-03A9-4F61-A389-60DEEA6AB48B}"/>
              </a:ext>
            </a:extLst>
          </p:cNvPr>
          <p:cNvSpPr>
            <a:spLocks noGrp="1"/>
          </p:cNvSpPr>
          <p:nvPr/>
        </p:nvSpPr>
        <p:spPr>
          <a:xfrm>
            <a:off x="4019550" y="2876550"/>
            <a:ext cx="1790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00A8FF"/>
                </a:solidFill>
              </a:defRPr>
            </a:pPr>
            <a:r>
              <a:rPr sz="675" b="1">
                <a:solidFill>
                  <a:srgbClr val="00A8FF"/>
                </a:solidFill>
                <a:latin typeface="Aptos Mono"/>
                <a:ea typeface="Aptos Mono"/>
                <a:cs typeface="Aptos Mono"/>
              </a:rPr>
              <a:t>QYM OPTIMIZE</a:t>
            </a:r>
          </a:p>
        </p:txBody>
      </p:sp>
      <p:sp>
        <p:nvSpPr>
          <p:cNvPr id="40" name="pillar-title-2">
            <a:extLst>
              <a:ext uri="{FF2B5EF4-FFF2-40B4-BE49-F238E27FC236}">
                <a16:creationId xmlns:a16="http://schemas.microsoft.com/office/drawing/2014/main" id="{D8D2498D-855E-4618-8E5F-5147DB0F10E0}"/>
              </a:ext>
            </a:extLst>
          </p:cNvPr>
          <p:cNvSpPr>
            <a:spLocks noGrp="1"/>
          </p:cNvSpPr>
          <p:nvPr/>
        </p:nvSpPr>
        <p:spPr>
          <a:xfrm>
            <a:off x="3562350" y="3371850"/>
            <a:ext cx="2286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EDEDF0"/>
                </a:solidFill>
              </a:defRPr>
            </a:pPr>
            <a:r>
              <a:rPr sz="1425" b="1">
                <a:solidFill>
                  <a:srgbClr val="EDEDF0"/>
                </a:solidFill>
                <a:latin typeface="Aptos Display"/>
                <a:ea typeface="Aptos Display"/>
                <a:cs typeface="Aptos Display"/>
              </a:rPr>
              <a:t>Turn failures into better AI</a:t>
            </a:r>
          </a:p>
        </p:txBody>
      </p:sp>
      <p:sp>
        <p:nvSpPr>
          <p:cNvPr id="41" name="pillar-proof-2">
            <a:extLst>
              <a:ext uri="{FF2B5EF4-FFF2-40B4-BE49-F238E27FC236}">
                <a16:creationId xmlns:a16="http://schemas.microsoft.com/office/drawing/2014/main" id="{49D87209-DC1A-4F4F-861B-DBFD913F28E0}"/>
              </a:ext>
            </a:extLst>
          </p:cNvPr>
          <p:cNvSpPr>
            <a:spLocks noGrp="1"/>
          </p:cNvSpPr>
          <p:nvPr/>
        </p:nvSpPr>
        <p:spPr>
          <a:xfrm>
            <a:off x="3562350" y="3981450"/>
            <a:ext cx="2286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A8A8BA"/>
                </a:solidFill>
              </a:defRPr>
            </a:pPr>
            <a:r>
              <a:rPr sz="885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Prompt and agent optimizers that recommend what to change, test, and ship.</a:t>
            </a:r>
          </a:p>
        </p:txBody>
      </p:sp>
      <p:sp>
        <p:nvSpPr>
          <p:cNvPr id="42" name="pillar-separator-2">
            <a:extLst>
              <a:ext uri="{FF2B5EF4-FFF2-40B4-BE49-F238E27FC236}">
                <a16:creationId xmlns:a16="http://schemas.microsoft.com/office/drawing/2014/main" id="{F9D34BFA-F07B-4D26-A37C-091E10E91AFC}"/>
              </a:ext>
            </a:extLst>
          </p:cNvPr>
          <p:cNvSpPr>
            <a:spLocks noGrp="1"/>
          </p:cNvSpPr>
          <p:nvPr/>
        </p:nvSpPr>
        <p:spPr>
          <a:xfrm>
            <a:off x="3562350" y="4714875"/>
            <a:ext cx="2286000" cy="9525"/>
          </a:xfrm>
          <a:prstGeom prst="rect">
            <a:avLst/>
          </a:prstGeom>
          <a:solidFill>
            <a:srgbClr val="FFFFFF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3" name="pillar-row-bg-2-1">
            <a:extLst>
              <a:ext uri="{FF2B5EF4-FFF2-40B4-BE49-F238E27FC236}">
                <a16:creationId xmlns:a16="http://schemas.microsoft.com/office/drawing/2014/main" id="{F9F3B53E-777E-4F9D-AC29-B7CD978D3212}"/>
              </a:ext>
            </a:extLst>
          </p:cNvPr>
          <p:cNvSpPr>
            <a:spLocks noGrp="1"/>
          </p:cNvSpPr>
          <p:nvPr/>
        </p:nvSpPr>
        <p:spPr>
          <a:xfrm>
            <a:off x="3562350" y="4886325"/>
            <a:ext cx="22860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4" name="pillar-row-dot-2-1">
            <a:extLst>
              <a:ext uri="{FF2B5EF4-FFF2-40B4-BE49-F238E27FC236}">
                <a16:creationId xmlns:a16="http://schemas.microsoft.com/office/drawing/2014/main" id="{DEA0B05F-DDA6-4777-AF6F-ACB11D65AB02}"/>
              </a:ext>
            </a:extLst>
          </p:cNvPr>
          <p:cNvSpPr>
            <a:spLocks noGrp="1"/>
          </p:cNvSpPr>
          <p:nvPr/>
        </p:nvSpPr>
        <p:spPr>
          <a:xfrm>
            <a:off x="3667125" y="4953000"/>
            <a:ext cx="57150" cy="57150"/>
          </a:xfrm>
          <a:prstGeom prst="ellipse">
            <a:avLst/>
          </a:prstGeom>
          <a:solidFill>
            <a:srgbClr val="00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5" name="pillar-row-text-2-1">
            <a:extLst>
              <a:ext uri="{FF2B5EF4-FFF2-40B4-BE49-F238E27FC236}">
                <a16:creationId xmlns:a16="http://schemas.microsoft.com/office/drawing/2014/main" id="{E326A937-2EC2-46D2-815F-A53DC1BB26EA}"/>
              </a:ext>
            </a:extLst>
          </p:cNvPr>
          <p:cNvSpPr>
            <a:spLocks noGrp="1"/>
          </p:cNvSpPr>
          <p:nvPr/>
        </p:nvSpPr>
        <p:spPr>
          <a:xfrm>
            <a:off x="3819525" y="4905375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EDEDF0"/>
                </a:solidFill>
              </a:defRPr>
            </a:pPr>
            <a:r>
              <a:rPr sz="690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Prompt optimizer</a:t>
            </a:r>
          </a:p>
        </p:txBody>
      </p:sp>
      <p:sp>
        <p:nvSpPr>
          <p:cNvPr id="46" name="pillar-row-bg-2-2">
            <a:extLst>
              <a:ext uri="{FF2B5EF4-FFF2-40B4-BE49-F238E27FC236}">
                <a16:creationId xmlns:a16="http://schemas.microsoft.com/office/drawing/2014/main" id="{AA7B4035-AD9F-4FCB-A226-0D2950492061}"/>
              </a:ext>
            </a:extLst>
          </p:cNvPr>
          <p:cNvSpPr>
            <a:spLocks noGrp="1"/>
          </p:cNvSpPr>
          <p:nvPr/>
        </p:nvSpPr>
        <p:spPr>
          <a:xfrm>
            <a:off x="3562350" y="5153025"/>
            <a:ext cx="2286000" cy="190500"/>
          </a:xfrm>
          <a:prstGeom prst="rect">
            <a:avLst/>
          </a:prstGeom>
          <a:solidFill>
            <a:srgbClr val="1818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7" name="pillar-row-dot-2-2">
            <a:extLst>
              <a:ext uri="{FF2B5EF4-FFF2-40B4-BE49-F238E27FC236}">
                <a16:creationId xmlns:a16="http://schemas.microsoft.com/office/drawing/2014/main" id="{DDDE13CD-4304-4592-B5FE-A6E5944244C3}"/>
              </a:ext>
            </a:extLst>
          </p:cNvPr>
          <p:cNvSpPr>
            <a:spLocks noGrp="1"/>
          </p:cNvSpPr>
          <p:nvPr/>
        </p:nvSpPr>
        <p:spPr>
          <a:xfrm>
            <a:off x="3667125" y="5219700"/>
            <a:ext cx="57150" cy="57150"/>
          </a:xfrm>
          <a:prstGeom prst="ellipse">
            <a:avLst/>
          </a:prstGeom>
          <a:solidFill>
            <a:srgbClr val="00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8" name="pillar-row-text-2-2">
            <a:extLst>
              <a:ext uri="{FF2B5EF4-FFF2-40B4-BE49-F238E27FC236}">
                <a16:creationId xmlns:a16="http://schemas.microsoft.com/office/drawing/2014/main" id="{880E3563-8782-4A19-833B-894EEF9B941E}"/>
              </a:ext>
            </a:extLst>
          </p:cNvPr>
          <p:cNvSpPr>
            <a:spLocks noGrp="1"/>
          </p:cNvSpPr>
          <p:nvPr/>
        </p:nvSpPr>
        <p:spPr>
          <a:xfrm>
            <a:off x="3819525" y="5172075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EDEDF0"/>
                </a:solidFill>
              </a:defRPr>
            </a:pPr>
            <a:r>
              <a:rPr sz="690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Agent optimizer</a:t>
            </a:r>
          </a:p>
        </p:txBody>
      </p:sp>
      <p:sp>
        <p:nvSpPr>
          <p:cNvPr id="49" name="pillar-row-bg-2-3">
            <a:extLst>
              <a:ext uri="{FF2B5EF4-FFF2-40B4-BE49-F238E27FC236}">
                <a16:creationId xmlns:a16="http://schemas.microsoft.com/office/drawing/2014/main" id="{51B9FC5E-0C8E-479C-BFFB-C6FDF58F667D}"/>
              </a:ext>
            </a:extLst>
          </p:cNvPr>
          <p:cNvSpPr>
            <a:spLocks noGrp="1"/>
          </p:cNvSpPr>
          <p:nvPr/>
        </p:nvSpPr>
        <p:spPr>
          <a:xfrm>
            <a:off x="3562350" y="5419725"/>
            <a:ext cx="22860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0" name="pillar-row-dot-2-3">
            <a:extLst>
              <a:ext uri="{FF2B5EF4-FFF2-40B4-BE49-F238E27FC236}">
                <a16:creationId xmlns:a16="http://schemas.microsoft.com/office/drawing/2014/main" id="{5B15DA27-03B2-41CD-ACEC-81CA406D0B3B}"/>
              </a:ext>
            </a:extLst>
          </p:cNvPr>
          <p:cNvSpPr>
            <a:spLocks noGrp="1"/>
          </p:cNvSpPr>
          <p:nvPr/>
        </p:nvSpPr>
        <p:spPr>
          <a:xfrm>
            <a:off x="3667125" y="5486400"/>
            <a:ext cx="57150" cy="57150"/>
          </a:xfrm>
          <a:prstGeom prst="ellipse">
            <a:avLst/>
          </a:prstGeom>
          <a:solidFill>
            <a:srgbClr val="00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1" name="pillar-row-text-2-3">
            <a:extLst>
              <a:ext uri="{FF2B5EF4-FFF2-40B4-BE49-F238E27FC236}">
                <a16:creationId xmlns:a16="http://schemas.microsoft.com/office/drawing/2014/main" id="{D0E5C6D1-3D40-44D5-91A7-D193E4078FD0}"/>
              </a:ext>
            </a:extLst>
          </p:cNvPr>
          <p:cNvSpPr>
            <a:spLocks noGrp="1"/>
          </p:cNvSpPr>
          <p:nvPr/>
        </p:nvSpPr>
        <p:spPr>
          <a:xfrm>
            <a:off x="3819525" y="5438775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EDEDF0"/>
                </a:solidFill>
              </a:defRPr>
            </a:pPr>
            <a:r>
              <a:rPr sz="690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Experiment studio</a:t>
            </a:r>
          </a:p>
        </p:txBody>
      </p:sp>
      <p:sp>
        <p:nvSpPr>
          <p:cNvPr id="52" name="pillar-row-bg-2-4">
            <a:extLst>
              <a:ext uri="{FF2B5EF4-FFF2-40B4-BE49-F238E27FC236}">
                <a16:creationId xmlns:a16="http://schemas.microsoft.com/office/drawing/2014/main" id="{75976A4F-1759-4BAE-99CA-E464201BBAA6}"/>
              </a:ext>
            </a:extLst>
          </p:cNvPr>
          <p:cNvSpPr>
            <a:spLocks noGrp="1"/>
          </p:cNvSpPr>
          <p:nvPr/>
        </p:nvSpPr>
        <p:spPr>
          <a:xfrm>
            <a:off x="3562350" y="5686425"/>
            <a:ext cx="2286000" cy="190500"/>
          </a:xfrm>
          <a:prstGeom prst="rect">
            <a:avLst/>
          </a:prstGeom>
          <a:solidFill>
            <a:srgbClr val="1818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3" name="pillar-row-dot-2-4">
            <a:extLst>
              <a:ext uri="{FF2B5EF4-FFF2-40B4-BE49-F238E27FC236}">
                <a16:creationId xmlns:a16="http://schemas.microsoft.com/office/drawing/2014/main" id="{9DE1B66B-6BAB-462E-872F-CD4BBF976FD8}"/>
              </a:ext>
            </a:extLst>
          </p:cNvPr>
          <p:cNvSpPr>
            <a:spLocks noGrp="1"/>
          </p:cNvSpPr>
          <p:nvPr/>
        </p:nvSpPr>
        <p:spPr>
          <a:xfrm>
            <a:off x="3667125" y="5753100"/>
            <a:ext cx="57150" cy="57150"/>
          </a:xfrm>
          <a:prstGeom prst="ellipse">
            <a:avLst/>
          </a:prstGeom>
          <a:solidFill>
            <a:srgbClr val="00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4" name="pillar-row-text-2-4">
            <a:extLst>
              <a:ext uri="{FF2B5EF4-FFF2-40B4-BE49-F238E27FC236}">
                <a16:creationId xmlns:a16="http://schemas.microsoft.com/office/drawing/2014/main" id="{EA334A87-684C-463E-A11B-2AAFE3F9F351}"/>
              </a:ext>
            </a:extLst>
          </p:cNvPr>
          <p:cNvSpPr>
            <a:spLocks noGrp="1"/>
          </p:cNvSpPr>
          <p:nvPr/>
        </p:nvSpPr>
        <p:spPr>
          <a:xfrm>
            <a:off x="3819525" y="5705475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EDEDF0"/>
                </a:solidFill>
              </a:defRPr>
            </a:pPr>
            <a:r>
              <a:rPr sz="690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Quality/cost tradeoffs</a:t>
            </a:r>
          </a:p>
        </p:txBody>
      </p:sp>
      <p:sp>
        <p:nvSpPr>
          <p:cNvPr id="55" name="pillar-card-3">
            <a:extLst>
              <a:ext uri="{FF2B5EF4-FFF2-40B4-BE49-F238E27FC236}">
                <a16:creationId xmlns:a16="http://schemas.microsoft.com/office/drawing/2014/main" id="{7026C7BD-6621-4471-AD3E-8CCCBA4462CE}"/>
              </a:ext>
            </a:extLst>
          </p:cNvPr>
          <p:cNvSpPr>
            <a:spLocks noGrp="1"/>
          </p:cNvSpPr>
          <p:nvPr/>
        </p:nvSpPr>
        <p:spPr>
          <a:xfrm>
            <a:off x="6248400" y="2628900"/>
            <a:ext cx="2667000" cy="3448050"/>
          </a:xfrm>
          <a:prstGeom prst="rect">
            <a:avLst/>
          </a:prstGeom>
          <a:solidFill>
            <a:srgbClr val="1A1A28"/>
          </a:solidFill>
          <a:ln w="9525">
            <a:solidFill>
              <a:srgbClr val="F59E0B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6" name="pillar-accent-3">
            <a:extLst>
              <a:ext uri="{FF2B5EF4-FFF2-40B4-BE49-F238E27FC236}">
                <a16:creationId xmlns:a16="http://schemas.microsoft.com/office/drawing/2014/main" id="{D7319C5F-94C7-4CE8-9964-5C129CAC6CF2}"/>
              </a:ext>
            </a:extLst>
          </p:cNvPr>
          <p:cNvSpPr>
            <a:spLocks noGrp="1"/>
          </p:cNvSpPr>
          <p:nvPr/>
        </p:nvSpPr>
        <p:spPr>
          <a:xfrm>
            <a:off x="6248400" y="2628900"/>
            <a:ext cx="2667000" cy="47625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7" name="pillar-number-bg-3">
            <a:extLst>
              <a:ext uri="{FF2B5EF4-FFF2-40B4-BE49-F238E27FC236}">
                <a16:creationId xmlns:a16="http://schemas.microsoft.com/office/drawing/2014/main" id="{4A0F61FD-452E-4104-B67F-2151147440C2}"/>
              </a:ext>
            </a:extLst>
          </p:cNvPr>
          <p:cNvSpPr>
            <a:spLocks noGrp="1"/>
          </p:cNvSpPr>
          <p:nvPr/>
        </p:nvSpPr>
        <p:spPr>
          <a:xfrm>
            <a:off x="6438900" y="2857500"/>
            <a:ext cx="323850" cy="323850"/>
          </a:xfrm>
          <a:prstGeom prst="ellipse">
            <a:avLst/>
          </a:prstGeom>
          <a:solidFill>
            <a:srgbClr val="F59E0B">
              <a:alpha val="13333"/>
            </a:srgbClr>
          </a:solidFill>
          <a:ln w="9525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8" name="pillar-number-3">
            <a:extLst>
              <a:ext uri="{FF2B5EF4-FFF2-40B4-BE49-F238E27FC236}">
                <a16:creationId xmlns:a16="http://schemas.microsoft.com/office/drawing/2014/main" id="{91F99937-6E50-46A8-8C7F-C6CF6D4E194F}"/>
              </a:ext>
            </a:extLst>
          </p:cNvPr>
          <p:cNvSpPr>
            <a:spLocks noGrp="1"/>
          </p:cNvSpPr>
          <p:nvPr/>
        </p:nvSpPr>
        <p:spPr>
          <a:xfrm>
            <a:off x="6438900" y="2905125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59E0B"/>
                </a:solidFill>
              </a:defRPr>
            </a:pPr>
            <a:r>
              <a:rPr sz="900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59" name="pillar-eyebrow-3">
            <a:extLst>
              <a:ext uri="{FF2B5EF4-FFF2-40B4-BE49-F238E27FC236}">
                <a16:creationId xmlns:a16="http://schemas.microsoft.com/office/drawing/2014/main" id="{0856BB33-C899-40B1-A9BD-EBD8912BDC1E}"/>
              </a:ext>
            </a:extLst>
          </p:cNvPr>
          <p:cNvSpPr>
            <a:spLocks noGrp="1"/>
          </p:cNvSpPr>
          <p:nvPr/>
        </p:nvSpPr>
        <p:spPr>
          <a:xfrm>
            <a:off x="6896100" y="2876550"/>
            <a:ext cx="1790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F59E0B"/>
                </a:solidFill>
              </a:defRPr>
            </a:pPr>
            <a:r>
              <a:rPr sz="675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QYM GUARD</a:t>
            </a:r>
          </a:p>
        </p:txBody>
      </p:sp>
      <p:sp>
        <p:nvSpPr>
          <p:cNvPr id="60" name="pillar-title-3">
            <a:extLst>
              <a:ext uri="{FF2B5EF4-FFF2-40B4-BE49-F238E27FC236}">
                <a16:creationId xmlns:a16="http://schemas.microsoft.com/office/drawing/2014/main" id="{0F286148-59B2-43B2-BC68-999F347F1790}"/>
              </a:ext>
            </a:extLst>
          </p:cNvPr>
          <p:cNvSpPr>
            <a:spLocks noGrp="1"/>
          </p:cNvSpPr>
          <p:nvPr/>
        </p:nvSpPr>
        <p:spPr>
          <a:xfrm>
            <a:off x="6438900" y="3371850"/>
            <a:ext cx="2286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EDEDF0"/>
                </a:solidFill>
              </a:defRPr>
            </a:pPr>
            <a:r>
              <a:rPr sz="1425" b="1">
                <a:solidFill>
                  <a:srgbClr val="EDEDF0"/>
                </a:solidFill>
                <a:latin typeface="Aptos Display"/>
                <a:ea typeface="Aptos Display"/>
                <a:cs typeface="Aptos Display"/>
              </a:rPr>
              <a:t>Protect every release</a:t>
            </a:r>
          </a:p>
        </p:txBody>
      </p:sp>
      <p:sp>
        <p:nvSpPr>
          <p:cNvPr id="61" name="pillar-proof-3">
            <a:extLst>
              <a:ext uri="{FF2B5EF4-FFF2-40B4-BE49-F238E27FC236}">
                <a16:creationId xmlns:a16="http://schemas.microsoft.com/office/drawing/2014/main" id="{906FECF8-CD2B-464E-8FAD-C6B1C72A60BD}"/>
              </a:ext>
            </a:extLst>
          </p:cNvPr>
          <p:cNvSpPr>
            <a:spLocks noGrp="1"/>
          </p:cNvSpPr>
          <p:nvPr/>
        </p:nvSpPr>
        <p:spPr>
          <a:xfrm>
            <a:off x="6438900" y="3981450"/>
            <a:ext cx="2286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A8A8BA"/>
                </a:solidFill>
              </a:defRPr>
            </a:pPr>
            <a:r>
              <a:rPr sz="885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CI gates, regression alerts, and production monitoring before quality drifts.</a:t>
            </a:r>
          </a:p>
        </p:txBody>
      </p:sp>
      <p:sp>
        <p:nvSpPr>
          <p:cNvPr id="62" name="pillar-separator-3">
            <a:extLst>
              <a:ext uri="{FF2B5EF4-FFF2-40B4-BE49-F238E27FC236}">
                <a16:creationId xmlns:a16="http://schemas.microsoft.com/office/drawing/2014/main" id="{3DA2A844-DADE-4C22-8EE9-C96ECEE5E8C2}"/>
              </a:ext>
            </a:extLst>
          </p:cNvPr>
          <p:cNvSpPr>
            <a:spLocks noGrp="1"/>
          </p:cNvSpPr>
          <p:nvPr/>
        </p:nvSpPr>
        <p:spPr>
          <a:xfrm>
            <a:off x="6438900" y="4714875"/>
            <a:ext cx="2286000" cy="9525"/>
          </a:xfrm>
          <a:prstGeom prst="rect">
            <a:avLst/>
          </a:prstGeom>
          <a:solidFill>
            <a:srgbClr val="FFFFFF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63" name="pillar-row-bg-3-1">
            <a:extLst>
              <a:ext uri="{FF2B5EF4-FFF2-40B4-BE49-F238E27FC236}">
                <a16:creationId xmlns:a16="http://schemas.microsoft.com/office/drawing/2014/main" id="{2D2B58D9-4B9E-4C29-A5BC-2220BEE79B43}"/>
              </a:ext>
            </a:extLst>
          </p:cNvPr>
          <p:cNvSpPr>
            <a:spLocks noGrp="1"/>
          </p:cNvSpPr>
          <p:nvPr/>
        </p:nvSpPr>
        <p:spPr>
          <a:xfrm>
            <a:off x="6438900" y="4886325"/>
            <a:ext cx="22860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64" name="pillar-row-dot-3-1">
            <a:extLst>
              <a:ext uri="{FF2B5EF4-FFF2-40B4-BE49-F238E27FC236}">
                <a16:creationId xmlns:a16="http://schemas.microsoft.com/office/drawing/2014/main" id="{CB3B06D7-D31B-4037-B321-4080F2FE5A5A}"/>
              </a:ext>
            </a:extLst>
          </p:cNvPr>
          <p:cNvSpPr>
            <a:spLocks noGrp="1"/>
          </p:cNvSpPr>
          <p:nvPr/>
        </p:nvSpPr>
        <p:spPr>
          <a:xfrm>
            <a:off x="6543675" y="4953000"/>
            <a:ext cx="57150" cy="57150"/>
          </a:xfrm>
          <a:prstGeom prst="ellipse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65" name="pillar-row-text-3-1">
            <a:extLst>
              <a:ext uri="{FF2B5EF4-FFF2-40B4-BE49-F238E27FC236}">
                <a16:creationId xmlns:a16="http://schemas.microsoft.com/office/drawing/2014/main" id="{0D8C863F-4573-4FAA-A912-810F0A0044C7}"/>
              </a:ext>
            </a:extLst>
          </p:cNvPr>
          <p:cNvSpPr>
            <a:spLocks noGrp="1"/>
          </p:cNvSpPr>
          <p:nvPr/>
        </p:nvSpPr>
        <p:spPr>
          <a:xfrm>
            <a:off x="6696075" y="4905375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EDEDF0"/>
                </a:solidFill>
              </a:defRPr>
            </a:pPr>
            <a:r>
              <a:rPr sz="690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Release gates</a:t>
            </a:r>
          </a:p>
        </p:txBody>
      </p:sp>
      <p:sp>
        <p:nvSpPr>
          <p:cNvPr id="66" name="pillar-row-bg-3-2">
            <a:extLst>
              <a:ext uri="{FF2B5EF4-FFF2-40B4-BE49-F238E27FC236}">
                <a16:creationId xmlns:a16="http://schemas.microsoft.com/office/drawing/2014/main" id="{DD7384B7-C533-4E46-9DA5-E1DFEB3789D8}"/>
              </a:ext>
            </a:extLst>
          </p:cNvPr>
          <p:cNvSpPr>
            <a:spLocks noGrp="1"/>
          </p:cNvSpPr>
          <p:nvPr/>
        </p:nvSpPr>
        <p:spPr>
          <a:xfrm>
            <a:off x="6438900" y="5153025"/>
            <a:ext cx="2286000" cy="190500"/>
          </a:xfrm>
          <a:prstGeom prst="rect">
            <a:avLst/>
          </a:prstGeom>
          <a:solidFill>
            <a:srgbClr val="1818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67" name="pillar-row-dot-3-2">
            <a:extLst>
              <a:ext uri="{FF2B5EF4-FFF2-40B4-BE49-F238E27FC236}">
                <a16:creationId xmlns:a16="http://schemas.microsoft.com/office/drawing/2014/main" id="{56F1CE4E-EDCD-4FA7-9D02-4F50CFCF56E7}"/>
              </a:ext>
            </a:extLst>
          </p:cNvPr>
          <p:cNvSpPr>
            <a:spLocks noGrp="1"/>
          </p:cNvSpPr>
          <p:nvPr/>
        </p:nvSpPr>
        <p:spPr>
          <a:xfrm>
            <a:off x="6543675" y="5219700"/>
            <a:ext cx="57150" cy="57150"/>
          </a:xfrm>
          <a:prstGeom prst="ellipse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68" name="pillar-row-text-3-2">
            <a:extLst>
              <a:ext uri="{FF2B5EF4-FFF2-40B4-BE49-F238E27FC236}">
                <a16:creationId xmlns:a16="http://schemas.microsoft.com/office/drawing/2014/main" id="{25A8C189-E504-4721-BD07-47F7F65E655C}"/>
              </a:ext>
            </a:extLst>
          </p:cNvPr>
          <p:cNvSpPr>
            <a:spLocks noGrp="1"/>
          </p:cNvSpPr>
          <p:nvPr/>
        </p:nvSpPr>
        <p:spPr>
          <a:xfrm>
            <a:off x="6696075" y="5172075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EDEDF0"/>
                </a:solidFill>
              </a:defRPr>
            </a:pPr>
            <a:r>
              <a:rPr sz="690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Regression alerts</a:t>
            </a:r>
          </a:p>
        </p:txBody>
      </p:sp>
      <p:sp>
        <p:nvSpPr>
          <p:cNvPr id="69" name="pillar-row-bg-3-3">
            <a:extLst>
              <a:ext uri="{FF2B5EF4-FFF2-40B4-BE49-F238E27FC236}">
                <a16:creationId xmlns:a16="http://schemas.microsoft.com/office/drawing/2014/main" id="{CC5B34C2-7194-4020-8C3D-C69B12E7871E}"/>
              </a:ext>
            </a:extLst>
          </p:cNvPr>
          <p:cNvSpPr>
            <a:spLocks noGrp="1"/>
          </p:cNvSpPr>
          <p:nvPr/>
        </p:nvSpPr>
        <p:spPr>
          <a:xfrm>
            <a:off x="6438900" y="5419725"/>
            <a:ext cx="22860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70" name="pillar-row-dot-3-3">
            <a:extLst>
              <a:ext uri="{FF2B5EF4-FFF2-40B4-BE49-F238E27FC236}">
                <a16:creationId xmlns:a16="http://schemas.microsoft.com/office/drawing/2014/main" id="{A70E04E9-B0E8-49F7-BD07-36F411F23953}"/>
              </a:ext>
            </a:extLst>
          </p:cNvPr>
          <p:cNvSpPr>
            <a:spLocks noGrp="1"/>
          </p:cNvSpPr>
          <p:nvPr/>
        </p:nvSpPr>
        <p:spPr>
          <a:xfrm>
            <a:off x="6543675" y="5486400"/>
            <a:ext cx="57150" cy="57150"/>
          </a:xfrm>
          <a:prstGeom prst="ellipse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71" name="pillar-row-text-3-3">
            <a:extLst>
              <a:ext uri="{FF2B5EF4-FFF2-40B4-BE49-F238E27FC236}">
                <a16:creationId xmlns:a16="http://schemas.microsoft.com/office/drawing/2014/main" id="{E62E9D83-BD13-4784-8836-EE8F8B0E2FC1}"/>
              </a:ext>
            </a:extLst>
          </p:cNvPr>
          <p:cNvSpPr>
            <a:spLocks noGrp="1"/>
          </p:cNvSpPr>
          <p:nvPr/>
        </p:nvSpPr>
        <p:spPr>
          <a:xfrm>
            <a:off x="6696075" y="5438775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EDEDF0"/>
                </a:solidFill>
              </a:defRPr>
            </a:pPr>
            <a:r>
              <a:rPr sz="690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Scheduled evals</a:t>
            </a:r>
          </a:p>
        </p:txBody>
      </p:sp>
      <p:sp>
        <p:nvSpPr>
          <p:cNvPr id="72" name="pillar-row-bg-3-4">
            <a:extLst>
              <a:ext uri="{FF2B5EF4-FFF2-40B4-BE49-F238E27FC236}">
                <a16:creationId xmlns:a16="http://schemas.microsoft.com/office/drawing/2014/main" id="{48B57E09-A419-453A-8E78-493C36074F55}"/>
              </a:ext>
            </a:extLst>
          </p:cNvPr>
          <p:cNvSpPr>
            <a:spLocks noGrp="1"/>
          </p:cNvSpPr>
          <p:nvPr/>
        </p:nvSpPr>
        <p:spPr>
          <a:xfrm>
            <a:off x="6438900" y="5686425"/>
            <a:ext cx="2286000" cy="190500"/>
          </a:xfrm>
          <a:prstGeom prst="rect">
            <a:avLst/>
          </a:prstGeom>
          <a:solidFill>
            <a:srgbClr val="1818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73" name="pillar-row-dot-3-4">
            <a:extLst>
              <a:ext uri="{FF2B5EF4-FFF2-40B4-BE49-F238E27FC236}">
                <a16:creationId xmlns:a16="http://schemas.microsoft.com/office/drawing/2014/main" id="{590126DE-6A41-4406-B712-00EA11ADCA86}"/>
              </a:ext>
            </a:extLst>
          </p:cNvPr>
          <p:cNvSpPr>
            <a:spLocks noGrp="1"/>
          </p:cNvSpPr>
          <p:nvPr/>
        </p:nvSpPr>
        <p:spPr>
          <a:xfrm>
            <a:off x="6543675" y="5753100"/>
            <a:ext cx="57150" cy="57150"/>
          </a:xfrm>
          <a:prstGeom prst="ellipse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74" name="pillar-row-text-3-4">
            <a:extLst>
              <a:ext uri="{FF2B5EF4-FFF2-40B4-BE49-F238E27FC236}">
                <a16:creationId xmlns:a16="http://schemas.microsoft.com/office/drawing/2014/main" id="{5954EA73-8F84-4DF2-8622-2BF9FAE4FD48}"/>
              </a:ext>
            </a:extLst>
          </p:cNvPr>
          <p:cNvSpPr>
            <a:spLocks noGrp="1"/>
          </p:cNvSpPr>
          <p:nvPr/>
        </p:nvSpPr>
        <p:spPr>
          <a:xfrm>
            <a:off x="6696075" y="5705475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EDEDF0"/>
                </a:solidFill>
              </a:defRPr>
            </a:pPr>
            <a:r>
              <a:rPr sz="690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Production feedback</a:t>
            </a:r>
          </a:p>
        </p:txBody>
      </p:sp>
      <p:sp>
        <p:nvSpPr>
          <p:cNvPr id="75" name="pillar-card-4">
            <a:extLst>
              <a:ext uri="{FF2B5EF4-FFF2-40B4-BE49-F238E27FC236}">
                <a16:creationId xmlns:a16="http://schemas.microsoft.com/office/drawing/2014/main" id="{A1788AB8-2963-4E1C-AFB0-628A769A2009}"/>
              </a:ext>
            </a:extLst>
          </p:cNvPr>
          <p:cNvSpPr>
            <a:spLocks noGrp="1"/>
          </p:cNvSpPr>
          <p:nvPr/>
        </p:nvSpPr>
        <p:spPr>
          <a:xfrm>
            <a:off x="9124950" y="2628900"/>
            <a:ext cx="2667000" cy="3448050"/>
          </a:xfrm>
          <a:prstGeom prst="rect">
            <a:avLst/>
          </a:prstGeom>
          <a:solidFill>
            <a:srgbClr val="1A1A28"/>
          </a:solidFill>
          <a:ln w="9525">
            <a:solidFill>
              <a:srgbClr val="A855F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76" name="pillar-accent-4">
            <a:extLst>
              <a:ext uri="{FF2B5EF4-FFF2-40B4-BE49-F238E27FC236}">
                <a16:creationId xmlns:a16="http://schemas.microsoft.com/office/drawing/2014/main" id="{846ACA07-72DF-4394-8EFB-19E3AE1ABF79}"/>
              </a:ext>
            </a:extLst>
          </p:cNvPr>
          <p:cNvSpPr>
            <a:spLocks noGrp="1"/>
          </p:cNvSpPr>
          <p:nvPr/>
        </p:nvSpPr>
        <p:spPr>
          <a:xfrm>
            <a:off x="9124950" y="2628900"/>
            <a:ext cx="2667000" cy="47625"/>
          </a:xfrm>
          <a:prstGeom prst="rect">
            <a:avLst/>
          </a:prstGeom>
          <a:solidFill>
            <a:srgbClr val="A855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77" name="pillar-number-bg-4">
            <a:extLst>
              <a:ext uri="{FF2B5EF4-FFF2-40B4-BE49-F238E27FC236}">
                <a16:creationId xmlns:a16="http://schemas.microsoft.com/office/drawing/2014/main" id="{3DF46C54-2512-4DB0-80CB-FFD091EAF557}"/>
              </a:ext>
            </a:extLst>
          </p:cNvPr>
          <p:cNvSpPr>
            <a:spLocks noGrp="1"/>
          </p:cNvSpPr>
          <p:nvPr/>
        </p:nvSpPr>
        <p:spPr>
          <a:xfrm>
            <a:off x="9315450" y="2857500"/>
            <a:ext cx="323850" cy="323850"/>
          </a:xfrm>
          <a:prstGeom prst="ellipse">
            <a:avLst/>
          </a:prstGeom>
          <a:solidFill>
            <a:srgbClr val="A855F7">
              <a:alpha val="13333"/>
            </a:srgbClr>
          </a:solidFill>
          <a:ln w="9525">
            <a:solidFill>
              <a:srgbClr val="A855F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78" name="pillar-number-4">
            <a:extLst>
              <a:ext uri="{FF2B5EF4-FFF2-40B4-BE49-F238E27FC236}">
                <a16:creationId xmlns:a16="http://schemas.microsoft.com/office/drawing/2014/main" id="{97F2CFD8-EA98-4CE9-90F6-521DCFE8C584}"/>
              </a:ext>
            </a:extLst>
          </p:cNvPr>
          <p:cNvSpPr>
            <a:spLocks noGrp="1"/>
          </p:cNvSpPr>
          <p:nvPr/>
        </p:nvSpPr>
        <p:spPr>
          <a:xfrm>
            <a:off x="9315450" y="2905125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A855F7"/>
                </a:solidFill>
              </a:defRPr>
            </a:pPr>
            <a:r>
              <a:rPr sz="900" b="1">
                <a:solidFill>
                  <a:srgbClr val="A855F7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79" name="pillar-eyebrow-4">
            <a:extLst>
              <a:ext uri="{FF2B5EF4-FFF2-40B4-BE49-F238E27FC236}">
                <a16:creationId xmlns:a16="http://schemas.microsoft.com/office/drawing/2014/main" id="{45EF9D8E-07DC-47F4-B5A3-6282A7BC83AE}"/>
              </a:ext>
            </a:extLst>
          </p:cNvPr>
          <p:cNvSpPr>
            <a:spLocks noGrp="1"/>
          </p:cNvSpPr>
          <p:nvPr/>
        </p:nvSpPr>
        <p:spPr>
          <a:xfrm>
            <a:off x="9772650" y="2876550"/>
            <a:ext cx="1790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A855F7"/>
                </a:solidFill>
              </a:defRPr>
            </a:pPr>
            <a:r>
              <a:rPr sz="675" b="1">
                <a:solidFill>
                  <a:srgbClr val="A855F7"/>
                </a:solidFill>
                <a:latin typeface="Aptos Mono"/>
                <a:ea typeface="Aptos Mono"/>
                <a:cs typeface="Aptos Mono"/>
              </a:rPr>
              <a:t>QYM INTELLIGENCE</a:t>
            </a:r>
          </a:p>
        </p:txBody>
      </p:sp>
      <p:sp>
        <p:nvSpPr>
          <p:cNvPr id="80" name="pillar-title-4">
            <a:extLst>
              <a:ext uri="{FF2B5EF4-FFF2-40B4-BE49-F238E27FC236}">
                <a16:creationId xmlns:a16="http://schemas.microsoft.com/office/drawing/2014/main" id="{77025835-04E2-4FF8-8125-9786BC69A4C1}"/>
              </a:ext>
            </a:extLst>
          </p:cNvPr>
          <p:cNvSpPr>
            <a:spLocks noGrp="1"/>
          </p:cNvSpPr>
          <p:nvPr/>
        </p:nvSpPr>
        <p:spPr>
          <a:xfrm>
            <a:off x="9315450" y="3371850"/>
            <a:ext cx="2286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EDEDF0"/>
                </a:solidFill>
              </a:defRPr>
            </a:pPr>
            <a:r>
              <a:rPr sz="1425" b="1">
                <a:solidFill>
                  <a:srgbClr val="EDEDF0"/>
                </a:solidFill>
                <a:latin typeface="Aptos Display"/>
                <a:ea typeface="Aptos Display"/>
                <a:cs typeface="Aptos Display"/>
              </a:rPr>
              <a:t>Know what to fix next</a:t>
            </a:r>
          </a:p>
        </p:txBody>
      </p:sp>
      <p:sp>
        <p:nvSpPr>
          <p:cNvPr id="81" name="pillar-proof-4">
            <a:extLst>
              <a:ext uri="{FF2B5EF4-FFF2-40B4-BE49-F238E27FC236}">
                <a16:creationId xmlns:a16="http://schemas.microsoft.com/office/drawing/2014/main" id="{B791E4A9-BED1-4CF4-94E4-B5E437A27CBA}"/>
              </a:ext>
            </a:extLst>
          </p:cNvPr>
          <p:cNvSpPr>
            <a:spLocks noGrp="1"/>
          </p:cNvSpPr>
          <p:nvPr/>
        </p:nvSpPr>
        <p:spPr>
          <a:xfrm>
            <a:off x="9315450" y="3981450"/>
            <a:ext cx="2286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A8A8BA"/>
                </a:solidFill>
              </a:defRPr>
            </a:pPr>
            <a:r>
              <a:rPr sz="885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Failure clustering, eval copilot, and quality insights for product teams.</a:t>
            </a:r>
          </a:p>
        </p:txBody>
      </p:sp>
      <p:sp>
        <p:nvSpPr>
          <p:cNvPr id="82" name="pillar-separator-4">
            <a:extLst>
              <a:ext uri="{FF2B5EF4-FFF2-40B4-BE49-F238E27FC236}">
                <a16:creationId xmlns:a16="http://schemas.microsoft.com/office/drawing/2014/main" id="{8FAA3912-2B0F-434F-B509-A220759D098E}"/>
              </a:ext>
            </a:extLst>
          </p:cNvPr>
          <p:cNvSpPr>
            <a:spLocks noGrp="1"/>
          </p:cNvSpPr>
          <p:nvPr/>
        </p:nvSpPr>
        <p:spPr>
          <a:xfrm>
            <a:off x="9315450" y="4714875"/>
            <a:ext cx="2286000" cy="9525"/>
          </a:xfrm>
          <a:prstGeom prst="rect">
            <a:avLst/>
          </a:prstGeom>
          <a:solidFill>
            <a:srgbClr val="FFFFFF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83" name="pillar-row-bg-4-1">
            <a:extLst>
              <a:ext uri="{FF2B5EF4-FFF2-40B4-BE49-F238E27FC236}">
                <a16:creationId xmlns:a16="http://schemas.microsoft.com/office/drawing/2014/main" id="{DA493F67-930B-43E3-A904-93616CCE162E}"/>
              </a:ext>
            </a:extLst>
          </p:cNvPr>
          <p:cNvSpPr>
            <a:spLocks noGrp="1"/>
          </p:cNvSpPr>
          <p:nvPr/>
        </p:nvSpPr>
        <p:spPr>
          <a:xfrm>
            <a:off x="9315450" y="4886325"/>
            <a:ext cx="22860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84" name="pillar-row-dot-4-1">
            <a:extLst>
              <a:ext uri="{FF2B5EF4-FFF2-40B4-BE49-F238E27FC236}">
                <a16:creationId xmlns:a16="http://schemas.microsoft.com/office/drawing/2014/main" id="{C39A879E-A676-4200-BEAE-39CD74794300}"/>
              </a:ext>
            </a:extLst>
          </p:cNvPr>
          <p:cNvSpPr>
            <a:spLocks noGrp="1"/>
          </p:cNvSpPr>
          <p:nvPr/>
        </p:nvSpPr>
        <p:spPr>
          <a:xfrm>
            <a:off x="9420225" y="4953000"/>
            <a:ext cx="57150" cy="57150"/>
          </a:xfrm>
          <a:prstGeom prst="ellipse">
            <a:avLst/>
          </a:prstGeom>
          <a:solidFill>
            <a:srgbClr val="A855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85" name="pillar-row-text-4-1">
            <a:extLst>
              <a:ext uri="{FF2B5EF4-FFF2-40B4-BE49-F238E27FC236}">
                <a16:creationId xmlns:a16="http://schemas.microsoft.com/office/drawing/2014/main" id="{A7696E35-E0FD-4FFC-8735-0C736B91EC0A}"/>
              </a:ext>
            </a:extLst>
          </p:cNvPr>
          <p:cNvSpPr>
            <a:spLocks noGrp="1"/>
          </p:cNvSpPr>
          <p:nvPr/>
        </p:nvSpPr>
        <p:spPr>
          <a:xfrm>
            <a:off x="9572625" y="4905375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EDEDF0"/>
                </a:solidFill>
              </a:defRPr>
            </a:pPr>
            <a:r>
              <a:rPr sz="690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Failure clustering</a:t>
            </a:r>
          </a:p>
        </p:txBody>
      </p:sp>
      <p:sp>
        <p:nvSpPr>
          <p:cNvPr id="86" name="pillar-row-bg-4-2">
            <a:extLst>
              <a:ext uri="{FF2B5EF4-FFF2-40B4-BE49-F238E27FC236}">
                <a16:creationId xmlns:a16="http://schemas.microsoft.com/office/drawing/2014/main" id="{FCACD326-5D85-495B-A5C7-DAF4B29A993D}"/>
              </a:ext>
            </a:extLst>
          </p:cNvPr>
          <p:cNvSpPr>
            <a:spLocks noGrp="1"/>
          </p:cNvSpPr>
          <p:nvPr/>
        </p:nvSpPr>
        <p:spPr>
          <a:xfrm>
            <a:off x="9315450" y="5153025"/>
            <a:ext cx="2286000" cy="190500"/>
          </a:xfrm>
          <a:prstGeom prst="rect">
            <a:avLst/>
          </a:prstGeom>
          <a:solidFill>
            <a:srgbClr val="1818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87" name="pillar-row-dot-4-2">
            <a:extLst>
              <a:ext uri="{FF2B5EF4-FFF2-40B4-BE49-F238E27FC236}">
                <a16:creationId xmlns:a16="http://schemas.microsoft.com/office/drawing/2014/main" id="{2C7D1B95-D349-43A6-81E3-A6BE737A0138}"/>
              </a:ext>
            </a:extLst>
          </p:cNvPr>
          <p:cNvSpPr>
            <a:spLocks noGrp="1"/>
          </p:cNvSpPr>
          <p:nvPr/>
        </p:nvSpPr>
        <p:spPr>
          <a:xfrm>
            <a:off x="9420225" y="5219700"/>
            <a:ext cx="57150" cy="57150"/>
          </a:xfrm>
          <a:prstGeom prst="ellipse">
            <a:avLst/>
          </a:prstGeom>
          <a:solidFill>
            <a:srgbClr val="A855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88" name="pillar-row-text-4-2">
            <a:extLst>
              <a:ext uri="{FF2B5EF4-FFF2-40B4-BE49-F238E27FC236}">
                <a16:creationId xmlns:a16="http://schemas.microsoft.com/office/drawing/2014/main" id="{E6F9BC18-8206-4374-8FDF-5D859C44B27B}"/>
              </a:ext>
            </a:extLst>
          </p:cNvPr>
          <p:cNvSpPr>
            <a:spLocks noGrp="1"/>
          </p:cNvSpPr>
          <p:nvPr/>
        </p:nvSpPr>
        <p:spPr>
          <a:xfrm>
            <a:off x="9572625" y="5172075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EDEDF0"/>
                </a:solidFill>
              </a:defRPr>
            </a:pPr>
            <a:r>
              <a:rPr sz="690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Eval copilot</a:t>
            </a:r>
          </a:p>
        </p:txBody>
      </p:sp>
      <p:sp>
        <p:nvSpPr>
          <p:cNvPr id="89" name="pillar-row-bg-4-3">
            <a:extLst>
              <a:ext uri="{FF2B5EF4-FFF2-40B4-BE49-F238E27FC236}">
                <a16:creationId xmlns:a16="http://schemas.microsoft.com/office/drawing/2014/main" id="{FDCBD395-0D85-4976-B2B2-E662899816DD}"/>
              </a:ext>
            </a:extLst>
          </p:cNvPr>
          <p:cNvSpPr>
            <a:spLocks noGrp="1"/>
          </p:cNvSpPr>
          <p:nvPr/>
        </p:nvSpPr>
        <p:spPr>
          <a:xfrm>
            <a:off x="9315450" y="5419725"/>
            <a:ext cx="22860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90" name="pillar-row-dot-4-3">
            <a:extLst>
              <a:ext uri="{FF2B5EF4-FFF2-40B4-BE49-F238E27FC236}">
                <a16:creationId xmlns:a16="http://schemas.microsoft.com/office/drawing/2014/main" id="{DBDA1EE8-8BB8-4D4E-B005-06BDFE4E599F}"/>
              </a:ext>
            </a:extLst>
          </p:cNvPr>
          <p:cNvSpPr>
            <a:spLocks noGrp="1"/>
          </p:cNvSpPr>
          <p:nvPr/>
        </p:nvSpPr>
        <p:spPr>
          <a:xfrm>
            <a:off x="9420225" y="5486400"/>
            <a:ext cx="57150" cy="57150"/>
          </a:xfrm>
          <a:prstGeom prst="ellipse">
            <a:avLst/>
          </a:prstGeom>
          <a:solidFill>
            <a:srgbClr val="A855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91" name="pillar-row-text-4-3">
            <a:extLst>
              <a:ext uri="{FF2B5EF4-FFF2-40B4-BE49-F238E27FC236}">
                <a16:creationId xmlns:a16="http://schemas.microsoft.com/office/drawing/2014/main" id="{A42F5C1D-37C0-4DC7-BE05-48FB8F107A8B}"/>
              </a:ext>
            </a:extLst>
          </p:cNvPr>
          <p:cNvSpPr>
            <a:spLocks noGrp="1"/>
          </p:cNvSpPr>
          <p:nvPr/>
        </p:nvSpPr>
        <p:spPr>
          <a:xfrm>
            <a:off x="9572625" y="5438775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EDEDF0"/>
                </a:solidFill>
              </a:defRPr>
            </a:pPr>
            <a:r>
              <a:rPr sz="690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Root-cause trends</a:t>
            </a:r>
          </a:p>
        </p:txBody>
      </p:sp>
      <p:sp>
        <p:nvSpPr>
          <p:cNvPr id="92" name="pillar-row-bg-4-4">
            <a:extLst>
              <a:ext uri="{FF2B5EF4-FFF2-40B4-BE49-F238E27FC236}">
                <a16:creationId xmlns:a16="http://schemas.microsoft.com/office/drawing/2014/main" id="{5438CA44-7C4B-4106-901D-71C39F3FC7CA}"/>
              </a:ext>
            </a:extLst>
          </p:cNvPr>
          <p:cNvSpPr>
            <a:spLocks noGrp="1"/>
          </p:cNvSpPr>
          <p:nvPr/>
        </p:nvSpPr>
        <p:spPr>
          <a:xfrm>
            <a:off x="9315450" y="5686425"/>
            <a:ext cx="2286000" cy="190500"/>
          </a:xfrm>
          <a:prstGeom prst="rect">
            <a:avLst/>
          </a:prstGeom>
          <a:solidFill>
            <a:srgbClr val="1818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93" name="pillar-row-dot-4-4">
            <a:extLst>
              <a:ext uri="{FF2B5EF4-FFF2-40B4-BE49-F238E27FC236}">
                <a16:creationId xmlns:a16="http://schemas.microsoft.com/office/drawing/2014/main" id="{87A28463-CB91-4043-B853-F2C9A3F983EC}"/>
              </a:ext>
            </a:extLst>
          </p:cNvPr>
          <p:cNvSpPr>
            <a:spLocks noGrp="1"/>
          </p:cNvSpPr>
          <p:nvPr/>
        </p:nvSpPr>
        <p:spPr>
          <a:xfrm>
            <a:off x="9420225" y="5753100"/>
            <a:ext cx="57150" cy="57150"/>
          </a:xfrm>
          <a:prstGeom prst="ellipse">
            <a:avLst/>
          </a:prstGeom>
          <a:solidFill>
            <a:srgbClr val="A855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94" name="pillar-row-text-4-4">
            <a:extLst>
              <a:ext uri="{FF2B5EF4-FFF2-40B4-BE49-F238E27FC236}">
                <a16:creationId xmlns:a16="http://schemas.microsoft.com/office/drawing/2014/main" id="{6CBCF606-6A6E-4AB5-B8B1-79B5546A8EDE}"/>
              </a:ext>
            </a:extLst>
          </p:cNvPr>
          <p:cNvSpPr>
            <a:spLocks noGrp="1"/>
          </p:cNvSpPr>
          <p:nvPr/>
        </p:nvSpPr>
        <p:spPr>
          <a:xfrm>
            <a:off x="9572625" y="5705475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EDEDF0"/>
                </a:solidFill>
              </a:defRPr>
            </a:pPr>
            <a:r>
              <a:rPr sz="690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Executive insights</a:t>
            </a:r>
          </a:p>
        </p:txBody>
      </p:sp>
      <p:sp>
        <p:nvSpPr>
          <p:cNvPr id="95" name="page-marker">
            <a:extLst>
              <a:ext uri="{FF2B5EF4-FFF2-40B4-BE49-F238E27FC236}">
                <a16:creationId xmlns:a16="http://schemas.microsoft.com/office/drawing/2014/main" id="{E8120D00-79FA-4A8D-9AE0-43B0B57B13F2}"/>
              </a:ext>
            </a:extLst>
          </p:cNvPr>
          <p:cNvSpPr>
            <a:spLocks noGrp="1"/>
          </p:cNvSpPr>
          <p:nvPr/>
        </p:nvSpPr>
        <p:spPr>
          <a:xfrm>
            <a:off x="11296650" y="6286500"/>
            <a:ext cx="323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717186"/>
                </a:solidFill>
              </a:defRPr>
            </a:pPr>
            <a:r>
              <a:rPr sz="600" b="0">
                <a:solidFill>
                  <a:srgbClr val="717186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6522401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</Words>
  <Application>Microsoft Macintosh PowerPoint</Application>
  <DocSecurity>0</DocSecurity>
  <PresentationFormat>Widescreen</PresentationFormat>
  <Paragraphs>72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Aptos Mono</vt:lpstr>
      <vt:lpstr>Calibri</vt:lpstr>
      <vt:lpstr>ChatGPT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Faisal Bin Hussein</cp:lastModifiedBy>
  <cp:revision>1</cp:revision>
  <dcterms:created xsi:type="dcterms:W3CDTF">2026-06-04T10:27:25Z</dcterms:created>
  <dcterms:modified xsi:type="dcterms:W3CDTF">2026-06-04T11:17:36Z</dcterms:modified>
</cp:coreProperties>
</file>