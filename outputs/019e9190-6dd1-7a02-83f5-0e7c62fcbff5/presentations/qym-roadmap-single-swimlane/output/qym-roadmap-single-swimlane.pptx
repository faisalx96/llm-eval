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1a95e3907247b5" /><Relationship Type="http://schemas.openxmlformats.org/officeDocument/2006/relationships/extended-properties" Target="/docProps/app.xml" Id="Rc05d868f73354dd2" /><Relationship Type="http://schemas.openxmlformats.org/officeDocument/2006/relationships/officeDocument" Target="/ppt/presentation.xml" Id="Rc0f03b07abd44e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58436e0514453e"/>
  </p:sldMasterIdLst>
  <p:notesMasterIdLst>
    <p:notesMasterId xmlns:r="http://schemas.openxmlformats.org/officeDocument/2006/relationships" r:id="R66cbaccf0c894d62"/>
  </p:notesMasterIdLst>
  <p:sldIdLst>
    <p:sldId xmlns:r="http://schemas.openxmlformats.org/officeDocument/2006/relationships" id="256" r:id="R7b433a90be59415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58436e0514453e" /><Relationship Type="http://schemas.openxmlformats.org/officeDocument/2006/relationships/theme" Target="/ppt/theme/theme1.xml" Id="R54a7e4b72c9643be" /><Relationship Type="http://schemas.openxmlformats.org/officeDocument/2006/relationships/notesMaster" Target="/ppt/notesMasters/notesMaster1.xml" Id="R66cbaccf0c894d62" /><Relationship Type="http://schemas.openxmlformats.org/officeDocument/2006/relationships/presProps" Target="/ppt/presProps.xml" Id="Rd5b88ad86d6a4e14" /><Relationship Type="http://schemas.openxmlformats.org/officeDocument/2006/relationships/viewProps" Target="/ppt/viewProps.xml" Id="R22ca3bcd8f3a4a1f" /><Relationship Type="http://schemas.openxmlformats.org/officeDocument/2006/relationships/tableStyles" Target="/ppt/tableStyles.xml" Id="R619aa6505a584617" /><Relationship Type="http://schemas.openxmlformats.org/officeDocument/2006/relationships/slide" Target="/ppt/slides/slide1.xml" Id="R7b433a90be5941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edcb84aea3049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92c9c6052b43cd" /><Relationship Type="http://schemas.openxmlformats.org/officeDocument/2006/relationships/notesMaster" Target="/ppt/notesMasters/notesMaster1.xml" Id="Red93b37a7ff743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fd64dd43bd429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b323f08e1b94473" /><Relationship Type="http://schemas.openxmlformats.org/officeDocument/2006/relationships/slideLayout" Target="/ppt/slideLayouts/slideLayout2.xml" Id="R6a9eacb13d5d47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9eacb13d5d47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536d1872bb4bee" /><Relationship Type="http://schemas.openxmlformats.org/officeDocument/2006/relationships/image" Target="/ppt/media/image.png" Id="R2610e3d6397c4230" /><Relationship Type="http://schemas.openxmlformats.org/officeDocument/2006/relationships/image" Target="/ppt/media/image2.png" Id="R8aec8c7aa2ee4095" /><Relationship Type="http://schemas.openxmlformats.org/officeDocument/2006/relationships/notesSlide" Target="/ppt/notesSlides/notesSlide1.xml" Id="R4052d3d9e910403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39F9BAD-54F5-4708-B2D7-9FE77570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main-stage">
            <a:extLst xmlns:a="http://schemas.openxmlformats.org/drawingml/2006/main">
              <a:ext uri="{FF2B5EF4-FFF2-40B4-BE49-F238E27FC236}">
                <a16:creationId xmlns:a16="http://schemas.microsoft.com/office/drawing/2014/main" id="{F3E7FE81-9297-4FC8-B1F2-729DBDE2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87100" cy="579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9525">
            <a:solidFill>
              <a:srgbClr val="252536"/>
            </a:solidFill>
            <a:prstDash val="solid"/>
          </a:ln>
        </p:spPr>
      </p:sp>
      <p:sp>
        <p:nvSpPr>
          <p:cNvPr id="3" name="stage-top-rule">
            <a:extLst xmlns:a="http://schemas.openxmlformats.org/drawingml/2006/main">
              <a:ext uri="{FF2B5EF4-FFF2-40B4-BE49-F238E27FC236}">
                <a16:creationId xmlns:a16="http://schemas.microsoft.com/office/drawing/2014/main" id="{50AD0E62-F9A9-44DC-A0DE-3FAC8462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tage-bottom-rule">
            <a:extLst xmlns:a="http://schemas.openxmlformats.org/drawingml/2006/main">
              <a:ext uri="{FF2B5EF4-FFF2-40B4-BE49-F238E27FC236}">
                <a16:creationId xmlns:a16="http://schemas.microsoft.com/office/drawing/2014/main" id="{B6E1F256-0120-4D8B-B06E-E8388209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960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10e3d6397c4230"/>
          <a:stretch xmlns:a="http://schemas.openxmlformats.org/drawingml/2006/main"/>
        </p:blipFill>
        <p:spPr>
          <a:xfrm xmlns:a="http://schemas.openxmlformats.org/drawingml/2006/main">
            <a:off x="800100" y="743092"/>
            <a:ext cx="361950" cy="361666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c8c7aa2ee4095"/>
          <a:stretch xmlns:a="http://schemas.openxmlformats.org/drawingml/2006/main"/>
        </p:blipFill>
        <p:spPr>
          <a:xfrm xmlns:a="http://schemas.openxmlformats.org/drawingml/2006/main">
            <a:off x="1265347" y="714375"/>
            <a:ext cx="688757" cy="438150"/>
          </a:xfrm>
          <a:prstGeom xmlns:a="http://schemas.openxmlformats.org/drawingml/2006/main" prst="rect">
            <a:avLst/>
          </a:prstGeom>
        </p:spPr>
      </p:pic>
      <p:sp>
        <p:nvSpPr>
          <p:cNvPr id="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3608140-B810-442C-97E4-44F703BC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791B084-14CF-4070-8524-A13938E0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382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PRODUCT ROADMAP</a:t>
            </a:r>
          </a:p>
        </p:txBody>
      </p:sp>
      <p:sp>
        <p:nvSpPr>
          <p:cNvPr id="9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71C456F-EE14-4CA0-B8A8-7DD68713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752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rPr>
              <a:t>May-Dec roadmap in one swimlane.</a:t>
            </a:r>
          </a:p>
        </p:txBody>
      </p:sp>
      <p:sp>
        <p:nvSpPr>
          <p:cNvPr id="10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00C2D870-4891-4BDA-B180-15E769F9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752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A single monthly path keeps the sequence clear without making the slide look like a page inside the product.</a:t>
            </a:r>
          </a:p>
        </p:txBody>
      </p:sp>
      <p:sp>
        <p:nvSpPr>
          <p:cNvPr id="11" name="milestone-count-panel">
            <a:extLst xmlns:a="http://schemas.openxmlformats.org/drawingml/2006/main">
              <a:ext uri="{FF2B5EF4-FFF2-40B4-BE49-F238E27FC236}">
                <a16:creationId xmlns:a16="http://schemas.microsoft.com/office/drawing/2014/main" id="{169D3FB8-2A2C-4771-A71D-FD13C536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123950"/>
            <a:ext cx="1504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333348"/>
            </a:solidFill>
            <a:prstDash val="solid"/>
          </a:ln>
        </p:spPr>
      </p:sp>
      <p:sp>
        <p:nvSpPr>
          <p:cNvPr id="12" name="milestone-count">
            <a:extLst xmlns:a="http://schemas.openxmlformats.org/drawingml/2006/main">
              <a:ext uri="{FF2B5EF4-FFF2-40B4-BE49-F238E27FC236}">
                <a16:creationId xmlns:a16="http://schemas.microsoft.com/office/drawing/2014/main" id="{27756E04-BE31-4A71-B81C-89CD7BD8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57300"/>
            <a:ext cx="419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285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8</a:t>
            </a:r>
          </a:p>
        </p:txBody>
      </p:sp>
      <p:sp>
        <p:nvSpPr>
          <p:cNvPr id="13" name="count-label">
            <a:extLst xmlns:a="http://schemas.openxmlformats.org/drawingml/2006/main">
              <a:ext uri="{FF2B5EF4-FFF2-40B4-BE49-F238E27FC236}">
                <a16:creationId xmlns:a16="http://schemas.microsoft.com/office/drawing/2014/main" id="{0F76A3C1-F0F1-4C35-A727-C7CB690A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33350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months</a:t>
            </a:r>
          </a:p>
        </p:txBody>
      </p:sp>
      <p:sp>
        <p:nvSpPr>
          <p:cNvPr id="14" name="count-context">
            <a:extLst xmlns:a="http://schemas.openxmlformats.org/drawingml/2006/main">
              <a:ext uri="{FF2B5EF4-FFF2-40B4-BE49-F238E27FC236}">
                <a16:creationId xmlns:a16="http://schemas.microsoft.com/office/drawing/2014/main" id="{EA4F72D1-4FD3-4143-BB36-BF6D38CC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526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A7A90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7A7A90"/>
                </a:solidFill>
                <a:latin typeface="Aptos Mono"/>
                <a:ea typeface="Aptos Mono"/>
                <a:cs typeface="Aptos Mono"/>
              </a:rPr>
              <a:t>May through December</a:t>
            </a:r>
          </a:p>
        </p:txBody>
      </p:sp>
      <p:sp>
        <p:nvSpPr>
          <p:cNvPr id="15" name="swimlane-base">
            <a:extLst xmlns:a="http://schemas.openxmlformats.org/drawingml/2006/main">
              <a:ext uri="{FF2B5EF4-FFF2-40B4-BE49-F238E27FC236}">
                <a16:creationId xmlns:a16="http://schemas.microsoft.com/office/drawing/2014/main" id="{85F9507C-65DB-4B80-9612-4AA70462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952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wimlane-accent">
            <a:extLst xmlns:a="http://schemas.openxmlformats.org/drawingml/2006/main">
              <a:ext uri="{FF2B5EF4-FFF2-40B4-BE49-F238E27FC236}">
                <a16:creationId xmlns:a16="http://schemas.microsoft.com/office/drawing/2014/main" id="{1BBC4564-3C42-4F7B-BD47-AE17A231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952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connector-MAY">
            <a:extLst xmlns:a="http://schemas.openxmlformats.org/drawingml/2006/main">
              <a:ext uri="{FF2B5EF4-FFF2-40B4-BE49-F238E27FC236}">
                <a16:creationId xmlns:a16="http://schemas.microsoft.com/office/drawing/2014/main" id="{B6F64581-0C6D-40C6-9F99-5A63A86E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142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dot-MAY">
            <a:extLst xmlns:a="http://schemas.openxmlformats.org/drawingml/2006/main">
              <a:ext uri="{FF2B5EF4-FFF2-40B4-BE49-F238E27FC236}">
                <a16:creationId xmlns:a16="http://schemas.microsoft.com/office/drawing/2014/main" id="{DAA3FB50-2AD8-4A62-A4CE-0FAF92D5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838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19050">
            <a:solidFill>
              <a:srgbClr val="101018"/>
            </a:solidFill>
            <a:prstDash val="solid"/>
          </a:ln>
        </p:spPr>
      </p:sp>
      <p:sp>
        <p:nvSpPr>
          <p:cNvPr id="19" name="month-MAY">
            <a:extLst xmlns:a="http://schemas.openxmlformats.org/drawingml/2006/main">
              <a:ext uri="{FF2B5EF4-FFF2-40B4-BE49-F238E27FC236}">
                <a16:creationId xmlns:a16="http://schemas.microsoft.com/office/drawing/2014/main" id="{8685843E-36D1-4D67-8587-34AFE6C9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MAY</a:t>
            </a:r>
          </a:p>
        </p:txBody>
      </p:sp>
      <p:sp>
        <p:nvSpPr>
          <p:cNvPr id="20" name="milestone-card-MAY">
            <a:extLst xmlns:a="http://schemas.openxmlformats.org/drawingml/2006/main">
              <a:ext uri="{FF2B5EF4-FFF2-40B4-BE49-F238E27FC236}">
                <a16:creationId xmlns:a16="http://schemas.microsoft.com/office/drawing/2014/main" id="{024A28EC-09F4-4E29-96A0-3953E8F4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1181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00D4AA">
                <a:alpha val="53333"/>
              </a:srgbClr>
            </a:solidFill>
            <a:prstDash val="solid"/>
          </a:ln>
        </p:spPr>
      </p:sp>
      <p:sp>
        <p:nvSpPr>
          <p:cNvPr id="21" name="milestone-accent-MAY">
            <a:extLst xmlns:a="http://schemas.openxmlformats.org/drawingml/2006/main">
              <a:ext uri="{FF2B5EF4-FFF2-40B4-BE49-F238E27FC236}">
                <a16:creationId xmlns:a16="http://schemas.microsoft.com/office/drawing/2014/main" id="{A65EBE51-CFDE-4EFD-9B07-74C35F7D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itle-MAY">
            <a:extLst xmlns:a="http://schemas.openxmlformats.org/drawingml/2006/main">
              <a:ext uri="{FF2B5EF4-FFF2-40B4-BE49-F238E27FC236}">
                <a16:creationId xmlns:a16="http://schemas.microsoft.com/office/drawing/2014/main" id="{21B012B5-3DA1-4C9F-9F69-FF26A23F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000375"/>
            <a:ext cx="952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Metric registry</a:t>
            </a:r>
          </a:p>
        </p:txBody>
      </p:sp>
      <p:sp>
        <p:nvSpPr>
          <p:cNvPr id="23" name="detail-MAY">
            <a:extLst xmlns:a="http://schemas.openxmlformats.org/drawingml/2006/main">
              <a:ext uri="{FF2B5EF4-FFF2-40B4-BE49-F238E27FC236}">
                <a16:creationId xmlns:a16="http://schemas.microsoft.com/office/drawing/2014/main" id="{5A67D9E6-7702-458C-A922-A62345A7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766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Datasets, metrics, run schema.</a:t>
            </a:r>
          </a:p>
        </p:txBody>
      </p:sp>
      <p:sp>
        <p:nvSpPr>
          <p:cNvPr id="24" name="connector-JUN">
            <a:extLst xmlns:a="http://schemas.openxmlformats.org/drawingml/2006/main">
              <a:ext uri="{FF2B5EF4-FFF2-40B4-BE49-F238E27FC236}">
                <a16:creationId xmlns:a16="http://schemas.microsoft.com/office/drawing/2014/main" id="{8365F417-91F6-48C6-9B25-7EC12AD1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514" y="3924300"/>
            <a:ext cx="14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dot-JUN">
            <a:extLst xmlns:a="http://schemas.openxmlformats.org/drawingml/2006/main">
              <a:ext uri="{FF2B5EF4-FFF2-40B4-BE49-F238E27FC236}">
                <a16:creationId xmlns:a16="http://schemas.microsoft.com/office/drawing/2014/main" id="{0C82FF73-8356-44FE-92B4-E9095694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789" y="3838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19050">
            <a:solidFill>
              <a:srgbClr val="101018"/>
            </a:solidFill>
            <a:prstDash val="solid"/>
          </a:ln>
        </p:spPr>
      </p:sp>
      <p:sp>
        <p:nvSpPr>
          <p:cNvPr id="26" name="month-JUN">
            <a:extLst xmlns:a="http://schemas.openxmlformats.org/drawingml/2006/main">
              <a:ext uri="{FF2B5EF4-FFF2-40B4-BE49-F238E27FC236}">
                <a16:creationId xmlns:a16="http://schemas.microsoft.com/office/drawing/2014/main" id="{1257B8BD-08ED-460D-9784-4370AE93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864" y="35242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JUN</a:t>
            </a:r>
          </a:p>
        </p:txBody>
      </p:sp>
      <p:sp>
        <p:nvSpPr>
          <p:cNvPr id="27" name="milestone-card-JUN">
            <a:extLst xmlns:a="http://schemas.openxmlformats.org/drawingml/2006/main">
              <a:ext uri="{FF2B5EF4-FFF2-40B4-BE49-F238E27FC236}">
                <a16:creationId xmlns:a16="http://schemas.microsoft.com/office/drawing/2014/main" id="{200AB983-D7E3-4662-A966-BE0C26C6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964" y="4305300"/>
            <a:ext cx="1181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A8FF">
                <a:alpha val="53333"/>
              </a:srgbClr>
            </a:solidFill>
            <a:prstDash val="solid"/>
          </a:ln>
        </p:spPr>
      </p:sp>
      <p:sp>
        <p:nvSpPr>
          <p:cNvPr id="28" name="milestone-accent-JUN">
            <a:extLst xmlns:a="http://schemas.openxmlformats.org/drawingml/2006/main">
              <a:ext uri="{FF2B5EF4-FFF2-40B4-BE49-F238E27FC236}">
                <a16:creationId xmlns:a16="http://schemas.microsoft.com/office/drawing/2014/main" id="{D025FDB4-401E-4675-9735-19FADD0F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964" y="430530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title-JUN">
            <a:extLst xmlns:a="http://schemas.openxmlformats.org/drawingml/2006/main">
              <a:ext uri="{FF2B5EF4-FFF2-40B4-BE49-F238E27FC236}">
                <a16:creationId xmlns:a16="http://schemas.microsoft.com/office/drawing/2014/main" id="{4AFDD403-CAE9-45DF-AC0B-41328A22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789" y="4410075"/>
            <a:ext cx="952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Run compare</a:t>
            </a:r>
          </a:p>
        </p:txBody>
      </p:sp>
      <p:sp>
        <p:nvSpPr>
          <p:cNvPr id="30" name="detail-JUN">
            <a:extLst xmlns:a="http://schemas.openxmlformats.org/drawingml/2006/main">
              <a:ext uri="{FF2B5EF4-FFF2-40B4-BE49-F238E27FC236}">
                <a16:creationId xmlns:a16="http://schemas.microsoft.com/office/drawing/2014/main" id="{A52ED737-9F63-42D3-9B59-0CA797F3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789" y="46863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Model, task, metric deltas.</a:t>
            </a:r>
          </a:p>
        </p:txBody>
      </p:sp>
      <p:sp>
        <p:nvSpPr>
          <p:cNvPr id="31" name="connector-JUL">
            <a:extLst xmlns:a="http://schemas.openxmlformats.org/drawingml/2006/main">
              <a:ext uri="{FF2B5EF4-FFF2-40B4-BE49-F238E27FC236}">
                <a16:creationId xmlns:a16="http://schemas.microsoft.com/office/drawing/2014/main" id="{8DA5540B-4613-4A96-A0F6-5BF5879C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229" y="3638550"/>
            <a:ext cx="142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dot-JUL">
            <a:extLst xmlns:a="http://schemas.openxmlformats.org/drawingml/2006/main">
              <a:ext uri="{FF2B5EF4-FFF2-40B4-BE49-F238E27FC236}">
                <a16:creationId xmlns:a16="http://schemas.microsoft.com/office/drawing/2014/main" id="{8BA0D347-18B2-4FD3-9E92-30AB4559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2504" y="3838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19050">
            <a:solidFill>
              <a:srgbClr val="101018"/>
            </a:solidFill>
            <a:prstDash val="solid"/>
          </a:ln>
        </p:spPr>
      </p:sp>
      <p:sp>
        <p:nvSpPr>
          <p:cNvPr id="33" name="month-JUL">
            <a:extLst xmlns:a="http://schemas.openxmlformats.org/drawingml/2006/main">
              <a:ext uri="{FF2B5EF4-FFF2-40B4-BE49-F238E27FC236}">
                <a16:creationId xmlns:a16="http://schemas.microsoft.com/office/drawing/2014/main" id="{B92AB588-C884-4FB4-A0F9-C0F27141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579" y="36671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JUL</a:t>
            </a:r>
          </a:p>
        </p:txBody>
      </p:sp>
      <p:sp>
        <p:nvSpPr>
          <p:cNvPr id="34" name="milestone-card-JUL">
            <a:extLst xmlns:a="http://schemas.openxmlformats.org/drawingml/2006/main">
              <a:ext uri="{FF2B5EF4-FFF2-40B4-BE49-F238E27FC236}">
                <a16:creationId xmlns:a16="http://schemas.microsoft.com/office/drawing/2014/main" id="{36F4855B-5EDF-48C3-8207-D940A026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7679" y="2895600"/>
            <a:ext cx="1181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00A8FF">
                <a:alpha val="53333"/>
              </a:srgbClr>
            </a:solidFill>
            <a:prstDash val="solid"/>
          </a:ln>
        </p:spPr>
      </p:sp>
      <p:sp>
        <p:nvSpPr>
          <p:cNvPr id="35" name="milestone-accent-JUL">
            <a:extLst xmlns:a="http://schemas.openxmlformats.org/drawingml/2006/main">
              <a:ext uri="{FF2B5EF4-FFF2-40B4-BE49-F238E27FC236}">
                <a16:creationId xmlns:a16="http://schemas.microsoft.com/office/drawing/2014/main" id="{FDE2B5DE-CEB0-4858-A6DE-25B8E005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7679" y="289560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title-JUL">
            <a:extLst xmlns:a="http://schemas.openxmlformats.org/drawingml/2006/main">
              <a:ext uri="{FF2B5EF4-FFF2-40B4-BE49-F238E27FC236}">
                <a16:creationId xmlns:a16="http://schemas.microsoft.com/office/drawing/2014/main" id="{CA284252-B657-4B23-BCC0-6D4DC41A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1504" y="3000375"/>
            <a:ext cx="952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Trace analysis</a:t>
            </a:r>
          </a:p>
        </p:txBody>
      </p:sp>
      <p:sp>
        <p:nvSpPr>
          <p:cNvPr id="37" name="detail-JUL">
            <a:extLst xmlns:a="http://schemas.openxmlformats.org/drawingml/2006/main">
              <a:ext uri="{FF2B5EF4-FFF2-40B4-BE49-F238E27FC236}">
                <a16:creationId xmlns:a16="http://schemas.microsoft.com/office/drawing/2014/main" id="{6592354C-B02C-4F7E-9A26-4C60FA15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1504" y="32766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Root causes tied to evidence.</a:t>
            </a:r>
          </a:p>
        </p:txBody>
      </p:sp>
      <p:sp>
        <p:nvSpPr>
          <p:cNvPr id="38" name="connector-AUG">
            <a:extLst xmlns:a="http://schemas.openxmlformats.org/drawingml/2006/main">
              <a:ext uri="{FF2B5EF4-FFF2-40B4-BE49-F238E27FC236}">
                <a16:creationId xmlns:a16="http://schemas.microsoft.com/office/drawing/2014/main" id="{FAAEE2F9-9A92-475C-A4DF-6CCE371B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943" y="3924300"/>
            <a:ext cx="14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dot-AUG">
            <a:extLst xmlns:a="http://schemas.openxmlformats.org/drawingml/2006/main">
              <a:ext uri="{FF2B5EF4-FFF2-40B4-BE49-F238E27FC236}">
                <a16:creationId xmlns:a16="http://schemas.microsoft.com/office/drawing/2014/main" id="{22B0FA61-61CF-413E-9DA6-C621EEDE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218" y="3838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19050">
            <a:solidFill>
              <a:srgbClr val="101018"/>
            </a:solidFill>
            <a:prstDash val="solid"/>
          </a:ln>
        </p:spPr>
      </p:sp>
      <p:sp>
        <p:nvSpPr>
          <p:cNvPr id="40" name="month-AUG">
            <a:extLst xmlns:a="http://schemas.openxmlformats.org/drawingml/2006/main">
              <a:ext uri="{FF2B5EF4-FFF2-40B4-BE49-F238E27FC236}">
                <a16:creationId xmlns:a16="http://schemas.microsoft.com/office/drawing/2014/main" id="{3AA80E50-32E5-4A8D-806C-5FBF3F8C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293" y="35242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855F7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A855F7"/>
                </a:solidFill>
                <a:latin typeface="Aptos Mono"/>
                <a:ea typeface="Aptos Mono"/>
                <a:cs typeface="Aptos Mono"/>
              </a:rPr>
              <a:t>AUG</a:t>
            </a:r>
          </a:p>
        </p:txBody>
      </p:sp>
      <p:sp>
        <p:nvSpPr>
          <p:cNvPr id="41" name="milestone-card-AUG">
            <a:extLst xmlns:a="http://schemas.openxmlformats.org/drawingml/2006/main">
              <a:ext uri="{FF2B5EF4-FFF2-40B4-BE49-F238E27FC236}">
                <a16:creationId xmlns:a16="http://schemas.microsoft.com/office/drawing/2014/main" id="{78242B8A-BF7A-40B6-8C7D-17B57926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8393" y="4305300"/>
            <a:ext cx="1181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A855F7">
                <a:alpha val="53333"/>
              </a:srgbClr>
            </a:solidFill>
            <a:prstDash val="solid"/>
          </a:ln>
        </p:spPr>
      </p:sp>
      <p:sp>
        <p:nvSpPr>
          <p:cNvPr id="42" name="milestone-accent-AUG">
            <a:extLst xmlns:a="http://schemas.openxmlformats.org/drawingml/2006/main">
              <a:ext uri="{FF2B5EF4-FFF2-40B4-BE49-F238E27FC236}">
                <a16:creationId xmlns:a16="http://schemas.microsoft.com/office/drawing/2014/main" id="{B3AFB5B5-B09D-4A63-ACCB-56633C04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8393" y="430530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title-AUG">
            <a:extLst xmlns:a="http://schemas.openxmlformats.org/drawingml/2006/main">
              <a:ext uri="{FF2B5EF4-FFF2-40B4-BE49-F238E27FC236}">
                <a16:creationId xmlns:a16="http://schemas.microsoft.com/office/drawing/2014/main" id="{E889044D-BC18-4AD4-9F57-EC47EAC0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218" y="4410075"/>
            <a:ext cx="952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Review queues</a:t>
            </a:r>
          </a:p>
        </p:txBody>
      </p:sp>
      <p:sp>
        <p:nvSpPr>
          <p:cNvPr id="44" name="detail-AUG">
            <a:extLst xmlns:a="http://schemas.openxmlformats.org/drawingml/2006/main">
              <a:ext uri="{FF2B5EF4-FFF2-40B4-BE49-F238E27FC236}">
                <a16:creationId xmlns:a16="http://schemas.microsoft.com/office/drawing/2014/main" id="{662BA93D-263F-4411-82A2-A18B19DD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218" y="46863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Human feedback for failures.</a:t>
            </a:r>
          </a:p>
        </p:txBody>
      </p:sp>
      <p:sp>
        <p:nvSpPr>
          <p:cNvPr id="45" name="connector-SEP">
            <a:extLst xmlns:a="http://schemas.openxmlformats.org/drawingml/2006/main">
              <a:ext uri="{FF2B5EF4-FFF2-40B4-BE49-F238E27FC236}">
                <a16:creationId xmlns:a16="http://schemas.microsoft.com/office/drawing/2014/main" id="{B4928028-BBF5-45E1-B529-F6E38D27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657" y="3638550"/>
            <a:ext cx="142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dot-SEP">
            <a:extLst xmlns:a="http://schemas.openxmlformats.org/drawingml/2006/main">
              <a:ext uri="{FF2B5EF4-FFF2-40B4-BE49-F238E27FC236}">
                <a16:creationId xmlns:a16="http://schemas.microsoft.com/office/drawing/2014/main" id="{78E0E261-430F-433A-B245-A82B1F83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932" y="3838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9050">
            <a:solidFill>
              <a:srgbClr val="101018"/>
            </a:solidFill>
            <a:prstDash val="solid"/>
          </a:ln>
        </p:spPr>
      </p:sp>
      <p:sp>
        <p:nvSpPr>
          <p:cNvPr id="47" name="month-SEP">
            <a:extLst xmlns:a="http://schemas.openxmlformats.org/drawingml/2006/main">
              <a:ext uri="{FF2B5EF4-FFF2-40B4-BE49-F238E27FC236}">
                <a16:creationId xmlns:a16="http://schemas.microsoft.com/office/drawing/2014/main" id="{B2FF2A0B-0CE7-4575-8919-587076B4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007" y="36671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SEP</a:t>
            </a:r>
          </a:p>
        </p:txBody>
      </p:sp>
      <p:sp>
        <p:nvSpPr>
          <p:cNvPr id="48" name="milestone-card-SEP">
            <a:extLst xmlns:a="http://schemas.openxmlformats.org/drawingml/2006/main">
              <a:ext uri="{FF2B5EF4-FFF2-40B4-BE49-F238E27FC236}">
                <a16:creationId xmlns:a16="http://schemas.microsoft.com/office/drawing/2014/main" id="{83CC5CFE-DC97-42DE-8371-A7A0AE6B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9107" y="2895600"/>
            <a:ext cx="1181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F59E0B">
                <a:alpha val="53333"/>
              </a:srgbClr>
            </a:solidFill>
            <a:prstDash val="solid"/>
          </a:ln>
        </p:spPr>
      </p:sp>
      <p:sp>
        <p:nvSpPr>
          <p:cNvPr id="49" name="milestone-accent-SEP">
            <a:extLst xmlns:a="http://schemas.openxmlformats.org/drawingml/2006/main">
              <a:ext uri="{FF2B5EF4-FFF2-40B4-BE49-F238E27FC236}">
                <a16:creationId xmlns:a16="http://schemas.microsoft.com/office/drawing/2014/main" id="{BB10AE44-0BE4-4E91-BAD9-98BD14C0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9107" y="289560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title-SEP">
            <a:extLst xmlns:a="http://schemas.openxmlformats.org/drawingml/2006/main">
              <a:ext uri="{FF2B5EF4-FFF2-40B4-BE49-F238E27FC236}">
                <a16:creationId xmlns:a16="http://schemas.microsoft.com/office/drawing/2014/main" id="{EB347CF0-C57B-4A4E-89D1-30BEB5E9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2932" y="3000375"/>
            <a:ext cx="952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Team projects</a:t>
            </a:r>
          </a:p>
        </p:txBody>
      </p:sp>
      <p:sp>
        <p:nvSpPr>
          <p:cNvPr id="51" name="detail-SEP">
            <a:extLst xmlns:a="http://schemas.openxmlformats.org/drawingml/2006/main">
              <a:ext uri="{FF2B5EF4-FFF2-40B4-BE49-F238E27FC236}">
                <a16:creationId xmlns:a16="http://schemas.microsoft.com/office/drawing/2014/main" id="{3E9BCF7B-31B3-4C62-BD72-583C3C25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2932" y="32766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Shared workspaces and RBAC.</a:t>
            </a:r>
          </a:p>
        </p:txBody>
      </p:sp>
      <p:sp>
        <p:nvSpPr>
          <p:cNvPr id="52" name="connector-OCT">
            <a:extLst xmlns:a="http://schemas.openxmlformats.org/drawingml/2006/main">
              <a:ext uri="{FF2B5EF4-FFF2-40B4-BE49-F238E27FC236}">
                <a16:creationId xmlns:a16="http://schemas.microsoft.com/office/drawing/2014/main" id="{AF18E6B9-97BD-49B1-9AF0-1171B032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0371" y="3924300"/>
            <a:ext cx="14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dot-OCT">
            <a:extLst xmlns:a="http://schemas.openxmlformats.org/drawingml/2006/main">
              <a:ext uri="{FF2B5EF4-FFF2-40B4-BE49-F238E27FC236}">
                <a16:creationId xmlns:a16="http://schemas.microsoft.com/office/drawing/2014/main" id="{F957739D-3273-4D35-8F9D-F55C7B9B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4646" y="3838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19050">
            <a:solidFill>
              <a:srgbClr val="101018"/>
            </a:solidFill>
            <a:prstDash val="solid"/>
          </a:ln>
        </p:spPr>
      </p:sp>
      <p:sp>
        <p:nvSpPr>
          <p:cNvPr id="54" name="month-OCT">
            <a:extLst xmlns:a="http://schemas.openxmlformats.org/drawingml/2006/main">
              <a:ext uri="{FF2B5EF4-FFF2-40B4-BE49-F238E27FC236}">
                <a16:creationId xmlns:a16="http://schemas.microsoft.com/office/drawing/2014/main" id="{C7828C9E-B2DC-4DCF-A938-F0F00799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2721" y="35242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OCT</a:t>
            </a:r>
          </a:p>
        </p:txBody>
      </p:sp>
      <p:sp>
        <p:nvSpPr>
          <p:cNvPr id="55" name="milestone-card-OCT">
            <a:extLst xmlns:a="http://schemas.openxmlformats.org/drawingml/2006/main">
              <a:ext uri="{FF2B5EF4-FFF2-40B4-BE49-F238E27FC236}">
                <a16:creationId xmlns:a16="http://schemas.microsoft.com/office/drawing/2014/main" id="{0BBD8698-6394-4E6F-8600-453ADEBC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821" y="4305300"/>
            <a:ext cx="1181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D4AA">
                <a:alpha val="53333"/>
              </a:srgbClr>
            </a:solidFill>
            <a:prstDash val="solid"/>
          </a:ln>
        </p:spPr>
      </p:sp>
      <p:sp>
        <p:nvSpPr>
          <p:cNvPr id="56" name="milestone-accent-OCT">
            <a:extLst xmlns:a="http://schemas.openxmlformats.org/drawingml/2006/main">
              <a:ext uri="{FF2B5EF4-FFF2-40B4-BE49-F238E27FC236}">
                <a16:creationId xmlns:a16="http://schemas.microsoft.com/office/drawing/2014/main" id="{F6167546-C263-4605-A9C0-48D25A3F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821" y="430530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title-OCT">
            <a:extLst xmlns:a="http://schemas.openxmlformats.org/drawingml/2006/main">
              <a:ext uri="{FF2B5EF4-FFF2-40B4-BE49-F238E27FC236}">
                <a16:creationId xmlns:a16="http://schemas.microsoft.com/office/drawing/2014/main" id="{534D249A-30BD-4593-BAC5-A4EA01ED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646" y="4410075"/>
            <a:ext cx="952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Trace imports</a:t>
            </a:r>
          </a:p>
        </p:txBody>
      </p:sp>
      <p:sp>
        <p:nvSpPr>
          <p:cNvPr id="58" name="detail-OCT">
            <a:extLst xmlns:a="http://schemas.openxmlformats.org/drawingml/2006/main">
              <a:ext uri="{FF2B5EF4-FFF2-40B4-BE49-F238E27FC236}">
                <a16:creationId xmlns:a16="http://schemas.microsoft.com/office/drawing/2014/main" id="{56589027-848D-4551-9A44-2E27A4E3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646" y="46863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Langfuse context enrichment.</a:t>
            </a:r>
          </a:p>
        </p:txBody>
      </p:sp>
      <p:sp>
        <p:nvSpPr>
          <p:cNvPr id="59" name="connector-NOV">
            <a:extLst xmlns:a="http://schemas.openxmlformats.org/drawingml/2006/main">
              <a:ext uri="{FF2B5EF4-FFF2-40B4-BE49-F238E27FC236}">
                <a16:creationId xmlns:a16="http://schemas.microsoft.com/office/drawing/2014/main" id="{8B94974C-E200-47D5-AEB7-AA036DEF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1086" y="3638550"/>
            <a:ext cx="14288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dot-NOV">
            <a:extLst xmlns:a="http://schemas.openxmlformats.org/drawingml/2006/main">
              <a:ext uri="{FF2B5EF4-FFF2-40B4-BE49-F238E27FC236}">
                <a16:creationId xmlns:a16="http://schemas.microsoft.com/office/drawing/2014/main" id="{39E9177A-5D13-44D5-8BB9-2C1A0E1E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5361" y="3838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9050">
            <a:solidFill>
              <a:srgbClr val="101018"/>
            </a:solidFill>
            <a:prstDash val="solid"/>
          </a:ln>
        </p:spPr>
      </p:sp>
      <p:sp>
        <p:nvSpPr>
          <p:cNvPr id="61" name="month-NOV">
            <a:extLst xmlns:a="http://schemas.openxmlformats.org/drawingml/2006/main">
              <a:ext uri="{FF2B5EF4-FFF2-40B4-BE49-F238E27FC236}">
                <a16:creationId xmlns:a16="http://schemas.microsoft.com/office/drawing/2014/main" id="{FBEE8E7F-C7F6-457A-AC21-DCC7BF26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436" y="36671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NOV</a:t>
            </a:r>
          </a:p>
        </p:txBody>
      </p:sp>
      <p:sp>
        <p:nvSpPr>
          <p:cNvPr id="62" name="milestone-card-NOV">
            <a:extLst xmlns:a="http://schemas.openxmlformats.org/drawingml/2006/main">
              <a:ext uri="{FF2B5EF4-FFF2-40B4-BE49-F238E27FC236}">
                <a16:creationId xmlns:a16="http://schemas.microsoft.com/office/drawing/2014/main" id="{FB3CE953-D529-47AE-8BEE-6B1BA743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536" y="2895600"/>
            <a:ext cx="1181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10B981">
                <a:alpha val="53333"/>
              </a:srgbClr>
            </a:solidFill>
            <a:prstDash val="solid"/>
          </a:ln>
        </p:spPr>
      </p:sp>
      <p:sp>
        <p:nvSpPr>
          <p:cNvPr id="63" name="milestone-accent-NOV">
            <a:extLst xmlns:a="http://schemas.openxmlformats.org/drawingml/2006/main">
              <a:ext uri="{FF2B5EF4-FFF2-40B4-BE49-F238E27FC236}">
                <a16:creationId xmlns:a16="http://schemas.microsoft.com/office/drawing/2014/main" id="{75EF4B00-0A59-4D7E-A9E2-E8FF0C13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536" y="289560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title-NOV">
            <a:extLst xmlns:a="http://schemas.openxmlformats.org/drawingml/2006/main">
              <a:ext uri="{FF2B5EF4-FFF2-40B4-BE49-F238E27FC236}">
                <a16:creationId xmlns:a16="http://schemas.microsoft.com/office/drawing/2014/main" id="{E162039E-00B0-47F0-9E16-7F348459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4361" y="3000375"/>
            <a:ext cx="952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Agent CLI</a:t>
            </a:r>
          </a:p>
        </p:txBody>
      </p:sp>
      <p:sp>
        <p:nvSpPr>
          <p:cNvPr id="65" name="detail-NOV">
            <a:extLst xmlns:a="http://schemas.openxmlformats.org/drawingml/2006/main">
              <a:ext uri="{FF2B5EF4-FFF2-40B4-BE49-F238E27FC236}">
                <a16:creationId xmlns:a16="http://schemas.microsoft.com/office/drawing/2014/main" id="{A0421730-4566-496D-99E1-289ACED9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4361" y="32766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Health checks and JSON flows.</a:t>
            </a:r>
          </a:p>
        </p:txBody>
      </p:sp>
      <p:sp>
        <p:nvSpPr>
          <p:cNvPr id="66" name="connector-DEC">
            <a:extLst xmlns:a="http://schemas.openxmlformats.org/drawingml/2006/main">
              <a:ext uri="{FF2B5EF4-FFF2-40B4-BE49-F238E27FC236}">
                <a16:creationId xmlns:a16="http://schemas.microsoft.com/office/drawing/2014/main" id="{82FBC6C4-048E-469A-8777-4EF0B1B4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924300"/>
            <a:ext cx="14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dot-DEC">
            <a:extLst xmlns:a="http://schemas.openxmlformats.org/drawingml/2006/main">
              <a:ext uri="{FF2B5EF4-FFF2-40B4-BE49-F238E27FC236}">
                <a16:creationId xmlns:a16="http://schemas.microsoft.com/office/drawing/2014/main" id="{0C9B9322-CA6D-4C22-98C4-03C41FB9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838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9050">
            <a:solidFill>
              <a:srgbClr val="101018"/>
            </a:solidFill>
            <a:prstDash val="solid"/>
          </a:ln>
        </p:spPr>
      </p:sp>
      <p:sp>
        <p:nvSpPr>
          <p:cNvPr id="68" name="month-DEC">
            <a:extLst xmlns:a="http://schemas.openxmlformats.org/drawingml/2006/main">
              <a:ext uri="{FF2B5EF4-FFF2-40B4-BE49-F238E27FC236}">
                <a16:creationId xmlns:a16="http://schemas.microsoft.com/office/drawing/2014/main" id="{CA8D7993-0260-46E5-8B5E-DEFCE259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5242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DEC</a:t>
            </a:r>
          </a:p>
        </p:txBody>
      </p:sp>
      <p:sp>
        <p:nvSpPr>
          <p:cNvPr id="69" name="milestone-card-DEC">
            <a:extLst xmlns:a="http://schemas.openxmlformats.org/drawingml/2006/main">
              <a:ext uri="{FF2B5EF4-FFF2-40B4-BE49-F238E27FC236}">
                <a16:creationId xmlns:a16="http://schemas.microsoft.com/office/drawing/2014/main" id="{1CB27265-D38A-46D9-A760-1B6E2EE8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05300"/>
            <a:ext cx="1181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F59E0B">
                <a:alpha val="53333"/>
              </a:srgbClr>
            </a:solidFill>
            <a:prstDash val="solid"/>
          </a:ln>
        </p:spPr>
      </p:sp>
      <p:sp>
        <p:nvSpPr>
          <p:cNvPr id="70" name="milestone-accent-DEC">
            <a:extLst xmlns:a="http://schemas.openxmlformats.org/drawingml/2006/main">
              <a:ext uri="{FF2B5EF4-FFF2-40B4-BE49-F238E27FC236}">
                <a16:creationId xmlns:a16="http://schemas.microsoft.com/office/drawing/2014/main" id="{77525F45-A2BF-491F-81B6-9A769BB2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0530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title-DEC">
            <a:extLst xmlns:a="http://schemas.openxmlformats.org/drawingml/2006/main">
              <a:ext uri="{FF2B5EF4-FFF2-40B4-BE49-F238E27FC236}">
                <a16:creationId xmlns:a16="http://schemas.microsoft.com/office/drawing/2014/main" id="{BA19A419-1ED4-4CE8-BB6B-60D3C4EE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410075"/>
            <a:ext cx="952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DEDF0"/>
                </a:solidFill>
                <a:latin typeface="Aptos"/>
                <a:ea typeface="Aptos"/>
                <a:cs typeface="Aptos"/>
              </a:rPr>
              <a:t>Hosted admin</a:t>
            </a:r>
          </a:p>
        </p:txBody>
      </p:sp>
      <p:sp>
        <p:nvSpPr>
          <p:cNvPr id="72" name="detail-DEC">
            <a:extLst xmlns:a="http://schemas.openxmlformats.org/drawingml/2006/main">
              <a:ext uri="{FF2B5EF4-FFF2-40B4-BE49-F238E27FC236}">
                <a16:creationId xmlns:a16="http://schemas.microsoft.com/office/drawing/2014/main" id="{CBA779F6-8CA7-450F-8BFD-70322E74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6863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Org rollout and governance.</a:t>
            </a:r>
          </a:p>
        </p:txBody>
      </p:sp>
      <p:sp>
        <p:nvSpPr>
          <p:cNvPr id="7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968A607-2837-4C6E-9806-00A2F4AB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0BFCC71E-17E8-4797-A833-DCCC9C74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0505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0505E"/>
                </a:solidFill>
                <a:latin typeface="Aptos Mono"/>
                <a:ea typeface="Aptos Mono"/>
                <a:cs typeface="Aptos Mono"/>
              </a:rPr>
              <a:t>Editable roadmap placeholder copy. Replace milestone names with final feature scope when ready.</a:t>
            </a:r>
          </a:p>
        </p:txBody>
      </p:sp>
      <p:sp>
        <p:nvSpPr>
          <p:cNvPr id="7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77022983-49AE-422F-B775-E0D27411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81025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471343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2026-06-04T07:48:27.4840000Z</dcterms:created>
  <dcterms:modified xsi:type="dcterms:W3CDTF">2026-06-04T07:48:27.4840000Z</dcterms:modified>
</coreProperties>
</file>