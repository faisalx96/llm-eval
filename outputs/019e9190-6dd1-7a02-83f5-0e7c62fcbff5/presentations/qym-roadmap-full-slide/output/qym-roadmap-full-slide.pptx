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593"/>
  </p:normalViewPr>
  <p:slideViewPr>
    <p:cSldViewPr snapToGrid="0">
      <p:cViewPr varScale="1">
        <p:scale>
          <a:sx n="119" d="100"/>
          <a:sy n="119" d="100"/>
        </p:scale>
        <p:origin x="24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background">
            <a:extLst>
              <a:ext uri="{FF2B5EF4-FFF2-40B4-BE49-F238E27FC236}">
                <a16:creationId xmlns:a16="http://schemas.microsoft.com/office/drawing/2014/main" id="{20B46D92-9602-42F3-A6ED-736C53CECC2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01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2" name="full-slide-surface">
            <a:extLst>
              <a:ext uri="{FF2B5EF4-FFF2-40B4-BE49-F238E27FC236}">
                <a16:creationId xmlns:a16="http://schemas.microsoft.com/office/drawing/2014/main" id="{6B8079EF-F8A1-4B68-B100-7DEC43174A62}"/>
              </a:ext>
            </a:extLst>
          </p:cNvPr>
          <p:cNvSpPr>
            <a:spLocks noGrp="1"/>
          </p:cNvSpPr>
          <p:nvPr/>
        </p:nvSpPr>
        <p:spPr>
          <a:xfrm>
            <a:off x="0" y="295275"/>
            <a:ext cx="12192000" cy="6562725"/>
          </a:xfrm>
          <a:prstGeom prst="rect">
            <a:avLst/>
          </a:prstGeom>
          <a:solidFill>
            <a:srgbClr val="1414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pPr marL="0" indent="0" algn="l" defTabSz="914400" rtl="0"/>
            <a:endParaRPr lang="ar-SA"/>
          </a:p>
        </p:txBody>
      </p:sp>
      <p:sp>
        <p:nvSpPr>
          <p:cNvPr id="3" name="top-accent-rule">
            <a:extLst>
              <a:ext uri="{FF2B5EF4-FFF2-40B4-BE49-F238E27FC236}">
                <a16:creationId xmlns:a16="http://schemas.microsoft.com/office/drawing/2014/main" id="{517F8CB3-4AA1-4DC7-8979-79FE9579370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00D4A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4" name="bottom-rule">
            <a:extLst>
              <a:ext uri="{FF2B5EF4-FFF2-40B4-BE49-F238E27FC236}">
                <a16:creationId xmlns:a16="http://schemas.microsoft.com/office/drawing/2014/main" id="{CC2D44FC-FDC2-43B8-B4E7-5B57B8E96B41}"/>
              </a:ext>
            </a:extLst>
          </p:cNvPr>
          <p:cNvSpPr>
            <a:spLocks noGrp="1"/>
          </p:cNvSpPr>
          <p:nvPr/>
        </p:nvSpPr>
        <p:spPr>
          <a:xfrm>
            <a:off x="0" y="6838950"/>
            <a:ext cx="12192000" cy="19050"/>
          </a:xfrm>
          <a:prstGeom prst="rect">
            <a:avLst/>
          </a:prstGeom>
          <a:solidFill>
            <a:srgbClr val="25253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95300" y="343057"/>
            <a:ext cx="400050" cy="39973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91828" y="304800"/>
            <a:ext cx="778595" cy="495300"/>
          </a:xfrm>
          <a:prstGeom prst="rect">
            <a:avLst/>
          </a:prstGeom>
        </p:spPr>
      </p:pic>
      <p:sp>
        <p:nvSpPr>
          <p:cNvPr id="8" name="kicker-label">
            <a:extLst>
              <a:ext uri="{FF2B5EF4-FFF2-40B4-BE49-F238E27FC236}">
                <a16:creationId xmlns:a16="http://schemas.microsoft.com/office/drawing/2014/main" id="{B6284605-0A42-4F9C-AFF3-08296CEBE588}"/>
              </a:ext>
            </a:extLst>
          </p:cNvPr>
          <p:cNvSpPr>
            <a:spLocks noGrp="1"/>
          </p:cNvSpPr>
          <p:nvPr/>
        </p:nvSpPr>
        <p:spPr>
          <a:xfrm>
            <a:off x="2005548" y="214312"/>
            <a:ext cx="7123484" cy="3905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00D4AA"/>
                </a:solidFill>
                <a:latin typeface="Aptos Mono"/>
                <a:ea typeface="Aptos Mono"/>
                <a:cs typeface="Aptos Mono"/>
              </a:defRPr>
            </a:pPr>
            <a:r>
              <a:rPr lang="en-US" sz="4000" b="1" dirty="0">
                <a:solidFill>
                  <a:srgbClr val="00D4AA"/>
                </a:solidFill>
                <a:latin typeface="Aptos Mono"/>
                <a:ea typeface="Aptos Mono"/>
                <a:cs typeface="Aptos Mono"/>
              </a:rPr>
              <a:t>2026 </a:t>
            </a:r>
            <a:r>
              <a:rPr sz="4000" b="1" dirty="0">
                <a:solidFill>
                  <a:srgbClr val="00D4AA"/>
                </a:solidFill>
                <a:latin typeface="Aptos Mono"/>
                <a:ea typeface="Aptos Mono"/>
                <a:cs typeface="Aptos Mono"/>
              </a:rPr>
              <a:t>PRODUCT ROADMAP</a:t>
            </a:r>
          </a:p>
        </p:txBody>
      </p:sp>
      <p:sp>
        <p:nvSpPr>
          <p:cNvPr id="9" name="claim-title">
            <a:extLst>
              <a:ext uri="{FF2B5EF4-FFF2-40B4-BE49-F238E27FC236}">
                <a16:creationId xmlns:a16="http://schemas.microsoft.com/office/drawing/2014/main" id="{991D66DE-62F7-4DD1-ADA8-E8437BBEE9FD}"/>
              </a:ext>
            </a:extLst>
          </p:cNvPr>
          <p:cNvSpPr>
            <a:spLocks noGrp="1"/>
          </p:cNvSpPr>
          <p:nvPr/>
        </p:nvSpPr>
        <p:spPr>
          <a:xfrm>
            <a:off x="495300" y="1524000"/>
            <a:ext cx="79057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marL="0" indent="0" algn="l" defTabSz="914400" rtl="0">
              <a:defRPr sz="3075" b="1">
                <a:solidFill>
                  <a:srgbClr val="EDEDF0"/>
                </a:solidFill>
                <a:latin typeface="Aptos Display"/>
                <a:ea typeface="Aptos Display"/>
                <a:cs typeface="Aptos Display"/>
              </a:defRPr>
            </a:pPr>
            <a:endParaRPr sz="3075" b="1" dirty="0">
              <a:solidFill>
                <a:srgbClr val="EDEDF0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5" name="swimlane-base">
            <a:extLst>
              <a:ext uri="{FF2B5EF4-FFF2-40B4-BE49-F238E27FC236}">
                <a16:creationId xmlns:a16="http://schemas.microsoft.com/office/drawing/2014/main" id="{D58B707A-597E-4CB8-BA3E-A5787E0DD850}"/>
              </a:ext>
            </a:extLst>
          </p:cNvPr>
          <p:cNvSpPr>
            <a:spLocks noGrp="1"/>
          </p:cNvSpPr>
          <p:nvPr/>
        </p:nvSpPr>
        <p:spPr>
          <a:xfrm>
            <a:off x="552450" y="3981450"/>
            <a:ext cx="11087100" cy="28575"/>
          </a:xfrm>
          <a:prstGeom prst="rect">
            <a:avLst/>
          </a:prstGeom>
          <a:solidFill>
            <a:srgbClr val="25253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6" name="swimlane-accent">
            <a:extLst>
              <a:ext uri="{FF2B5EF4-FFF2-40B4-BE49-F238E27FC236}">
                <a16:creationId xmlns:a16="http://schemas.microsoft.com/office/drawing/2014/main" id="{D6A7B9C1-9E7C-4AE2-8B72-33DF080F2B6F}"/>
              </a:ext>
            </a:extLst>
          </p:cNvPr>
          <p:cNvSpPr>
            <a:spLocks noGrp="1"/>
          </p:cNvSpPr>
          <p:nvPr/>
        </p:nvSpPr>
        <p:spPr>
          <a:xfrm>
            <a:off x="552450" y="3981450"/>
            <a:ext cx="11087100" cy="28575"/>
          </a:xfrm>
          <a:prstGeom prst="rect">
            <a:avLst/>
          </a:prstGeom>
          <a:solidFill>
            <a:srgbClr val="00D4AA">
              <a:alpha val="5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7" name="connector-MAY">
            <a:extLst>
              <a:ext uri="{FF2B5EF4-FFF2-40B4-BE49-F238E27FC236}">
                <a16:creationId xmlns:a16="http://schemas.microsoft.com/office/drawing/2014/main" id="{CDF6C60A-6FB9-44D2-89C2-54B202938942}"/>
              </a:ext>
            </a:extLst>
          </p:cNvPr>
          <p:cNvSpPr>
            <a:spLocks noGrp="1"/>
          </p:cNvSpPr>
          <p:nvPr/>
        </p:nvSpPr>
        <p:spPr>
          <a:xfrm>
            <a:off x="552450" y="3619500"/>
            <a:ext cx="14288" cy="361950"/>
          </a:xfrm>
          <a:prstGeom prst="rect">
            <a:avLst/>
          </a:prstGeom>
          <a:solidFill>
            <a:srgbClr val="00D4AA">
              <a:alpha val="6666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8" name="dot-MAY">
            <a:extLst>
              <a:ext uri="{FF2B5EF4-FFF2-40B4-BE49-F238E27FC236}">
                <a16:creationId xmlns:a16="http://schemas.microsoft.com/office/drawing/2014/main" id="{81754A13-3F57-4117-9A31-0B0574248E3C}"/>
              </a:ext>
            </a:extLst>
          </p:cNvPr>
          <p:cNvSpPr>
            <a:spLocks noGrp="1"/>
          </p:cNvSpPr>
          <p:nvPr/>
        </p:nvSpPr>
        <p:spPr>
          <a:xfrm>
            <a:off x="466725" y="3895725"/>
            <a:ext cx="171450" cy="171450"/>
          </a:xfrm>
          <a:prstGeom prst="ellipse">
            <a:avLst/>
          </a:prstGeom>
          <a:solidFill>
            <a:srgbClr val="00D4AA"/>
          </a:solidFill>
          <a:ln w="19050">
            <a:solidFill>
              <a:srgbClr val="14141E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9" name="month-MAY">
            <a:extLst>
              <a:ext uri="{FF2B5EF4-FFF2-40B4-BE49-F238E27FC236}">
                <a16:creationId xmlns:a16="http://schemas.microsoft.com/office/drawing/2014/main" id="{CA9E7890-1FC2-489E-AB8F-0128E1D81E52}"/>
              </a:ext>
            </a:extLst>
          </p:cNvPr>
          <p:cNvSpPr>
            <a:spLocks noGrp="1"/>
          </p:cNvSpPr>
          <p:nvPr/>
        </p:nvSpPr>
        <p:spPr>
          <a:xfrm>
            <a:off x="285750" y="3724275"/>
            <a:ext cx="533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00D4AA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00D4AA"/>
                </a:solidFill>
                <a:latin typeface="Aptos Mono"/>
                <a:ea typeface="Aptos Mono"/>
                <a:cs typeface="Aptos Mono"/>
              </a:rPr>
              <a:t>MAY</a:t>
            </a:r>
          </a:p>
        </p:txBody>
      </p:sp>
      <p:sp>
        <p:nvSpPr>
          <p:cNvPr id="20" name="milestone-card-MAY">
            <a:extLst>
              <a:ext uri="{FF2B5EF4-FFF2-40B4-BE49-F238E27FC236}">
                <a16:creationId xmlns:a16="http://schemas.microsoft.com/office/drawing/2014/main" id="{A84A5556-8A38-45EC-BC85-7B770F15D876}"/>
              </a:ext>
            </a:extLst>
          </p:cNvPr>
          <p:cNvSpPr>
            <a:spLocks noGrp="1"/>
          </p:cNvSpPr>
          <p:nvPr/>
        </p:nvSpPr>
        <p:spPr>
          <a:xfrm>
            <a:off x="381000" y="2838450"/>
            <a:ext cx="1314450" cy="781050"/>
          </a:xfrm>
          <a:prstGeom prst="rect">
            <a:avLst/>
          </a:prstGeom>
          <a:solidFill>
            <a:srgbClr val="222232"/>
          </a:solidFill>
          <a:ln w="9525">
            <a:solidFill>
              <a:srgbClr val="00D4AA">
                <a:alpha val="53333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21" name="milestone-accent-MAY">
            <a:extLst>
              <a:ext uri="{FF2B5EF4-FFF2-40B4-BE49-F238E27FC236}">
                <a16:creationId xmlns:a16="http://schemas.microsoft.com/office/drawing/2014/main" id="{0A7BC8C3-E977-41FD-900F-5E7E885AAEE0}"/>
              </a:ext>
            </a:extLst>
          </p:cNvPr>
          <p:cNvSpPr>
            <a:spLocks noGrp="1"/>
          </p:cNvSpPr>
          <p:nvPr/>
        </p:nvSpPr>
        <p:spPr>
          <a:xfrm>
            <a:off x="381000" y="2838450"/>
            <a:ext cx="28575" cy="781050"/>
          </a:xfrm>
          <a:prstGeom prst="rect">
            <a:avLst/>
          </a:prstGeom>
          <a:solidFill>
            <a:srgbClr val="00D4A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22" name="title-MAY">
            <a:extLst>
              <a:ext uri="{FF2B5EF4-FFF2-40B4-BE49-F238E27FC236}">
                <a16:creationId xmlns:a16="http://schemas.microsoft.com/office/drawing/2014/main" id="{BF95D4EC-F535-4BCD-B488-478B3EDDE7E1}"/>
              </a:ext>
            </a:extLst>
          </p:cNvPr>
          <p:cNvSpPr>
            <a:spLocks noGrp="1"/>
          </p:cNvSpPr>
          <p:nvPr/>
        </p:nvSpPr>
        <p:spPr>
          <a:xfrm>
            <a:off x="514350" y="2952750"/>
            <a:ext cx="1066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EDEDF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DEDF0"/>
                </a:solidFill>
                <a:latin typeface="Aptos"/>
                <a:ea typeface="Aptos"/>
                <a:cs typeface="Aptos"/>
              </a:rPr>
              <a:t>Metric registry</a:t>
            </a:r>
          </a:p>
        </p:txBody>
      </p:sp>
      <p:sp>
        <p:nvSpPr>
          <p:cNvPr id="23" name="detail-MAY">
            <a:extLst>
              <a:ext uri="{FF2B5EF4-FFF2-40B4-BE49-F238E27FC236}">
                <a16:creationId xmlns:a16="http://schemas.microsoft.com/office/drawing/2014/main" id="{2B1B0355-AF99-45AF-B278-8AAE5DD2E679}"/>
              </a:ext>
            </a:extLst>
          </p:cNvPr>
          <p:cNvSpPr>
            <a:spLocks noGrp="1"/>
          </p:cNvSpPr>
          <p:nvPr/>
        </p:nvSpPr>
        <p:spPr>
          <a:xfrm>
            <a:off x="514350" y="3238500"/>
            <a:ext cx="1066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60" b="0">
                <a:solidFill>
                  <a:srgbClr val="A8A8BA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A8A8BA"/>
                </a:solidFill>
                <a:latin typeface="Aptos"/>
                <a:ea typeface="Aptos"/>
                <a:cs typeface="Aptos"/>
              </a:rPr>
              <a:t>Datasets, metrics, run schema.</a:t>
            </a:r>
          </a:p>
        </p:txBody>
      </p:sp>
      <p:sp>
        <p:nvSpPr>
          <p:cNvPr id="24" name="connector-JUN">
            <a:extLst>
              <a:ext uri="{FF2B5EF4-FFF2-40B4-BE49-F238E27FC236}">
                <a16:creationId xmlns:a16="http://schemas.microsoft.com/office/drawing/2014/main" id="{28D8AC7B-A7C2-4695-A90C-0DC469963767}"/>
              </a:ext>
            </a:extLst>
          </p:cNvPr>
          <p:cNvSpPr>
            <a:spLocks noGrp="1"/>
          </p:cNvSpPr>
          <p:nvPr/>
        </p:nvSpPr>
        <p:spPr>
          <a:xfrm>
            <a:off x="2136321" y="3981450"/>
            <a:ext cx="14288" cy="457200"/>
          </a:xfrm>
          <a:prstGeom prst="rect">
            <a:avLst/>
          </a:prstGeom>
          <a:solidFill>
            <a:srgbClr val="00A8FF">
              <a:alpha val="6666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25" name="dot-JUN">
            <a:extLst>
              <a:ext uri="{FF2B5EF4-FFF2-40B4-BE49-F238E27FC236}">
                <a16:creationId xmlns:a16="http://schemas.microsoft.com/office/drawing/2014/main" id="{DF34B979-A0A0-4969-9553-77552628051D}"/>
              </a:ext>
            </a:extLst>
          </p:cNvPr>
          <p:cNvSpPr>
            <a:spLocks noGrp="1"/>
          </p:cNvSpPr>
          <p:nvPr/>
        </p:nvSpPr>
        <p:spPr>
          <a:xfrm>
            <a:off x="2050596" y="3895725"/>
            <a:ext cx="171450" cy="171450"/>
          </a:xfrm>
          <a:prstGeom prst="ellipse">
            <a:avLst/>
          </a:prstGeom>
          <a:solidFill>
            <a:srgbClr val="00A8FF"/>
          </a:solidFill>
          <a:ln w="19050">
            <a:solidFill>
              <a:srgbClr val="14141E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26" name="month-JUN">
            <a:extLst>
              <a:ext uri="{FF2B5EF4-FFF2-40B4-BE49-F238E27FC236}">
                <a16:creationId xmlns:a16="http://schemas.microsoft.com/office/drawing/2014/main" id="{9AED1232-04F0-462C-80A3-3731B13BC5DD}"/>
              </a:ext>
            </a:extLst>
          </p:cNvPr>
          <p:cNvSpPr>
            <a:spLocks noGrp="1"/>
          </p:cNvSpPr>
          <p:nvPr/>
        </p:nvSpPr>
        <p:spPr>
          <a:xfrm>
            <a:off x="1869621" y="3562350"/>
            <a:ext cx="533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00A8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00A8FF"/>
                </a:solidFill>
                <a:latin typeface="Aptos Mono"/>
                <a:ea typeface="Aptos Mono"/>
                <a:cs typeface="Aptos Mono"/>
              </a:rPr>
              <a:t>JUN</a:t>
            </a:r>
          </a:p>
        </p:txBody>
      </p:sp>
      <p:sp>
        <p:nvSpPr>
          <p:cNvPr id="27" name="milestone-card-JUN">
            <a:extLst>
              <a:ext uri="{FF2B5EF4-FFF2-40B4-BE49-F238E27FC236}">
                <a16:creationId xmlns:a16="http://schemas.microsoft.com/office/drawing/2014/main" id="{C7FFD9A3-641B-49EC-951B-569690084638}"/>
              </a:ext>
            </a:extLst>
          </p:cNvPr>
          <p:cNvSpPr>
            <a:spLocks noGrp="1"/>
          </p:cNvSpPr>
          <p:nvPr/>
        </p:nvSpPr>
        <p:spPr>
          <a:xfrm>
            <a:off x="1479096" y="4438650"/>
            <a:ext cx="1314450" cy="781050"/>
          </a:xfrm>
          <a:prstGeom prst="rect">
            <a:avLst/>
          </a:prstGeom>
          <a:solidFill>
            <a:srgbClr val="1A1A28"/>
          </a:solidFill>
          <a:ln w="9525">
            <a:solidFill>
              <a:srgbClr val="00A8FF">
                <a:alpha val="53333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28" name="milestone-accent-JUN">
            <a:extLst>
              <a:ext uri="{FF2B5EF4-FFF2-40B4-BE49-F238E27FC236}">
                <a16:creationId xmlns:a16="http://schemas.microsoft.com/office/drawing/2014/main" id="{9E994734-7B4D-4C18-B566-5EF5D46418B4}"/>
              </a:ext>
            </a:extLst>
          </p:cNvPr>
          <p:cNvSpPr>
            <a:spLocks noGrp="1"/>
          </p:cNvSpPr>
          <p:nvPr/>
        </p:nvSpPr>
        <p:spPr>
          <a:xfrm>
            <a:off x="1479096" y="4438650"/>
            <a:ext cx="28575" cy="781050"/>
          </a:xfrm>
          <a:prstGeom prst="rect">
            <a:avLst/>
          </a:prstGeom>
          <a:solidFill>
            <a:srgbClr val="00A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29" name="title-JUN">
            <a:extLst>
              <a:ext uri="{FF2B5EF4-FFF2-40B4-BE49-F238E27FC236}">
                <a16:creationId xmlns:a16="http://schemas.microsoft.com/office/drawing/2014/main" id="{2319358D-2994-4832-B02E-70BF1F43F745}"/>
              </a:ext>
            </a:extLst>
          </p:cNvPr>
          <p:cNvSpPr>
            <a:spLocks noGrp="1"/>
          </p:cNvSpPr>
          <p:nvPr/>
        </p:nvSpPr>
        <p:spPr>
          <a:xfrm>
            <a:off x="1612446" y="4552950"/>
            <a:ext cx="1066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EDEDF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DEDF0"/>
                </a:solidFill>
                <a:latin typeface="Aptos"/>
                <a:ea typeface="Aptos"/>
                <a:cs typeface="Aptos"/>
              </a:rPr>
              <a:t>Run compare</a:t>
            </a:r>
          </a:p>
        </p:txBody>
      </p:sp>
      <p:sp>
        <p:nvSpPr>
          <p:cNvPr id="30" name="detail-JUN">
            <a:extLst>
              <a:ext uri="{FF2B5EF4-FFF2-40B4-BE49-F238E27FC236}">
                <a16:creationId xmlns:a16="http://schemas.microsoft.com/office/drawing/2014/main" id="{319BB137-DD7F-4D5E-BF5E-899B90A0D30D}"/>
              </a:ext>
            </a:extLst>
          </p:cNvPr>
          <p:cNvSpPr>
            <a:spLocks noGrp="1"/>
          </p:cNvSpPr>
          <p:nvPr/>
        </p:nvSpPr>
        <p:spPr>
          <a:xfrm>
            <a:off x="1612446" y="4838700"/>
            <a:ext cx="1066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60" b="0">
                <a:solidFill>
                  <a:srgbClr val="A8A8BA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A8A8BA"/>
                </a:solidFill>
                <a:latin typeface="Aptos"/>
                <a:ea typeface="Aptos"/>
                <a:cs typeface="Aptos"/>
              </a:rPr>
              <a:t>Model, task, metric deltas.</a:t>
            </a:r>
          </a:p>
        </p:txBody>
      </p:sp>
      <p:sp>
        <p:nvSpPr>
          <p:cNvPr id="31" name="connector-JUL">
            <a:extLst>
              <a:ext uri="{FF2B5EF4-FFF2-40B4-BE49-F238E27FC236}">
                <a16:creationId xmlns:a16="http://schemas.microsoft.com/office/drawing/2014/main" id="{6A998A8E-61E2-4ADC-A12F-27EDE5B36CB5}"/>
              </a:ext>
            </a:extLst>
          </p:cNvPr>
          <p:cNvSpPr>
            <a:spLocks noGrp="1"/>
          </p:cNvSpPr>
          <p:nvPr/>
        </p:nvSpPr>
        <p:spPr>
          <a:xfrm>
            <a:off x="3720193" y="3619500"/>
            <a:ext cx="14288" cy="361950"/>
          </a:xfrm>
          <a:prstGeom prst="rect">
            <a:avLst/>
          </a:prstGeom>
          <a:solidFill>
            <a:srgbClr val="00A8FF">
              <a:alpha val="6666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32" name="dot-JUL">
            <a:extLst>
              <a:ext uri="{FF2B5EF4-FFF2-40B4-BE49-F238E27FC236}">
                <a16:creationId xmlns:a16="http://schemas.microsoft.com/office/drawing/2014/main" id="{FC8C5891-304E-4037-9EEE-5C689FE50BD3}"/>
              </a:ext>
            </a:extLst>
          </p:cNvPr>
          <p:cNvSpPr>
            <a:spLocks noGrp="1"/>
          </p:cNvSpPr>
          <p:nvPr/>
        </p:nvSpPr>
        <p:spPr>
          <a:xfrm>
            <a:off x="3634468" y="3895725"/>
            <a:ext cx="171450" cy="171450"/>
          </a:xfrm>
          <a:prstGeom prst="ellipse">
            <a:avLst/>
          </a:prstGeom>
          <a:solidFill>
            <a:srgbClr val="00A8FF"/>
          </a:solidFill>
          <a:ln w="19050">
            <a:solidFill>
              <a:srgbClr val="14141E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33" name="month-JUL">
            <a:extLst>
              <a:ext uri="{FF2B5EF4-FFF2-40B4-BE49-F238E27FC236}">
                <a16:creationId xmlns:a16="http://schemas.microsoft.com/office/drawing/2014/main" id="{64C61B43-0135-426F-9E49-9E77B7F552D6}"/>
              </a:ext>
            </a:extLst>
          </p:cNvPr>
          <p:cNvSpPr>
            <a:spLocks noGrp="1"/>
          </p:cNvSpPr>
          <p:nvPr/>
        </p:nvSpPr>
        <p:spPr>
          <a:xfrm>
            <a:off x="3453493" y="3724275"/>
            <a:ext cx="533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00A8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00A8FF"/>
                </a:solidFill>
                <a:latin typeface="Aptos Mono"/>
                <a:ea typeface="Aptos Mono"/>
                <a:cs typeface="Aptos Mono"/>
              </a:rPr>
              <a:t>JUL</a:t>
            </a:r>
          </a:p>
        </p:txBody>
      </p:sp>
      <p:sp>
        <p:nvSpPr>
          <p:cNvPr id="34" name="milestone-card-JUL">
            <a:extLst>
              <a:ext uri="{FF2B5EF4-FFF2-40B4-BE49-F238E27FC236}">
                <a16:creationId xmlns:a16="http://schemas.microsoft.com/office/drawing/2014/main" id="{0EF56A79-2F18-426C-A2CA-7F98DD6354DD}"/>
              </a:ext>
            </a:extLst>
          </p:cNvPr>
          <p:cNvSpPr>
            <a:spLocks noGrp="1"/>
          </p:cNvSpPr>
          <p:nvPr/>
        </p:nvSpPr>
        <p:spPr>
          <a:xfrm>
            <a:off x="3062968" y="2838450"/>
            <a:ext cx="1314450" cy="781050"/>
          </a:xfrm>
          <a:prstGeom prst="rect">
            <a:avLst/>
          </a:prstGeom>
          <a:solidFill>
            <a:srgbClr val="222232"/>
          </a:solidFill>
          <a:ln w="9525">
            <a:solidFill>
              <a:srgbClr val="00A8FF">
                <a:alpha val="53333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35" name="milestone-accent-JUL">
            <a:extLst>
              <a:ext uri="{FF2B5EF4-FFF2-40B4-BE49-F238E27FC236}">
                <a16:creationId xmlns:a16="http://schemas.microsoft.com/office/drawing/2014/main" id="{B30B5685-904F-4F77-A4E0-CADE92A76D10}"/>
              </a:ext>
            </a:extLst>
          </p:cNvPr>
          <p:cNvSpPr>
            <a:spLocks noGrp="1"/>
          </p:cNvSpPr>
          <p:nvPr/>
        </p:nvSpPr>
        <p:spPr>
          <a:xfrm>
            <a:off x="3062968" y="2838450"/>
            <a:ext cx="28575" cy="781050"/>
          </a:xfrm>
          <a:prstGeom prst="rect">
            <a:avLst/>
          </a:prstGeom>
          <a:solidFill>
            <a:srgbClr val="00A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36" name="title-JUL">
            <a:extLst>
              <a:ext uri="{FF2B5EF4-FFF2-40B4-BE49-F238E27FC236}">
                <a16:creationId xmlns:a16="http://schemas.microsoft.com/office/drawing/2014/main" id="{1AAD4FF4-505E-4384-811A-7BF12CAB17BF}"/>
              </a:ext>
            </a:extLst>
          </p:cNvPr>
          <p:cNvSpPr>
            <a:spLocks noGrp="1"/>
          </p:cNvSpPr>
          <p:nvPr/>
        </p:nvSpPr>
        <p:spPr>
          <a:xfrm>
            <a:off x="3196318" y="2952750"/>
            <a:ext cx="1066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EDEDF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DEDF0"/>
                </a:solidFill>
                <a:latin typeface="Aptos"/>
                <a:ea typeface="Aptos"/>
                <a:cs typeface="Aptos"/>
              </a:rPr>
              <a:t>Trace analysis</a:t>
            </a:r>
          </a:p>
        </p:txBody>
      </p:sp>
      <p:sp>
        <p:nvSpPr>
          <p:cNvPr id="37" name="detail-JUL">
            <a:extLst>
              <a:ext uri="{FF2B5EF4-FFF2-40B4-BE49-F238E27FC236}">
                <a16:creationId xmlns:a16="http://schemas.microsoft.com/office/drawing/2014/main" id="{62DF03B2-83AF-4461-99AE-E85A0BCB24E3}"/>
              </a:ext>
            </a:extLst>
          </p:cNvPr>
          <p:cNvSpPr>
            <a:spLocks noGrp="1"/>
          </p:cNvSpPr>
          <p:nvPr/>
        </p:nvSpPr>
        <p:spPr>
          <a:xfrm>
            <a:off x="3196318" y="3238500"/>
            <a:ext cx="1066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60" b="0">
                <a:solidFill>
                  <a:srgbClr val="A8A8BA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A8A8BA"/>
                </a:solidFill>
                <a:latin typeface="Aptos"/>
                <a:ea typeface="Aptos"/>
                <a:cs typeface="Aptos"/>
              </a:rPr>
              <a:t>Root causes tied to evidence.</a:t>
            </a:r>
          </a:p>
        </p:txBody>
      </p:sp>
      <p:sp>
        <p:nvSpPr>
          <p:cNvPr id="38" name="connector-AUG">
            <a:extLst>
              <a:ext uri="{FF2B5EF4-FFF2-40B4-BE49-F238E27FC236}">
                <a16:creationId xmlns:a16="http://schemas.microsoft.com/office/drawing/2014/main" id="{BC273907-D999-4CFD-8DC1-97FCF1104B02}"/>
              </a:ext>
            </a:extLst>
          </p:cNvPr>
          <p:cNvSpPr>
            <a:spLocks noGrp="1"/>
          </p:cNvSpPr>
          <p:nvPr/>
        </p:nvSpPr>
        <p:spPr>
          <a:xfrm>
            <a:off x="5304064" y="3981450"/>
            <a:ext cx="14288" cy="457200"/>
          </a:xfrm>
          <a:prstGeom prst="rect">
            <a:avLst/>
          </a:prstGeom>
          <a:solidFill>
            <a:srgbClr val="A855F7">
              <a:alpha val="6666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39" name="dot-AUG">
            <a:extLst>
              <a:ext uri="{FF2B5EF4-FFF2-40B4-BE49-F238E27FC236}">
                <a16:creationId xmlns:a16="http://schemas.microsoft.com/office/drawing/2014/main" id="{0E95AF36-5C22-4C9B-BF32-94E39242B423}"/>
              </a:ext>
            </a:extLst>
          </p:cNvPr>
          <p:cNvSpPr>
            <a:spLocks noGrp="1"/>
          </p:cNvSpPr>
          <p:nvPr/>
        </p:nvSpPr>
        <p:spPr>
          <a:xfrm>
            <a:off x="5218339" y="3895725"/>
            <a:ext cx="171450" cy="171450"/>
          </a:xfrm>
          <a:prstGeom prst="ellipse">
            <a:avLst/>
          </a:prstGeom>
          <a:solidFill>
            <a:srgbClr val="A855F7"/>
          </a:solidFill>
          <a:ln w="19050">
            <a:solidFill>
              <a:srgbClr val="14141E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40" name="month-AUG">
            <a:extLst>
              <a:ext uri="{FF2B5EF4-FFF2-40B4-BE49-F238E27FC236}">
                <a16:creationId xmlns:a16="http://schemas.microsoft.com/office/drawing/2014/main" id="{C88AD7F7-861F-4B3F-AC1E-5063D387FA25}"/>
              </a:ext>
            </a:extLst>
          </p:cNvPr>
          <p:cNvSpPr>
            <a:spLocks noGrp="1"/>
          </p:cNvSpPr>
          <p:nvPr/>
        </p:nvSpPr>
        <p:spPr>
          <a:xfrm>
            <a:off x="5037364" y="3562350"/>
            <a:ext cx="533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A855F7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A855F7"/>
                </a:solidFill>
                <a:latin typeface="Aptos Mono"/>
                <a:ea typeface="Aptos Mono"/>
                <a:cs typeface="Aptos Mono"/>
              </a:rPr>
              <a:t>AUG</a:t>
            </a:r>
          </a:p>
        </p:txBody>
      </p:sp>
      <p:sp>
        <p:nvSpPr>
          <p:cNvPr id="41" name="milestone-card-AUG">
            <a:extLst>
              <a:ext uri="{FF2B5EF4-FFF2-40B4-BE49-F238E27FC236}">
                <a16:creationId xmlns:a16="http://schemas.microsoft.com/office/drawing/2014/main" id="{BD2B8FF5-4D10-4E3E-B674-1396FCEBE7A3}"/>
              </a:ext>
            </a:extLst>
          </p:cNvPr>
          <p:cNvSpPr>
            <a:spLocks noGrp="1"/>
          </p:cNvSpPr>
          <p:nvPr/>
        </p:nvSpPr>
        <p:spPr>
          <a:xfrm>
            <a:off x="4646839" y="4438650"/>
            <a:ext cx="1314450" cy="781050"/>
          </a:xfrm>
          <a:prstGeom prst="rect">
            <a:avLst/>
          </a:prstGeom>
          <a:solidFill>
            <a:srgbClr val="1A1A28"/>
          </a:solidFill>
          <a:ln w="9525">
            <a:solidFill>
              <a:srgbClr val="A855F7">
                <a:alpha val="53333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42" name="milestone-accent-AUG">
            <a:extLst>
              <a:ext uri="{FF2B5EF4-FFF2-40B4-BE49-F238E27FC236}">
                <a16:creationId xmlns:a16="http://schemas.microsoft.com/office/drawing/2014/main" id="{5E749E42-D703-48CC-A7AD-E2F21BD376E6}"/>
              </a:ext>
            </a:extLst>
          </p:cNvPr>
          <p:cNvSpPr>
            <a:spLocks noGrp="1"/>
          </p:cNvSpPr>
          <p:nvPr/>
        </p:nvSpPr>
        <p:spPr>
          <a:xfrm>
            <a:off x="4646839" y="4438650"/>
            <a:ext cx="28575" cy="781050"/>
          </a:xfrm>
          <a:prstGeom prst="rect">
            <a:avLst/>
          </a:prstGeom>
          <a:solidFill>
            <a:srgbClr val="A855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43" name="title-AUG">
            <a:extLst>
              <a:ext uri="{FF2B5EF4-FFF2-40B4-BE49-F238E27FC236}">
                <a16:creationId xmlns:a16="http://schemas.microsoft.com/office/drawing/2014/main" id="{69907521-9BBF-4FDB-BECF-A974C5A46D9B}"/>
              </a:ext>
            </a:extLst>
          </p:cNvPr>
          <p:cNvSpPr>
            <a:spLocks noGrp="1"/>
          </p:cNvSpPr>
          <p:nvPr/>
        </p:nvSpPr>
        <p:spPr>
          <a:xfrm>
            <a:off x="4780189" y="4552950"/>
            <a:ext cx="1066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EDEDF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DEDF0"/>
                </a:solidFill>
                <a:latin typeface="Aptos"/>
                <a:ea typeface="Aptos"/>
                <a:cs typeface="Aptos"/>
              </a:rPr>
              <a:t>Review queues</a:t>
            </a:r>
          </a:p>
        </p:txBody>
      </p:sp>
      <p:sp>
        <p:nvSpPr>
          <p:cNvPr id="44" name="detail-AUG">
            <a:extLst>
              <a:ext uri="{FF2B5EF4-FFF2-40B4-BE49-F238E27FC236}">
                <a16:creationId xmlns:a16="http://schemas.microsoft.com/office/drawing/2014/main" id="{2E20C826-60D0-4D49-95E9-59561F969D5C}"/>
              </a:ext>
            </a:extLst>
          </p:cNvPr>
          <p:cNvSpPr>
            <a:spLocks noGrp="1"/>
          </p:cNvSpPr>
          <p:nvPr/>
        </p:nvSpPr>
        <p:spPr>
          <a:xfrm>
            <a:off x="4780189" y="4838700"/>
            <a:ext cx="1066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60" b="0">
                <a:solidFill>
                  <a:srgbClr val="A8A8BA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A8A8BA"/>
                </a:solidFill>
                <a:latin typeface="Aptos"/>
                <a:ea typeface="Aptos"/>
                <a:cs typeface="Aptos"/>
              </a:rPr>
              <a:t>Human feedback for failures.</a:t>
            </a:r>
          </a:p>
        </p:txBody>
      </p:sp>
      <p:sp>
        <p:nvSpPr>
          <p:cNvPr id="45" name="connector-SEP">
            <a:extLst>
              <a:ext uri="{FF2B5EF4-FFF2-40B4-BE49-F238E27FC236}">
                <a16:creationId xmlns:a16="http://schemas.microsoft.com/office/drawing/2014/main" id="{01426D46-77CE-4D90-B39C-BE03FED0DB32}"/>
              </a:ext>
            </a:extLst>
          </p:cNvPr>
          <p:cNvSpPr>
            <a:spLocks noGrp="1"/>
          </p:cNvSpPr>
          <p:nvPr/>
        </p:nvSpPr>
        <p:spPr>
          <a:xfrm>
            <a:off x="6887936" y="3619500"/>
            <a:ext cx="14288" cy="361950"/>
          </a:xfrm>
          <a:prstGeom prst="rect">
            <a:avLst/>
          </a:prstGeom>
          <a:solidFill>
            <a:srgbClr val="F59E0B">
              <a:alpha val="6666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46" name="dot-SEP">
            <a:extLst>
              <a:ext uri="{FF2B5EF4-FFF2-40B4-BE49-F238E27FC236}">
                <a16:creationId xmlns:a16="http://schemas.microsoft.com/office/drawing/2014/main" id="{638068FF-6F25-4D8D-9662-26FF688B43C4}"/>
              </a:ext>
            </a:extLst>
          </p:cNvPr>
          <p:cNvSpPr>
            <a:spLocks noGrp="1"/>
          </p:cNvSpPr>
          <p:nvPr/>
        </p:nvSpPr>
        <p:spPr>
          <a:xfrm>
            <a:off x="6802211" y="3895725"/>
            <a:ext cx="171450" cy="171450"/>
          </a:xfrm>
          <a:prstGeom prst="ellipse">
            <a:avLst/>
          </a:prstGeom>
          <a:solidFill>
            <a:srgbClr val="F59E0B"/>
          </a:solidFill>
          <a:ln w="19050">
            <a:solidFill>
              <a:srgbClr val="14141E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47" name="month-SEP">
            <a:extLst>
              <a:ext uri="{FF2B5EF4-FFF2-40B4-BE49-F238E27FC236}">
                <a16:creationId xmlns:a16="http://schemas.microsoft.com/office/drawing/2014/main" id="{E734A263-AB97-4F91-8916-12D5D59F910D}"/>
              </a:ext>
            </a:extLst>
          </p:cNvPr>
          <p:cNvSpPr>
            <a:spLocks noGrp="1"/>
          </p:cNvSpPr>
          <p:nvPr/>
        </p:nvSpPr>
        <p:spPr>
          <a:xfrm>
            <a:off x="6621236" y="3724275"/>
            <a:ext cx="533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F59E0B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59E0B"/>
                </a:solidFill>
                <a:latin typeface="Aptos Mono"/>
                <a:ea typeface="Aptos Mono"/>
                <a:cs typeface="Aptos Mono"/>
              </a:rPr>
              <a:t>SEP</a:t>
            </a:r>
          </a:p>
        </p:txBody>
      </p:sp>
      <p:sp>
        <p:nvSpPr>
          <p:cNvPr id="48" name="milestone-card-SEP">
            <a:extLst>
              <a:ext uri="{FF2B5EF4-FFF2-40B4-BE49-F238E27FC236}">
                <a16:creationId xmlns:a16="http://schemas.microsoft.com/office/drawing/2014/main" id="{672D776A-6F0E-44EB-80CB-E23025C41BA3}"/>
              </a:ext>
            </a:extLst>
          </p:cNvPr>
          <p:cNvSpPr>
            <a:spLocks noGrp="1"/>
          </p:cNvSpPr>
          <p:nvPr/>
        </p:nvSpPr>
        <p:spPr>
          <a:xfrm>
            <a:off x="6230711" y="2838450"/>
            <a:ext cx="1314450" cy="781050"/>
          </a:xfrm>
          <a:prstGeom prst="rect">
            <a:avLst/>
          </a:prstGeom>
          <a:solidFill>
            <a:srgbClr val="222232"/>
          </a:solidFill>
          <a:ln w="9525">
            <a:solidFill>
              <a:srgbClr val="F59E0B">
                <a:alpha val="53333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49" name="milestone-accent-SEP">
            <a:extLst>
              <a:ext uri="{FF2B5EF4-FFF2-40B4-BE49-F238E27FC236}">
                <a16:creationId xmlns:a16="http://schemas.microsoft.com/office/drawing/2014/main" id="{35A2401D-AB07-43DF-9958-6294A0738F43}"/>
              </a:ext>
            </a:extLst>
          </p:cNvPr>
          <p:cNvSpPr>
            <a:spLocks noGrp="1"/>
          </p:cNvSpPr>
          <p:nvPr/>
        </p:nvSpPr>
        <p:spPr>
          <a:xfrm>
            <a:off x="6230711" y="2838450"/>
            <a:ext cx="28575" cy="781050"/>
          </a:xfrm>
          <a:prstGeom prst="rect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50" name="title-SEP">
            <a:extLst>
              <a:ext uri="{FF2B5EF4-FFF2-40B4-BE49-F238E27FC236}">
                <a16:creationId xmlns:a16="http://schemas.microsoft.com/office/drawing/2014/main" id="{54AA8202-1F7B-4248-8117-9A6D3C126988}"/>
              </a:ext>
            </a:extLst>
          </p:cNvPr>
          <p:cNvSpPr>
            <a:spLocks noGrp="1"/>
          </p:cNvSpPr>
          <p:nvPr/>
        </p:nvSpPr>
        <p:spPr>
          <a:xfrm>
            <a:off x="6364061" y="2952750"/>
            <a:ext cx="1066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EDEDF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DEDF0"/>
                </a:solidFill>
                <a:latin typeface="Aptos"/>
                <a:ea typeface="Aptos"/>
                <a:cs typeface="Aptos"/>
              </a:rPr>
              <a:t>Team projects</a:t>
            </a:r>
          </a:p>
        </p:txBody>
      </p:sp>
      <p:sp>
        <p:nvSpPr>
          <p:cNvPr id="51" name="detail-SEP">
            <a:extLst>
              <a:ext uri="{FF2B5EF4-FFF2-40B4-BE49-F238E27FC236}">
                <a16:creationId xmlns:a16="http://schemas.microsoft.com/office/drawing/2014/main" id="{3B0A8F77-ED11-49CF-AD31-85D6351CEA25}"/>
              </a:ext>
            </a:extLst>
          </p:cNvPr>
          <p:cNvSpPr>
            <a:spLocks noGrp="1"/>
          </p:cNvSpPr>
          <p:nvPr/>
        </p:nvSpPr>
        <p:spPr>
          <a:xfrm>
            <a:off x="6364061" y="3238500"/>
            <a:ext cx="1066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60" b="0">
                <a:solidFill>
                  <a:srgbClr val="A8A8BA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A8A8BA"/>
                </a:solidFill>
                <a:latin typeface="Aptos"/>
                <a:ea typeface="Aptos"/>
                <a:cs typeface="Aptos"/>
              </a:rPr>
              <a:t>Shared workspaces and RBAC.</a:t>
            </a:r>
          </a:p>
        </p:txBody>
      </p:sp>
      <p:sp>
        <p:nvSpPr>
          <p:cNvPr id="52" name="connector-OCT">
            <a:extLst>
              <a:ext uri="{FF2B5EF4-FFF2-40B4-BE49-F238E27FC236}">
                <a16:creationId xmlns:a16="http://schemas.microsoft.com/office/drawing/2014/main" id="{5AAFF327-2FFF-4255-854F-F7E1912687C4}"/>
              </a:ext>
            </a:extLst>
          </p:cNvPr>
          <p:cNvSpPr>
            <a:spLocks noGrp="1"/>
          </p:cNvSpPr>
          <p:nvPr/>
        </p:nvSpPr>
        <p:spPr>
          <a:xfrm>
            <a:off x="8471807" y="3981450"/>
            <a:ext cx="14288" cy="457200"/>
          </a:xfrm>
          <a:prstGeom prst="rect">
            <a:avLst/>
          </a:prstGeom>
          <a:solidFill>
            <a:srgbClr val="00D4AA">
              <a:alpha val="6666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53" name="dot-OCT">
            <a:extLst>
              <a:ext uri="{FF2B5EF4-FFF2-40B4-BE49-F238E27FC236}">
                <a16:creationId xmlns:a16="http://schemas.microsoft.com/office/drawing/2014/main" id="{93E963B7-3CBF-47A5-B835-3D7A3FDC0F0C}"/>
              </a:ext>
            </a:extLst>
          </p:cNvPr>
          <p:cNvSpPr>
            <a:spLocks noGrp="1"/>
          </p:cNvSpPr>
          <p:nvPr/>
        </p:nvSpPr>
        <p:spPr>
          <a:xfrm>
            <a:off x="8386082" y="3895725"/>
            <a:ext cx="171450" cy="171450"/>
          </a:xfrm>
          <a:prstGeom prst="ellipse">
            <a:avLst/>
          </a:prstGeom>
          <a:solidFill>
            <a:srgbClr val="00D4AA"/>
          </a:solidFill>
          <a:ln w="19050">
            <a:solidFill>
              <a:srgbClr val="14141E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54" name="month-OCT">
            <a:extLst>
              <a:ext uri="{FF2B5EF4-FFF2-40B4-BE49-F238E27FC236}">
                <a16:creationId xmlns:a16="http://schemas.microsoft.com/office/drawing/2014/main" id="{40E014E0-C90C-43B8-B1AF-FB151F381BB4}"/>
              </a:ext>
            </a:extLst>
          </p:cNvPr>
          <p:cNvSpPr>
            <a:spLocks noGrp="1"/>
          </p:cNvSpPr>
          <p:nvPr/>
        </p:nvSpPr>
        <p:spPr>
          <a:xfrm>
            <a:off x="8205107" y="3562350"/>
            <a:ext cx="533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00D4AA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00D4AA"/>
                </a:solidFill>
                <a:latin typeface="Aptos Mono"/>
                <a:ea typeface="Aptos Mono"/>
                <a:cs typeface="Aptos Mono"/>
              </a:rPr>
              <a:t>OCT</a:t>
            </a:r>
          </a:p>
        </p:txBody>
      </p:sp>
      <p:sp>
        <p:nvSpPr>
          <p:cNvPr id="55" name="milestone-card-OCT">
            <a:extLst>
              <a:ext uri="{FF2B5EF4-FFF2-40B4-BE49-F238E27FC236}">
                <a16:creationId xmlns:a16="http://schemas.microsoft.com/office/drawing/2014/main" id="{3876477E-DA84-4ABB-8300-53F5EB71B041}"/>
              </a:ext>
            </a:extLst>
          </p:cNvPr>
          <p:cNvSpPr>
            <a:spLocks noGrp="1"/>
          </p:cNvSpPr>
          <p:nvPr/>
        </p:nvSpPr>
        <p:spPr>
          <a:xfrm>
            <a:off x="7814582" y="4438650"/>
            <a:ext cx="1314450" cy="781050"/>
          </a:xfrm>
          <a:prstGeom prst="rect">
            <a:avLst/>
          </a:prstGeom>
          <a:solidFill>
            <a:srgbClr val="1A1A28"/>
          </a:solidFill>
          <a:ln w="9525">
            <a:solidFill>
              <a:srgbClr val="00D4AA">
                <a:alpha val="53333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56" name="milestone-accent-OCT">
            <a:extLst>
              <a:ext uri="{FF2B5EF4-FFF2-40B4-BE49-F238E27FC236}">
                <a16:creationId xmlns:a16="http://schemas.microsoft.com/office/drawing/2014/main" id="{371BB80A-BA60-4D27-B232-9B243E24A854}"/>
              </a:ext>
            </a:extLst>
          </p:cNvPr>
          <p:cNvSpPr>
            <a:spLocks noGrp="1"/>
          </p:cNvSpPr>
          <p:nvPr/>
        </p:nvSpPr>
        <p:spPr>
          <a:xfrm>
            <a:off x="7814582" y="4438650"/>
            <a:ext cx="28575" cy="781050"/>
          </a:xfrm>
          <a:prstGeom prst="rect">
            <a:avLst/>
          </a:prstGeom>
          <a:solidFill>
            <a:srgbClr val="00D4A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57" name="title-OCT">
            <a:extLst>
              <a:ext uri="{FF2B5EF4-FFF2-40B4-BE49-F238E27FC236}">
                <a16:creationId xmlns:a16="http://schemas.microsoft.com/office/drawing/2014/main" id="{C7EE9E90-F613-46A7-B9E0-FB04A603B020}"/>
              </a:ext>
            </a:extLst>
          </p:cNvPr>
          <p:cNvSpPr>
            <a:spLocks noGrp="1"/>
          </p:cNvSpPr>
          <p:nvPr/>
        </p:nvSpPr>
        <p:spPr>
          <a:xfrm>
            <a:off x="7947932" y="4552950"/>
            <a:ext cx="1066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EDEDF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DEDF0"/>
                </a:solidFill>
                <a:latin typeface="Aptos"/>
                <a:ea typeface="Aptos"/>
                <a:cs typeface="Aptos"/>
              </a:rPr>
              <a:t>Trace imports</a:t>
            </a:r>
          </a:p>
        </p:txBody>
      </p:sp>
      <p:sp>
        <p:nvSpPr>
          <p:cNvPr id="58" name="detail-OCT">
            <a:extLst>
              <a:ext uri="{FF2B5EF4-FFF2-40B4-BE49-F238E27FC236}">
                <a16:creationId xmlns:a16="http://schemas.microsoft.com/office/drawing/2014/main" id="{A00DAD13-C086-4546-AA33-00366A12C16F}"/>
              </a:ext>
            </a:extLst>
          </p:cNvPr>
          <p:cNvSpPr>
            <a:spLocks noGrp="1"/>
          </p:cNvSpPr>
          <p:nvPr/>
        </p:nvSpPr>
        <p:spPr>
          <a:xfrm>
            <a:off x="7947932" y="4838700"/>
            <a:ext cx="1066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60" b="0">
                <a:solidFill>
                  <a:srgbClr val="A8A8BA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A8A8BA"/>
                </a:solidFill>
                <a:latin typeface="Aptos"/>
                <a:ea typeface="Aptos"/>
                <a:cs typeface="Aptos"/>
              </a:rPr>
              <a:t>Langfuse context enrichment.</a:t>
            </a:r>
          </a:p>
        </p:txBody>
      </p:sp>
      <p:sp>
        <p:nvSpPr>
          <p:cNvPr id="59" name="connector-NOV">
            <a:extLst>
              <a:ext uri="{FF2B5EF4-FFF2-40B4-BE49-F238E27FC236}">
                <a16:creationId xmlns:a16="http://schemas.microsoft.com/office/drawing/2014/main" id="{66EA33A7-203D-4354-8458-37F2A01D5C59}"/>
              </a:ext>
            </a:extLst>
          </p:cNvPr>
          <p:cNvSpPr>
            <a:spLocks noGrp="1"/>
          </p:cNvSpPr>
          <p:nvPr/>
        </p:nvSpPr>
        <p:spPr>
          <a:xfrm>
            <a:off x="10055679" y="3619500"/>
            <a:ext cx="14288" cy="361950"/>
          </a:xfrm>
          <a:prstGeom prst="rect">
            <a:avLst/>
          </a:prstGeom>
          <a:solidFill>
            <a:srgbClr val="10B981">
              <a:alpha val="6666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60" name="dot-NOV">
            <a:extLst>
              <a:ext uri="{FF2B5EF4-FFF2-40B4-BE49-F238E27FC236}">
                <a16:creationId xmlns:a16="http://schemas.microsoft.com/office/drawing/2014/main" id="{FA7956C4-D984-43A7-B28F-7F974D21E0B6}"/>
              </a:ext>
            </a:extLst>
          </p:cNvPr>
          <p:cNvSpPr>
            <a:spLocks noGrp="1"/>
          </p:cNvSpPr>
          <p:nvPr/>
        </p:nvSpPr>
        <p:spPr>
          <a:xfrm>
            <a:off x="9969954" y="3895725"/>
            <a:ext cx="171450" cy="171450"/>
          </a:xfrm>
          <a:prstGeom prst="ellipse">
            <a:avLst/>
          </a:prstGeom>
          <a:solidFill>
            <a:srgbClr val="10B981"/>
          </a:solidFill>
          <a:ln w="19050">
            <a:solidFill>
              <a:srgbClr val="14141E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61" name="month-NOV">
            <a:extLst>
              <a:ext uri="{FF2B5EF4-FFF2-40B4-BE49-F238E27FC236}">
                <a16:creationId xmlns:a16="http://schemas.microsoft.com/office/drawing/2014/main" id="{1045B55D-B257-4F1C-AE57-F6AC7F2C1698}"/>
              </a:ext>
            </a:extLst>
          </p:cNvPr>
          <p:cNvSpPr>
            <a:spLocks noGrp="1"/>
          </p:cNvSpPr>
          <p:nvPr/>
        </p:nvSpPr>
        <p:spPr>
          <a:xfrm>
            <a:off x="9788979" y="3724275"/>
            <a:ext cx="533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0B981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10B981"/>
                </a:solidFill>
                <a:latin typeface="Aptos Mono"/>
                <a:ea typeface="Aptos Mono"/>
                <a:cs typeface="Aptos Mono"/>
              </a:rPr>
              <a:t>NOV</a:t>
            </a:r>
          </a:p>
        </p:txBody>
      </p:sp>
      <p:sp>
        <p:nvSpPr>
          <p:cNvPr id="62" name="milestone-card-NOV">
            <a:extLst>
              <a:ext uri="{FF2B5EF4-FFF2-40B4-BE49-F238E27FC236}">
                <a16:creationId xmlns:a16="http://schemas.microsoft.com/office/drawing/2014/main" id="{908D7AF0-54B3-49B7-9267-615AD4D25336}"/>
              </a:ext>
            </a:extLst>
          </p:cNvPr>
          <p:cNvSpPr>
            <a:spLocks noGrp="1"/>
          </p:cNvSpPr>
          <p:nvPr/>
        </p:nvSpPr>
        <p:spPr>
          <a:xfrm>
            <a:off x="9398454" y="2838450"/>
            <a:ext cx="1314450" cy="781050"/>
          </a:xfrm>
          <a:prstGeom prst="rect">
            <a:avLst/>
          </a:prstGeom>
          <a:solidFill>
            <a:srgbClr val="222232"/>
          </a:solidFill>
          <a:ln w="9525">
            <a:solidFill>
              <a:srgbClr val="10B981">
                <a:alpha val="53333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63" name="milestone-accent-NOV">
            <a:extLst>
              <a:ext uri="{FF2B5EF4-FFF2-40B4-BE49-F238E27FC236}">
                <a16:creationId xmlns:a16="http://schemas.microsoft.com/office/drawing/2014/main" id="{E562D1D8-38AB-490E-B6B3-29C60C8A9FB3}"/>
              </a:ext>
            </a:extLst>
          </p:cNvPr>
          <p:cNvSpPr>
            <a:spLocks noGrp="1"/>
          </p:cNvSpPr>
          <p:nvPr/>
        </p:nvSpPr>
        <p:spPr>
          <a:xfrm>
            <a:off x="9398454" y="2838450"/>
            <a:ext cx="28575" cy="781050"/>
          </a:xfrm>
          <a:prstGeom prst="rect">
            <a:avLst/>
          </a:prstGeom>
          <a:solidFill>
            <a:srgbClr val="10B98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64" name="title-NOV">
            <a:extLst>
              <a:ext uri="{FF2B5EF4-FFF2-40B4-BE49-F238E27FC236}">
                <a16:creationId xmlns:a16="http://schemas.microsoft.com/office/drawing/2014/main" id="{A64AD3CB-CCF5-4C5D-8897-DBE4CCC8297C}"/>
              </a:ext>
            </a:extLst>
          </p:cNvPr>
          <p:cNvSpPr>
            <a:spLocks noGrp="1"/>
          </p:cNvSpPr>
          <p:nvPr/>
        </p:nvSpPr>
        <p:spPr>
          <a:xfrm>
            <a:off x="9531804" y="2952750"/>
            <a:ext cx="1066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EDEDF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DEDF0"/>
                </a:solidFill>
                <a:latin typeface="Aptos"/>
                <a:ea typeface="Aptos"/>
                <a:cs typeface="Aptos"/>
              </a:rPr>
              <a:t>Agent CLI</a:t>
            </a:r>
          </a:p>
        </p:txBody>
      </p:sp>
      <p:sp>
        <p:nvSpPr>
          <p:cNvPr id="65" name="detail-NOV">
            <a:extLst>
              <a:ext uri="{FF2B5EF4-FFF2-40B4-BE49-F238E27FC236}">
                <a16:creationId xmlns:a16="http://schemas.microsoft.com/office/drawing/2014/main" id="{D8DB6A48-9ABF-4BF0-90A7-DF68A9E1FAFB}"/>
              </a:ext>
            </a:extLst>
          </p:cNvPr>
          <p:cNvSpPr>
            <a:spLocks noGrp="1"/>
          </p:cNvSpPr>
          <p:nvPr/>
        </p:nvSpPr>
        <p:spPr>
          <a:xfrm>
            <a:off x="9531804" y="3238500"/>
            <a:ext cx="1066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60" b="0">
                <a:solidFill>
                  <a:srgbClr val="A8A8BA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A8A8BA"/>
                </a:solidFill>
                <a:latin typeface="Aptos"/>
                <a:ea typeface="Aptos"/>
                <a:cs typeface="Aptos"/>
              </a:rPr>
              <a:t>Health checks and JSON flows.</a:t>
            </a:r>
          </a:p>
        </p:txBody>
      </p:sp>
      <p:sp>
        <p:nvSpPr>
          <p:cNvPr id="66" name="connector-DEC">
            <a:extLst>
              <a:ext uri="{FF2B5EF4-FFF2-40B4-BE49-F238E27FC236}">
                <a16:creationId xmlns:a16="http://schemas.microsoft.com/office/drawing/2014/main" id="{986AD770-45D6-49F7-85CF-B63C04041CA1}"/>
              </a:ext>
            </a:extLst>
          </p:cNvPr>
          <p:cNvSpPr>
            <a:spLocks noGrp="1"/>
          </p:cNvSpPr>
          <p:nvPr/>
        </p:nvSpPr>
        <p:spPr>
          <a:xfrm>
            <a:off x="11639550" y="3981450"/>
            <a:ext cx="14288" cy="457200"/>
          </a:xfrm>
          <a:prstGeom prst="rect">
            <a:avLst/>
          </a:prstGeom>
          <a:solidFill>
            <a:srgbClr val="F59E0B">
              <a:alpha val="6666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67" name="dot-DEC">
            <a:extLst>
              <a:ext uri="{FF2B5EF4-FFF2-40B4-BE49-F238E27FC236}">
                <a16:creationId xmlns:a16="http://schemas.microsoft.com/office/drawing/2014/main" id="{4DD435B3-B574-4650-8EA8-F6F146A29B06}"/>
              </a:ext>
            </a:extLst>
          </p:cNvPr>
          <p:cNvSpPr>
            <a:spLocks noGrp="1"/>
          </p:cNvSpPr>
          <p:nvPr/>
        </p:nvSpPr>
        <p:spPr>
          <a:xfrm>
            <a:off x="11553825" y="3895725"/>
            <a:ext cx="171450" cy="171450"/>
          </a:xfrm>
          <a:prstGeom prst="ellipse">
            <a:avLst/>
          </a:prstGeom>
          <a:solidFill>
            <a:srgbClr val="F59E0B"/>
          </a:solidFill>
          <a:ln w="19050">
            <a:solidFill>
              <a:srgbClr val="14141E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68" name="month-DEC">
            <a:extLst>
              <a:ext uri="{FF2B5EF4-FFF2-40B4-BE49-F238E27FC236}">
                <a16:creationId xmlns:a16="http://schemas.microsoft.com/office/drawing/2014/main" id="{FEB54916-3392-420B-8F50-FF0F338A7956}"/>
              </a:ext>
            </a:extLst>
          </p:cNvPr>
          <p:cNvSpPr>
            <a:spLocks noGrp="1"/>
          </p:cNvSpPr>
          <p:nvPr/>
        </p:nvSpPr>
        <p:spPr>
          <a:xfrm>
            <a:off x="11372850" y="3562350"/>
            <a:ext cx="533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F59E0B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59E0B"/>
                </a:solidFill>
                <a:latin typeface="Aptos Mono"/>
                <a:ea typeface="Aptos Mono"/>
                <a:cs typeface="Aptos Mono"/>
              </a:rPr>
              <a:t>DEC</a:t>
            </a:r>
          </a:p>
        </p:txBody>
      </p:sp>
      <p:sp>
        <p:nvSpPr>
          <p:cNvPr id="69" name="milestone-card-DEC">
            <a:extLst>
              <a:ext uri="{FF2B5EF4-FFF2-40B4-BE49-F238E27FC236}">
                <a16:creationId xmlns:a16="http://schemas.microsoft.com/office/drawing/2014/main" id="{EDBAE3D2-098E-458F-B6F5-7B7E9AF38D9A}"/>
              </a:ext>
            </a:extLst>
          </p:cNvPr>
          <p:cNvSpPr>
            <a:spLocks noGrp="1"/>
          </p:cNvSpPr>
          <p:nvPr/>
        </p:nvSpPr>
        <p:spPr>
          <a:xfrm>
            <a:off x="10496550" y="4438650"/>
            <a:ext cx="1314450" cy="781050"/>
          </a:xfrm>
          <a:prstGeom prst="rect">
            <a:avLst/>
          </a:prstGeom>
          <a:solidFill>
            <a:srgbClr val="1A1A28"/>
          </a:solidFill>
          <a:ln w="9525">
            <a:solidFill>
              <a:srgbClr val="F59E0B">
                <a:alpha val="53333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70" name="milestone-accent-DEC">
            <a:extLst>
              <a:ext uri="{FF2B5EF4-FFF2-40B4-BE49-F238E27FC236}">
                <a16:creationId xmlns:a16="http://schemas.microsoft.com/office/drawing/2014/main" id="{5B5270F9-A48C-43DE-AA8F-9C7E65FCBF7B}"/>
              </a:ext>
            </a:extLst>
          </p:cNvPr>
          <p:cNvSpPr>
            <a:spLocks noGrp="1"/>
          </p:cNvSpPr>
          <p:nvPr/>
        </p:nvSpPr>
        <p:spPr>
          <a:xfrm>
            <a:off x="10496550" y="4438650"/>
            <a:ext cx="28575" cy="781050"/>
          </a:xfrm>
          <a:prstGeom prst="rect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71" name="title-DEC">
            <a:extLst>
              <a:ext uri="{FF2B5EF4-FFF2-40B4-BE49-F238E27FC236}">
                <a16:creationId xmlns:a16="http://schemas.microsoft.com/office/drawing/2014/main" id="{5D627496-045C-46C8-A992-E6EA1FE69A01}"/>
              </a:ext>
            </a:extLst>
          </p:cNvPr>
          <p:cNvSpPr>
            <a:spLocks noGrp="1"/>
          </p:cNvSpPr>
          <p:nvPr/>
        </p:nvSpPr>
        <p:spPr>
          <a:xfrm>
            <a:off x="10629900" y="4552950"/>
            <a:ext cx="1066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EDEDF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DEDF0"/>
                </a:solidFill>
                <a:latin typeface="Aptos"/>
                <a:ea typeface="Aptos"/>
                <a:cs typeface="Aptos"/>
              </a:rPr>
              <a:t>Hosted admin</a:t>
            </a:r>
          </a:p>
        </p:txBody>
      </p:sp>
      <p:sp>
        <p:nvSpPr>
          <p:cNvPr id="72" name="detail-DEC">
            <a:extLst>
              <a:ext uri="{FF2B5EF4-FFF2-40B4-BE49-F238E27FC236}">
                <a16:creationId xmlns:a16="http://schemas.microsoft.com/office/drawing/2014/main" id="{3C9EEE5D-0BB1-466D-B885-E2924D69F8DF}"/>
              </a:ext>
            </a:extLst>
          </p:cNvPr>
          <p:cNvSpPr>
            <a:spLocks noGrp="1"/>
          </p:cNvSpPr>
          <p:nvPr/>
        </p:nvSpPr>
        <p:spPr>
          <a:xfrm>
            <a:off x="10629900" y="4838700"/>
            <a:ext cx="1066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60" b="0">
                <a:solidFill>
                  <a:srgbClr val="A8A8BA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A8A8BA"/>
                </a:solidFill>
                <a:latin typeface="Aptos"/>
                <a:ea typeface="Aptos"/>
                <a:cs typeface="Aptos"/>
              </a:rPr>
              <a:t>Org rollout and governance.</a:t>
            </a:r>
          </a:p>
        </p:txBody>
      </p:sp>
      <p:sp>
        <p:nvSpPr>
          <p:cNvPr id="75" name="page-marker">
            <a:extLst>
              <a:ext uri="{FF2B5EF4-FFF2-40B4-BE49-F238E27FC236}">
                <a16:creationId xmlns:a16="http://schemas.microsoft.com/office/drawing/2014/main" id="{25DC0D00-3F7F-478F-95B0-612401772974}"/>
              </a:ext>
            </a:extLst>
          </p:cNvPr>
          <p:cNvSpPr>
            <a:spLocks noGrp="1"/>
          </p:cNvSpPr>
          <p:nvPr/>
        </p:nvSpPr>
        <p:spPr>
          <a:xfrm>
            <a:off x="11087100" y="6286500"/>
            <a:ext cx="3238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7A7A90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7A7A90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77598797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</Words>
  <Application>Microsoft Macintosh PowerPoint</Application>
  <DocSecurity>0</DocSecurity>
  <PresentationFormat>Widescreen</PresentationFormat>
  <Paragraphs>26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Aptos Mono</vt:lpstr>
      <vt:lpstr>Calibri</vt:lpstr>
      <vt:lpstr>ChatGPT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Faisal Bin Hussein</cp:lastModifiedBy>
  <cp:revision>1</cp:revision>
  <dcterms:created xsi:type="dcterms:W3CDTF">2026-06-04T07:53:58Z</dcterms:created>
  <dcterms:modified xsi:type="dcterms:W3CDTF">2026-06-04T08:06:32Z</dcterms:modified>
</cp:coreProperties>
</file>