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96939c28d947c8" /><Relationship Type="http://schemas.openxmlformats.org/officeDocument/2006/relationships/extended-properties" Target="/docProps/app.xml" Id="R31b1081cae8d4b99" /><Relationship Type="http://schemas.openxmlformats.org/officeDocument/2006/relationships/officeDocument" Target="/ppt/presentation.xml" Id="R6c7fdabbe6534f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4707be91e042dd"/>
  </p:sldMasterIdLst>
  <p:notesMasterIdLst>
    <p:notesMasterId xmlns:r="http://schemas.openxmlformats.org/officeDocument/2006/relationships" r:id="R5ad870a8c50846f0"/>
  </p:notesMasterIdLst>
  <p:sldIdLst>
    <p:sldId xmlns:r="http://schemas.openxmlformats.org/officeDocument/2006/relationships" id="256" r:id="R87fc8e680a974d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707be91e042dd" /><Relationship Type="http://schemas.openxmlformats.org/officeDocument/2006/relationships/theme" Target="/ppt/theme/theme1.xml" Id="R6b113d21520b4507" /><Relationship Type="http://schemas.openxmlformats.org/officeDocument/2006/relationships/notesMaster" Target="/ppt/notesMasters/notesMaster1.xml" Id="R5ad870a8c50846f0" /><Relationship Type="http://schemas.openxmlformats.org/officeDocument/2006/relationships/presProps" Target="/ppt/presProps.xml" Id="R7b371a36dd894311" /><Relationship Type="http://schemas.openxmlformats.org/officeDocument/2006/relationships/viewProps" Target="/ppt/viewProps.xml" Id="Rc7d253299f3e4d84" /><Relationship Type="http://schemas.openxmlformats.org/officeDocument/2006/relationships/tableStyles" Target="/ppt/tableStyles.xml" Id="Red253dca53c84f3a" /><Relationship Type="http://schemas.openxmlformats.org/officeDocument/2006/relationships/slide" Target="/ppt/slides/slide1.xml" Id="R87fc8e680a974d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1fdf4c58e8841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aaf2e5d52c4298" /><Relationship Type="http://schemas.openxmlformats.org/officeDocument/2006/relationships/notesMaster" Target="/ppt/notesMasters/notesMaster1.xml" Id="Rb48f2ef7f70c45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cefa70a554c5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ffc73c055be4f21" /><Relationship Type="http://schemas.openxmlformats.org/officeDocument/2006/relationships/slideLayout" Target="/ppt/slideLayouts/slideLayout2.xml" Id="Rfb1372f4491f42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1372f4491f42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017fef2e6c4e60" /><Relationship Type="http://schemas.openxmlformats.org/officeDocument/2006/relationships/image" Target="/ppt/media/image.png" Id="Rc77f11059a8e421f" /><Relationship Type="http://schemas.openxmlformats.org/officeDocument/2006/relationships/image" Target="/ppt/media/image2.png" Id="R26a1dfeea14c409a" /><Relationship Type="http://schemas.openxmlformats.org/officeDocument/2006/relationships/notesSlide" Target="/ppt/notesSlides/notesSlide1.xml" Id="Rbf3a080fb0c64b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DC5455D-E935-49B5-B14B-3B48A445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shboard-sidebar">
            <a:extLst xmlns:a="http://schemas.openxmlformats.org/drawingml/2006/main">
              <a:ext uri="{FF2B5EF4-FFF2-40B4-BE49-F238E27FC236}">
                <a16:creationId xmlns:a16="http://schemas.microsoft.com/office/drawing/2014/main" id="{EA4E3BF4-8968-4B4F-8327-9DD7B170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7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idebar-rule">
            <a:extLst xmlns:a="http://schemas.openxmlformats.org/drawingml/2006/main">
              <a:ext uri="{FF2B5EF4-FFF2-40B4-BE49-F238E27FC236}">
                <a16:creationId xmlns:a16="http://schemas.microsoft.com/office/drawing/2014/main" id="{A1E380AC-FD1B-44B0-9B17-FCA7EF40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dashboard-topbar">
            <a:extLst xmlns:a="http://schemas.openxmlformats.org/drawingml/2006/main">
              <a:ext uri="{FF2B5EF4-FFF2-40B4-BE49-F238E27FC236}">
                <a16:creationId xmlns:a16="http://schemas.microsoft.com/office/drawing/2014/main" id="{2E8228E7-F283-4889-B914-43528F06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10515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opbar-rule">
            <a:extLst xmlns:a="http://schemas.openxmlformats.org/drawingml/2006/main">
              <a:ext uri="{FF2B5EF4-FFF2-40B4-BE49-F238E27FC236}">
                <a16:creationId xmlns:a16="http://schemas.microsoft.com/office/drawing/2014/main" id="{7D0A33D3-61F7-42A8-88F6-8A270682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f11059a8e421f"/>
          <a:stretch xmlns:a="http://schemas.openxmlformats.org/drawingml/2006/main"/>
        </p:blipFill>
        <p:spPr>
          <a:xfrm xmlns:a="http://schemas.openxmlformats.org/drawingml/2006/main">
            <a:off x="304800" y="266850"/>
            <a:ext cx="381000" cy="380701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1dfeea14c409a"/>
          <a:stretch xmlns:a="http://schemas.openxmlformats.org/drawingml/2006/main"/>
        </p:blipFill>
        <p:spPr>
          <a:xfrm xmlns:a="http://schemas.openxmlformats.org/drawingml/2006/main">
            <a:off x="781050" y="248591"/>
            <a:ext cx="685800" cy="436269"/>
          </a:xfrm>
          <a:prstGeom xmlns:a="http://schemas.openxmlformats.org/drawingml/2006/main" prst="rect">
            <a:avLst/>
          </a:prstGeom>
        </p:spPr>
      </p:pic>
      <p:sp>
        <p:nvSpPr>
          <p:cNvPr id="8" name="sidebar-section-label">
            <a:extLst xmlns:a="http://schemas.openxmlformats.org/drawingml/2006/main">
              <a:ext uri="{FF2B5EF4-FFF2-40B4-BE49-F238E27FC236}">
                <a16:creationId xmlns:a16="http://schemas.microsoft.com/office/drawing/2014/main" id="{D21CA105-1241-4EEE-B874-673D07F9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287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0505E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0505E"/>
                </a:solidFill>
                <a:latin typeface="Aptos Mono"/>
                <a:ea typeface="Aptos Mono"/>
                <a:cs typeface="Aptos Mono"/>
              </a:rPr>
              <a:t>PLATFORM</a:t>
            </a:r>
          </a:p>
        </p:txBody>
      </p:sp>
      <p:sp>
        <p:nvSpPr>
          <p:cNvPr id="9" name="sidebar-nav-runs">
            <a:extLst xmlns:a="http://schemas.openxmlformats.org/drawingml/2006/main">
              <a:ext uri="{FF2B5EF4-FFF2-40B4-BE49-F238E27FC236}">
                <a16:creationId xmlns:a16="http://schemas.microsoft.com/office/drawing/2014/main" id="{CD7786F8-0169-41F6-95A7-595BFD7A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Runs</a:t>
            </a:r>
          </a:p>
        </p:txBody>
      </p:sp>
      <p:sp>
        <p:nvSpPr>
          <p:cNvPr id="10" name="sidebar-nav-reviews">
            <a:extLst xmlns:a="http://schemas.openxmlformats.org/drawingml/2006/main">
              <a:ext uri="{FF2B5EF4-FFF2-40B4-BE49-F238E27FC236}">
                <a16:creationId xmlns:a16="http://schemas.microsoft.com/office/drawing/2014/main" id="{9049A115-2134-4AA1-A7FE-681F5D62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76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11" name="sidebar-nav-datasets">
            <a:extLst xmlns:a="http://schemas.openxmlformats.org/drawingml/2006/main">
              <a:ext uri="{FF2B5EF4-FFF2-40B4-BE49-F238E27FC236}">
                <a16:creationId xmlns:a16="http://schemas.microsoft.com/office/drawing/2014/main" id="{2635FFCF-2CCD-48BD-B86D-CFEFC906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19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Datasets</a:t>
            </a:r>
          </a:p>
        </p:txBody>
      </p:sp>
      <p:sp>
        <p:nvSpPr>
          <p:cNvPr id="12" name="active-nav-row">
            <a:extLst xmlns:a="http://schemas.openxmlformats.org/drawingml/2006/main">
              <a:ext uri="{FF2B5EF4-FFF2-40B4-BE49-F238E27FC236}">
                <a16:creationId xmlns:a16="http://schemas.microsoft.com/office/drawing/2014/main" id="{D83C265A-E901-4B45-990A-841D6AA0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14575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active-nav-accent">
            <a:extLst xmlns:a="http://schemas.openxmlformats.org/drawingml/2006/main">
              <a:ext uri="{FF2B5EF4-FFF2-40B4-BE49-F238E27FC236}">
                <a16:creationId xmlns:a16="http://schemas.microsoft.com/office/drawing/2014/main" id="{0BA1E4BD-2182-452B-8FC1-002DFF63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717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idebar-nav-roadmap">
            <a:extLst xmlns:a="http://schemas.openxmlformats.org/drawingml/2006/main">
              <a:ext uri="{FF2B5EF4-FFF2-40B4-BE49-F238E27FC236}">
                <a16:creationId xmlns:a16="http://schemas.microsoft.com/office/drawing/2014/main" id="{04847A6E-DD6C-4BC3-AD26-742B08AC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622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5" name="breadcrumb">
            <a:extLst xmlns:a="http://schemas.openxmlformats.org/drawingml/2006/main">
              <a:ext uri="{FF2B5EF4-FFF2-40B4-BE49-F238E27FC236}">
                <a16:creationId xmlns:a16="http://schemas.microsoft.com/office/drawing/2014/main" id="{5717239D-D588-4434-8FC2-4BAFA47E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19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A8B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8A8BA"/>
                </a:solidFill>
                <a:latin typeface="Aptos Mono"/>
                <a:ea typeface="Aptos Mono"/>
                <a:cs typeface="Aptos Mono"/>
              </a:rPr>
              <a:t>qym / product / roadmap</a:t>
            </a:r>
          </a:p>
        </p:txBody>
      </p:sp>
      <p:sp>
        <p:nvSpPr>
          <p:cNvPr id="16" name="topbar-status">
            <a:extLst xmlns:a="http://schemas.openxmlformats.org/drawingml/2006/main">
              <a:ext uri="{FF2B5EF4-FFF2-40B4-BE49-F238E27FC236}">
                <a16:creationId xmlns:a16="http://schemas.microsoft.com/office/drawing/2014/main" id="{3AA0201A-29CF-4218-BC4C-D2DB5152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May-Dec feature plan</a:t>
            </a:r>
          </a:p>
        </p:txBody>
      </p:sp>
      <p:sp>
        <p:nvSpPr>
          <p:cNvPr id="1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E8175FC-CEAB-4717-B2C1-CA26CE89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83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A1914C-C7AE-4013-9399-CC66B40F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62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PRODUCT ROADMAP</a:t>
            </a:r>
          </a:p>
        </p:txBody>
      </p:sp>
      <p:sp>
        <p:nvSpPr>
          <p:cNvPr id="19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190A864-F4EA-4BD9-84C9-25F02E70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066800"/>
            <a:ext cx="7334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Roadmap turns qym from local evaluations into an operating platform.</a:t>
            </a:r>
          </a:p>
        </p:txBody>
      </p:sp>
      <p:sp>
        <p:nvSpPr>
          <p:cNvPr id="20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ACF39588-BA7A-4FC9-B710-3E6E9AC0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71675"/>
            <a:ext cx="7286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Monthly milestones connect evaluation workflows, analysis intelligence, and platform operations. Feature text is editable placeholder copy.</a:t>
            </a:r>
          </a:p>
        </p:txBody>
      </p:sp>
      <p:sp>
        <p:nvSpPr>
          <p:cNvPr id="21" name="cadence-panel">
            <a:extLst xmlns:a="http://schemas.openxmlformats.org/drawingml/2006/main">
              <a:ext uri="{FF2B5EF4-FFF2-40B4-BE49-F238E27FC236}">
                <a16:creationId xmlns:a16="http://schemas.microsoft.com/office/drawing/2014/main" id="{B92DECFF-6D8C-4EA6-99D3-9242934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90600"/>
            <a:ext cx="1924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333348"/>
            </a:solidFill>
            <a:prstDash val="solid"/>
          </a:ln>
        </p:spPr>
      </p:sp>
      <p:sp>
        <p:nvSpPr>
          <p:cNvPr id="22" name="cadence-value">
            <a:extLst xmlns:a="http://schemas.openxmlformats.org/drawingml/2006/main">
              <a:ext uri="{FF2B5EF4-FFF2-40B4-BE49-F238E27FC236}">
                <a16:creationId xmlns:a16="http://schemas.microsoft.com/office/drawing/2014/main" id="{67EFD713-2641-473E-96C2-71279D1C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123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  <p:sp>
        <p:nvSpPr>
          <p:cNvPr id="23" name="cadence-label">
            <a:extLst xmlns:a="http://schemas.openxmlformats.org/drawingml/2006/main">
              <a:ext uri="{FF2B5EF4-FFF2-40B4-BE49-F238E27FC236}">
                <a16:creationId xmlns:a16="http://schemas.microsoft.com/office/drawing/2014/main" id="{462D0150-D092-4C9E-856D-582B930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181100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monthly milestones</a:t>
            </a:r>
          </a:p>
        </p:txBody>
      </p:sp>
      <p:sp>
        <p:nvSpPr>
          <p:cNvPr id="24" name="cadence-context">
            <a:extLst xmlns:a="http://schemas.openxmlformats.org/drawingml/2006/main">
              <a:ext uri="{FF2B5EF4-FFF2-40B4-BE49-F238E27FC236}">
                <a16:creationId xmlns:a16="http://schemas.microsoft.com/office/drawing/2014/main" id="{9330FC3E-DF9E-41DC-AAEB-5E3633EF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81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May through December</a:t>
            </a:r>
          </a:p>
        </p:txBody>
      </p:sp>
      <p:sp>
        <p:nvSpPr>
          <p:cNvPr id="25" name="roadmap-surface">
            <a:extLst xmlns:a="http://schemas.openxmlformats.org/drawingml/2006/main">
              <a:ext uri="{FF2B5EF4-FFF2-40B4-BE49-F238E27FC236}">
                <a16:creationId xmlns:a16="http://schemas.microsoft.com/office/drawing/2014/main" id="{DFFA4769-0D37-4AB2-8824-7513DBD4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00300"/>
            <a:ext cx="9848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9525">
            <a:solidFill>
              <a:srgbClr val="252536"/>
            </a:solidFill>
            <a:prstDash val="solid"/>
          </a:ln>
        </p:spPr>
      </p:sp>
      <p:sp>
        <p:nvSpPr>
          <p:cNvPr id="26" name="roadmap-top-rule">
            <a:extLst xmlns:a="http://schemas.openxmlformats.org/drawingml/2006/main">
              <a:ext uri="{FF2B5EF4-FFF2-40B4-BE49-F238E27FC236}">
                <a16:creationId xmlns:a16="http://schemas.microsoft.com/office/drawing/2014/main" id="{C4781B27-DCB0-40A5-9922-D0C4F0E0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00300"/>
            <a:ext cx="984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month-rule-MAY">
            <a:extLst xmlns:a="http://schemas.openxmlformats.org/drawingml/2006/main">
              <a:ext uri="{FF2B5EF4-FFF2-40B4-BE49-F238E27FC236}">
                <a16:creationId xmlns:a16="http://schemas.microsoft.com/office/drawing/2014/main" id="{3359C685-6EED-472A-9525-60E91040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month-label-MAY">
            <a:extLst xmlns:a="http://schemas.openxmlformats.org/drawingml/2006/main">
              <a:ext uri="{FF2B5EF4-FFF2-40B4-BE49-F238E27FC236}">
                <a16:creationId xmlns:a16="http://schemas.microsoft.com/office/drawing/2014/main" id="{6F0EE736-8443-4ABD-8D6E-CE6F67E5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76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29" name="month-rule-JUN">
            <a:extLst xmlns:a="http://schemas.openxmlformats.org/drawingml/2006/main">
              <a:ext uri="{FF2B5EF4-FFF2-40B4-BE49-F238E27FC236}">
                <a16:creationId xmlns:a16="http://schemas.microsoft.com/office/drawing/2014/main" id="{9D7514ED-1A55-4D88-942D-2AAF99DD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264" y="266700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month-label-JUN">
            <a:extLst xmlns:a="http://schemas.openxmlformats.org/drawingml/2006/main">
              <a:ext uri="{FF2B5EF4-FFF2-40B4-BE49-F238E27FC236}">
                <a16:creationId xmlns:a16="http://schemas.microsoft.com/office/drawing/2014/main" id="{8C10E336-2638-4DD3-A34A-90CBB074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514" y="2476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31" name="month-rule-JUL">
            <a:extLst xmlns:a="http://schemas.openxmlformats.org/drawingml/2006/main">
              <a:ext uri="{FF2B5EF4-FFF2-40B4-BE49-F238E27FC236}">
                <a16:creationId xmlns:a16="http://schemas.microsoft.com/office/drawing/2014/main" id="{14EB12E7-3659-4401-822A-E4589ECA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379" y="266700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month-label-JUL">
            <a:extLst xmlns:a="http://schemas.openxmlformats.org/drawingml/2006/main">
              <a:ext uri="{FF2B5EF4-FFF2-40B4-BE49-F238E27FC236}">
                <a16:creationId xmlns:a16="http://schemas.microsoft.com/office/drawing/2014/main" id="{862ABCCB-182B-4B9B-9F39-ACDF0169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629" y="2476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33" name="month-rule-AUG">
            <a:extLst xmlns:a="http://schemas.openxmlformats.org/drawingml/2006/main">
              <a:ext uri="{FF2B5EF4-FFF2-40B4-BE49-F238E27FC236}">
                <a16:creationId xmlns:a16="http://schemas.microsoft.com/office/drawing/2014/main" id="{DB66DC2A-8839-4F08-9A2B-01BE703E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493" y="266700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month-label-AUG">
            <a:extLst xmlns:a="http://schemas.openxmlformats.org/drawingml/2006/main">
              <a:ext uri="{FF2B5EF4-FFF2-40B4-BE49-F238E27FC236}">
                <a16:creationId xmlns:a16="http://schemas.microsoft.com/office/drawing/2014/main" id="{27A12AD5-4961-4A42-BB8A-4AAEDFF4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743" y="2476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35" name="month-rule-SEP">
            <a:extLst xmlns:a="http://schemas.openxmlformats.org/drawingml/2006/main">
              <a:ext uri="{FF2B5EF4-FFF2-40B4-BE49-F238E27FC236}">
                <a16:creationId xmlns:a16="http://schemas.microsoft.com/office/drawing/2014/main" id="{F003E056-0FE9-4C2D-80C7-9B38D345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607" y="266700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month-label-SEP">
            <a:extLst xmlns:a="http://schemas.openxmlformats.org/drawingml/2006/main">
              <a:ext uri="{FF2B5EF4-FFF2-40B4-BE49-F238E27FC236}">
                <a16:creationId xmlns:a16="http://schemas.microsoft.com/office/drawing/2014/main" id="{E13D2DF0-DCCB-4180-9684-1E7DB5ED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857" y="2476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37" name="month-rule-OCT">
            <a:extLst xmlns:a="http://schemas.openxmlformats.org/drawingml/2006/main">
              <a:ext uri="{FF2B5EF4-FFF2-40B4-BE49-F238E27FC236}">
                <a16:creationId xmlns:a16="http://schemas.microsoft.com/office/drawing/2014/main" id="{7E94D112-2FE5-44CB-9EB8-C46F989C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721" y="266700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month-label-OCT">
            <a:extLst xmlns:a="http://schemas.openxmlformats.org/drawingml/2006/main">
              <a:ext uri="{FF2B5EF4-FFF2-40B4-BE49-F238E27FC236}">
                <a16:creationId xmlns:a16="http://schemas.microsoft.com/office/drawing/2014/main" id="{D514647D-5364-454E-A9CD-09EDD4A9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971" y="2476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39" name="month-rule-NOV">
            <a:extLst xmlns:a="http://schemas.openxmlformats.org/drawingml/2006/main">
              <a:ext uri="{FF2B5EF4-FFF2-40B4-BE49-F238E27FC236}">
                <a16:creationId xmlns:a16="http://schemas.microsoft.com/office/drawing/2014/main" id="{B9D4E08F-B1C2-47D7-A8A3-146AC3B5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836" y="266700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month-label-NOV">
            <a:extLst xmlns:a="http://schemas.openxmlformats.org/drawingml/2006/main">
              <a:ext uri="{FF2B5EF4-FFF2-40B4-BE49-F238E27FC236}">
                <a16:creationId xmlns:a16="http://schemas.microsoft.com/office/drawing/2014/main" id="{991C0760-B2BA-48F0-A99E-281424AA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086" y="2476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41" name="month-rule-DEC">
            <a:extLst xmlns:a="http://schemas.openxmlformats.org/drawingml/2006/main">
              <a:ext uri="{FF2B5EF4-FFF2-40B4-BE49-F238E27FC236}">
                <a16:creationId xmlns:a16="http://schemas.microsoft.com/office/drawing/2014/main" id="{05F632C0-BF8A-4C41-B944-8D499EBA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66700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month-label-DEC">
            <a:extLst xmlns:a="http://schemas.openxmlformats.org/drawingml/2006/main">
              <a:ext uri="{FF2B5EF4-FFF2-40B4-BE49-F238E27FC236}">
                <a16:creationId xmlns:a16="http://schemas.microsoft.com/office/drawing/2014/main" id="{BE3F8C44-A9D4-4DB2-A602-351404FF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43" name="lane-1-label">
            <a:extLst xmlns:a="http://schemas.openxmlformats.org/drawingml/2006/main">
              <a:ext uri="{FF2B5EF4-FFF2-40B4-BE49-F238E27FC236}">
                <a16:creationId xmlns:a16="http://schemas.microsoft.com/office/drawing/2014/main" id="{D0730A19-EEA9-48DA-B449-EA9DE927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622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Evaluation workflow</a:t>
            </a:r>
          </a:p>
        </p:txBody>
      </p:sp>
      <p:sp>
        <p:nvSpPr>
          <p:cNvPr id="44" name="lane-1-sub">
            <a:extLst xmlns:a="http://schemas.openxmlformats.org/drawingml/2006/main">
              <a:ext uri="{FF2B5EF4-FFF2-40B4-BE49-F238E27FC236}">
                <a16:creationId xmlns:a16="http://schemas.microsoft.com/office/drawing/2014/main" id="{F0C870D7-4DB3-4A87-A931-FA53470A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3370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A90"/>
                </a:solidFill>
                <a:latin typeface="Aptos"/>
                <a:ea typeface="Aptos"/>
                <a:cs typeface="Aptos"/>
              </a:rPr>
              <a:t>SDK, metrics, imports</a:t>
            </a:r>
          </a:p>
        </p:txBody>
      </p:sp>
      <p:sp>
        <p:nvSpPr>
          <p:cNvPr id="45" name="lane-1-baseline">
            <a:extLst xmlns:a="http://schemas.openxmlformats.org/drawingml/2006/main">
              <a:ext uri="{FF2B5EF4-FFF2-40B4-BE49-F238E27FC236}">
                <a16:creationId xmlns:a16="http://schemas.microsoft.com/office/drawing/2014/main" id="{9881E1B5-7216-4B91-9633-EF124477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792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lane-1-progress">
            <a:extLst xmlns:a="http://schemas.openxmlformats.org/drawingml/2006/main">
              <a:ext uri="{FF2B5EF4-FFF2-40B4-BE49-F238E27FC236}">
                <a16:creationId xmlns:a16="http://schemas.microsoft.com/office/drawing/2014/main" id="{D9AFA2A4-A5E7-4F7D-BAD5-16BA787A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784555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lane-2-label">
            <a:extLst xmlns:a="http://schemas.openxmlformats.org/drawingml/2006/main">
              <a:ext uri="{FF2B5EF4-FFF2-40B4-BE49-F238E27FC236}">
                <a16:creationId xmlns:a16="http://schemas.microsoft.com/office/drawing/2014/main" id="{5BDF7633-4C15-4B4F-8F50-0DE85D41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Analysis intelligence</a:t>
            </a:r>
          </a:p>
        </p:txBody>
      </p:sp>
      <p:sp>
        <p:nvSpPr>
          <p:cNvPr id="48" name="lane-2-sub">
            <a:extLst xmlns:a="http://schemas.openxmlformats.org/drawingml/2006/main">
              <a:ext uri="{FF2B5EF4-FFF2-40B4-BE49-F238E27FC236}">
                <a16:creationId xmlns:a16="http://schemas.microsoft.com/office/drawing/2014/main" id="{00D53575-9766-4710-A864-C937AF7E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3860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A90"/>
                </a:solidFill>
                <a:latin typeface="Aptos"/>
                <a:ea typeface="Aptos"/>
                <a:cs typeface="Aptos"/>
              </a:rPr>
              <a:t>comparison, review, failure flow</a:t>
            </a:r>
          </a:p>
        </p:txBody>
      </p:sp>
      <p:sp>
        <p:nvSpPr>
          <p:cNvPr id="49" name="lane-2-baseline">
            <a:extLst xmlns:a="http://schemas.openxmlformats.org/drawingml/2006/main">
              <a:ext uri="{FF2B5EF4-FFF2-40B4-BE49-F238E27FC236}">
                <a16:creationId xmlns:a16="http://schemas.microsoft.com/office/drawing/2014/main" id="{42470B27-6498-4AA8-91DC-15909743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14800"/>
            <a:ext cx="792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lane-2-progress">
            <a:extLst xmlns:a="http://schemas.openxmlformats.org/drawingml/2006/main">
              <a:ext uri="{FF2B5EF4-FFF2-40B4-BE49-F238E27FC236}">
                <a16:creationId xmlns:a16="http://schemas.microsoft.com/office/drawing/2014/main" id="{FB9B31CB-C594-47B2-886D-61A3E565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14800"/>
            <a:ext cx="784555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lane-3-label">
            <a:extLst xmlns:a="http://schemas.openxmlformats.org/drawingml/2006/main">
              <a:ext uri="{FF2B5EF4-FFF2-40B4-BE49-F238E27FC236}">
                <a16:creationId xmlns:a16="http://schemas.microsoft.com/office/drawing/2014/main" id="{8A13656E-AF2A-4501-A12E-24222308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720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Platform operations</a:t>
            </a:r>
          </a:p>
        </p:txBody>
      </p:sp>
      <p:sp>
        <p:nvSpPr>
          <p:cNvPr id="52" name="lane-3-sub">
            <a:extLst xmlns:a="http://schemas.openxmlformats.org/drawingml/2006/main">
              <a:ext uri="{FF2B5EF4-FFF2-40B4-BE49-F238E27FC236}">
                <a16:creationId xmlns:a16="http://schemas.microsoft.com/office/drawing/2014/main" id="{1B646725-1189-4D63-AA05-69572B64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4350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7A90"/>
                </a:solidFill>
                <a:latin typeface="Aptos"/>
                <a:ea typeface="Aptos"/>
                <a:cs typeface="Aptos"/>
              </a:rPr>
              <a:t>teams, auth, hosted admin</a:t>
            </a:r>
          </a:p>
        </p:txBody>
      </p:sp>
      <p:sp>
        <p:nvSpPr>
          <p:cNvPr id="53" name="lane-3-baseline">
            <a:extLst xmlns:a="http://schemas.openxmlformats.org/drawingml/2006/main">
              <a:ext uri="{FF2B5EF4-FFF2-40B4-BE49-F238E27FC236}">
                <a16:creationId xmlns:a16="http://schemas.microsoft.com/office/drawing/2014/main" id="{BC5D8795-B536-4536-8C41-23B0E087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19700"/>
            <a:ext cx="792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lane-3-progress">
            <a:extLst xmlns:a="http://schemas.openxmlformats.org/drawingml/2006/main">
              <a:ext uri="{FF2B5EF4-FFF2-40B4-BE49-F238E27FC236}">
                <a16:creationId xmlns:a16="http://schemas.microsoft.com/office/drawing/2014/main" id="{395F2D54-74F8-4B99-AE28-48B710B5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19700"/>
            <a:ext cx="784555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connector-MAY">
            <a:extLst xmlns:a="http://schemas.openxmlformats.org/drawingml/2006/main">
              <a:ext uri="{FF2B5EF4-FFF2-40B4-BE49-F238E27FC236}">
                <a16:creationId xmlns:a16="http://schemas.microsoft.com/office/drawing/2014/main" id="{51EC1BB9-1CAF-420D-9710-617C043E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14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milestone-dot-MAY">
            <a:extLst xmlns:a="http://schemas.openxmlformats.org/drawingml/2006/main">
              <a:ext uri="{FF2B5EF4-FFF2-40B4-BE49-F238E27FC236}">
                <a16:creationId xmlns:a16="http://schemas.microsoft.com/office/drawing/2014/main" id="{F79ADC18-72DD-4A1D-A436-3014257F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33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57" name="milestone-box-MAY">
            <a:extLst xmlns:a="http://schemas.openxmlformats.org/drawingml/2006/main">
              <a:ext uri="{FF2B5EF4-FFF2-40B4-BE49-F238E27FC236}">
                <a16:creationId xmlns:a16="http://schemas.microsoft.com/office/drawing/2014/main" id="{7B60C82D-32A0-4583-95AF-FAFC8990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2004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D4AA">
                <a:alpha val="50196"/>
              </a:srgbClr>
            </a:solidFill>
            <a:prstDash val="solid"/>
          </a:ln>
        </p:spPr>
      </p:sp>
      <p:sp>
        <p:nvSpPr>
          <p:cNvPr id="58" name="milestone-accent-MAY">
            <a:extLst xmlns:a="http://schemas.openxmlformats.org/drawingml/2006/main">
              <a:ext uri="{FF2B5EF4-FFF2-40B4-BE49-F238E27FC236}">
                <a16:creationId xmlns:a16="http://schemas.microsoft.com/office/drawing/2014/main" id="{132E4840-6BD9-4EE5-9770-D8C47FAD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20040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milestone-title-MAY">
            <a:extLst xmlns:a="http://schemas.openxmlformats.org/drawingml/2006/main">
              <a:ext uri="{FF2B5EF4-FFF2-40B4-BE49-F238E27FC236}">
                <a16:creationId xmlns:a16="http://schemas.microsoft.com/office/drawing/2014/main" id="{3E1E72CA-AB1E-451C-90DA-38B3FA6C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2766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Metric registry baseline</a:t>
            </a:r>
          </a:p>
        </p:txBody>
      </p:sp>
      <p:sp>
        <p:nvSpPr>
          <p:cNvPr id="60" name="milestone-detail-MAY">
            <a:extLst xmlns:a="http://schemas.openxmlformats.org/drawingml/2006/main">
              <a:ext uri="{FF2B5EF4-FFF2-40B4-BE49-F238E27FC236}">
                <a16:creationId xmlns:a16="http://schemas.microsoft.com/office/drawing/2014/main" id="{766AFA86-79A7-49D6-925D-59C55065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909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Datasets, metrics, run schema.</a:t>
            </a:r>
          </a:p>
        </p:txBody>
      </p:sp>
      <p:sp>
        <p:nvSpPr>
          <p:cNvPr id="61" name="connector-JUN">
            <a:extLst xmlns:a="http://schemas.openxmlformats.org/drawingml/2006/main">
              <a:ext uri="{FF2B5EF4-FFF2-40B4-BE49-F238E27FC236}">
                <a16:creationId xmlns:a16="http://schemas.microsoft.com/office/drawing/2014/main" id="{2CA75E8C-A6B5-4940-AA99-97A743D8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264" y="3352800"/>
            <a:ext cx="14288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milestone-dot-JUN">
            <a:extLst xmlns:a="http://schemas.openxmlformats.org/drawingml/2006/main">
              <a:ext uri="{FF2B5EF4-FFF2-40B4-BE49-F238E27FC236}">
                <a16:creationId xmlns:a16="http://schemas.microsoft.com/office/drawing/2014/main" id="{8F0AF233-9109-4627-85C0-798DDBA2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064" y="4038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63" name="milestone-box-JUN">
            <a:extLst xmlns:a="http://schemas.openxmlformats.org/drawingml/2006/main">
              <a:ext uri="{FF2B5EF4-FFF2-40B4-BE49-F238E27FC236}">
                <a16:creationId xmlns:a16="http://schemas.microsoft.com/office/drawing/2014/main" id="{5CA1E2BB-E7A5-43E5-9240-A9264DC4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389" y="32766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0196"/>
              </a:srgbClr>
            </a:solidFill>
            <a:prstDash val="solid"/>
          </a:ln>
        </p:spPr>
      </p:sp>
      <p:sp>
        <p:nvSpPr>
          <p:cNvPr id="64" name="milestone-accent-JUN">
            <a:extLst xmlns:a="http://schemas.openxmlformats.org/drawingml/2006/main">
              <a:ext uri="{FF2B5EF4-FFF2-40B4-BE49-F238E27FC236}">
                <a16:creationId xmlns:a16="http://schemas.microsoft.com/office/drawing/2014/main" id="{E213FA56-3A63-4C2A-8871-D4496768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389" y="327660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milestone-title-JUN">
            <a:extLst xmlns:a="http://schemas.openxmlformats.org/drawingml/2006/main">
              <a:ext uri="{FF2B5EF4-FFF2-40B4-BE49-F238E27FC236}">
                <a16:creationId xmlns:a16="http://schemas.microsoft.com/office/drawing/2014/main" id="{FCCD4671-0D34-4EEE-8D66-C42CA29C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689" y="33528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compare dashboard</a:t>
            </a:r>
          </a:p>
        </p:txBody>
      </p:sp>
      <p:sp>
        <p:nvSpPr>
          <p:cNvPr id="66" name="milestone-detail-JUN">
            <a:extLst xmlns:a="http://schemas.openxmlformats.org/drawingml/2006/main">
              <a:ext uri="{FF2B5EF4-FFF2-40B4-BE49-F238E27FC236}">
                <a16:creationId xmlns:a16="http://schemas.microsoft.com/office/drawing/2014/main" id="{AD4AAA37-6B45-4A72-A883-FDACEEE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689" y="36671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Model, task, metric deltas.</a:t>
            </a:r>
          </a:p>
        </p:txBody>
      </p:sp>
      <p:sp>
        <p:nvSpPr>
          <p:cNvPr id="67" name="connector-JUL">
            <a:extLst xmlns:a="http://schemas.openxmlformats.org/drawingml/2006/main">
              <a:ext uri="{FF2B5EF4-FFF2-40B4-BE49-F238E27FC236}">
                <a16:creationId xmlns:a16="http://schemas.microsoft.com/office/drawing/2014/main" id="{DD3AA8EE-6C7D-4287-8E45-10E4BFB9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379" y="3352800"/>
            <a:ext cx="14288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milestone-dot-JUL">
            <a:extLst xmlns:a="http://schemas.openxmlformats.org/drawingml/2006/main">
              <a:ext uri="{FF2B5EF4-FFF2-40B4-BE49-F238E27FC236}">
                <a16:creationId xmlns:a16="http://schemas.microsoft.com/office/drawing/2014/main" id="{89A65380-AE1A-4A51-BA90-BA1E3147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179" y="4038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69" name="milestone-box-JUL">
            <a:extLst xmlns:a="http://schemas.openxmlformats.org/drawingml/2006/main">
              <a:ext uri="{FF2B5EF4-FFF2-40B4-BE49-F238E27FC236}">
                <a16:creationId xmlns:a16="http://schemas.microsoft.com/office/drawing/2014/main" id="{ABDA1628-C9B7-4AB5-8019-229805C0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504" y="32766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A8FF">
                <a:alpha val="50196"/>
              </a:srgbClr>
            </a:solidFill>
            <a:prstDash val="solid"/>
          </a:ln>
        </p:spPr>
      </p:sp>
      <p:sp>
        <p:nvSpPr>
          <p:cNvPr id="70" name="milestone-accent-JUL">
            <a:extLst xmlns:a="http://schemas.openxmlformats.org/drawingml/2006/main">
              <a:ext uri="{FF2B5EF4-FFF2-40B4-BE49-F238E27FC236}">
                <a16:creationId xmlns:a16="http://schemas.microsoft.com/office/drawing/2014/main" id="{6E4E63D8-13B5-4561-A1CF-37C37F28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504" y="327660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milestone-title-JUL">
            <a:extLst xmlns:a="http://schemas.openxmlformats.org/drawingml/2006/main">
              <a:ext uri="{FF2B5EF4-FFF2-40B4-BE49-F238E27FC236}">
                <a16:creationId xmlns:a16="http://schemas.microsoft.com/office/drawing/2014/main" id="{1EF1DE7D-B698-42A4-B0E6-7B0CE586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804" y="33528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failure analysis</a:t>
            </a:r>
          </a:p>
        </p:txBody>
      </p:sp>
      <p:sp>
        <p:nvSpPr>
          <p:cNvPr id="72" name="milestone-detail-JUL">
            <a:extLst xmlns:a="http://schemas.openxmlformats.org/drawingml/2006/main">
              <a:ext uri="{FF2B5EF4-FFF2-40B4-BE49-F238E27FC236}">
                <a16:creationId xmlns:a16="http://schemas.microsoft.com/office/drawing/2014/main" id="{1DDC7D27-D256-4C6F-AA2C-3E0B91AC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804" y="36671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Root cause views tied to evidence.</a:t>
            </a:r>
          </a:p>
        </p:txBody>
      </p:sp>
      <p:sp>
        <p:nvSpPr>
          <p:cNvPr id="73" name="connector-AUG">
            <a:extLst xmlns:a="http://schemas.openxmlformats.org/drawingml/2006/main">
              <a:ext uri="{FF2B5EF4-FFF2-40B4-BE49-F238E27FC236}">
                <a16:creationId xmlns:a16="http://schemas.microsoft.com/office/drawing/2014/main" id="{3B9E7129-1B0C-40E4-9621-34BA847D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493" y="3352800"/>
            <a:ext cx="14288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milestone-dot-AUG">
            <a:extLst xmlns:a="http://schemas.openxmlformats.org/drawingml/2006/main">
              <a:ext uri="{FF2B5EF4-FFF2-40B4-BE49-F238E27FC236}">
                <a16:creationId xmlns:a16="http://schemas.microsoft.com/office/drawing/2014/main" id="{7B855011-A0DD-4BC6-888A-13F716FA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293" y="4038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75" name="milestone-box-AUG">
            <a:extLst xmlns:a="http://schemas.openxmlformats.org/drawingml/2006/main">
              <a:ext uri="{FF2B5EF4-FFF2-40B4-BE49-F238E27FC236}">
                <a16:creationId xmlns:a16="http://schemas.microsoft.com/office/drawing/2014/main" id="{F92F59D2-BFB8-49D0-BD59-631917D0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618" y="32766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0196"/>
              </a:srgbClr>
            </a:solidFill>
            <a:prstDash val="solid"/>
          </a:ln>
        </p:spPr>
      </p:sp>
      <p:sp>
        <p:nvSpPr>
          <p:cNvPr id="76" name="milestone-accent-AUG">
            <a:extLst xmlns:a="http://schemas.openxmlformats.org/drawingml/2006/main">
              <a:ext uri="{FF2B5EF4-FFF2-40B4-BE49-F238E27FC236}">
                <a16:creationId xmlns:a16="http://schemas.microsoft.com/office/drawing/2014/main" id="{179B58F1-7A4B-4FAE-A978-80DCEE49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618" y="327660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milestone-title-AUG">
            <a:extLst xmlns:a="http://schemas.openxmlformats.org/drawingml/2006/main">
              <a:ext uri="{FF2B5EF4-FFF2-40B4-BE49-F238E27FC236}">
                <a16:creationId xmlns:a16="http://schemas.microsoft.com/office/drawing/2014/main" id="{6964AE27-2337-4588-9AE3-94D4EDE9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918" y="33528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queues + exports</a:t>
            </a:r>
          </a:p>
        </p:txBody>
      </p:sp>
      <p:sp>
        <p:nvSpPr>
          <p:cNvPr id="78" name="milestone-detail-AUG">
            <a:extLst xmlns:a="http://schemas.openxmlformats.org/drawingml/2006/main">
              <a:ext uri="{FF2B5EF4-FFF2-40B4-BE49-F238E27FC236}">
                <a16:creationId xmlns:a16="http://schemas.microsoft.com/office/drawing/2014/main" id="{5BDE7957-676E-44C8-A162-737A81BA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918" y="36671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Human feedback for failed cases.</a:t>
            </a:r>
          </a:p>
        </p:txBody>
      </p:sp>
      <p:sp>
        <p:nvSpPr>
          <p:cNvPr id="79" name="connector-SEP">
            <a:extLst xmlns:a="http://schemas.openxmlformats.org/drawingml/2006/main">
              <a:ext uri="{FF2B5EF4-FFF2-40B4-BE49-F238E27FC236}">
                <a16:creationId xmlns:a16="http://schemas.microsoft.com/office/drawing/2014/main" id="{60C9D487-FFA6-4B6D-ABDC-E316F598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607" y="5219700"/>
            <a:ext cx="14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milestone-dot-SEP">
            <a:extLst xmlns:a="http://schemas.openxmlformats.org/drawingml/2006/main">
              <a:ext uri="{FF2B5EF4-FFF2-40B4-BE49-F238E27FC236}">
                <a16:creationId xmlns:a16="http://schemas.microsoft.com/office/drawing/2014/main" id="{A7F4092F-3236-4E88-844A-C0191241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407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81" name="milestone-box-SEP">
            <a:extLst xmlns:a="http://schemas.openxmlformats.org/drawingml/2006/main">
              <a:ext uri="{FF2B5EF4-FFF2-40B4-BE49-F238E27FC236}">
                <a16:creationId xmlns:a16="http://schemas.microsoft.com/office/drawing/2014/main" id="{5981161F-F3FF-4A14-95F3-93618EC9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732" y="54102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F59E0B">
                <a:alpha val="50196"/>
              </a:srgbClr>
            </a:solidFill>
            <a:prstDash val="solid"/>
          </a:ln>
        </p:spPr>
      </p:sp>
      <p:sp>
        <p:nvSpPr>
          <p:cNvPr id="82" name="milestone-accent-SEP">
            <a:extLst xmlns:a="http://schemas.openxmlformats.org/drawingml/2006/main">
              <a:ext uri="{FF2B5EF4-FFF2-40B4-BE49-F238E27FC236}">
                <a16:creationId xmlns:a16="http://schemas.microsoft.com/office/drawing/2014/main" id="{61377373-03C8-4EC3-828A-D6E5492A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732" y="541020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milestone-title-SEP">
            <a:extLst xmlns:a="http://schemas.openxmlformats.org/drawingml/2006/main">
              <a:ext uri="{FF2B5EF4-FFF2-40B4-BE49-F238E27FC236}">
                <a16:creationId xmlns:a16="http://schemas.microsoft.com/office/drawing/2014/main" id="{2D511B2E-2F60-4ED4-B5A2-B7EACE17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032" y="54864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Team projects + RBAC</a:t>
            </a:r>
          </a:p>
        </p:txBody>
      </p:sp>
      <p:sp>
        <p:nvSpPr>
          <p:cNvPr id="84" name="milestone-detail-SEP">
            <a:extLst xmlns:a="http://schemas.openxmlformats.org/drawingml/2006/main">
              <a:ext uri="{FF2B5EF4-FFF2-40B4-BE49-F238E27FC236}">
                <a16:creationId xmlns:a16="http://schemas.microsoft.com/office/drawing/2014/main" id="{9FD914D6-E2D5-4D0E-B282-90A191CB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032" y="58007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Shared workspaces, governed access.</a:t>
            </a:r>
          </a:p>
        </p:txBody>
      </p:sp>
      <p:sp>
        <p:nvSpPr>
          <p:cNvPr id="85" name="connector-OCT">
            <a:extLst xmlns:a="http://schemas.openxmlformats.org/drawingml/2006/main">
              <a:ext uri="{FF2B5EF4-FFF2-40B4-BE49-F238E27FC236}">
                <a16:creationId xmlns:a16="http://schemas.microsoft.com/office/drawing/2014/main" id="{D26C15F5-361B-4ABE-AE8D-F02ACF85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721" y="3009900"/>
            <a:ext cx="14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milestone-dot-OCT">
            <a:extLst xmlns:a="http://schemas.openxmlformats.org/drawingml/2006/main">
              <a:ext uri="{FF2B5EF4-FFF2-40B4-BE49-F238E27FC236}">
                <a16:creationId xmlns:a16="http://schemas.microsoft.com/office/drawing/2014/main" id="{70377692-392A-43DC-A165-DDD99951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521" y="2933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87" name="milestone-box-OCT">
            <a:extLst xmlns:a="http://schemas.openxmlformats.org/drawingml/2006/main">
              <a:ext uri="{FF2B5EF4-FFF2-40B4-BE49-F238E27FC236}">
                <a16:creationId xmlns:a16="http://schemas.microsoft.com/office/drawing/2014/main" id="{EBD96C8E-FDB1-4415-9669-236263C9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846" y="32004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0196"/>
              </a:srgbClr>
            </a:solidFill>
            <a:prstDash val="solid"/>
          </a:ln>
        </p:spPr>
      </p:sp>
      <p:sp>
        <p:nvSpPr>
          <p:cNvPr id="88" name="milestone-accent-OCT">
            <a:extLst xmlns:a="http://schemas.openxmlformats.org/drawingml/2006/main">
              <a:ext uri="{FF2B5EF4-FFF2-40B4-BE49-F238E27FC236}">
                <a16:creationId xmlns:a16="http://schemas.microsoft.com/office/drawing/2014/main" id="{23BB2B95-C8E0-435B-9DF1-F5440E83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846" y="320040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milestone-title-OCT">
            <a:extLst xmlns:a="http://schemas.openxmlformats.org/drawingml/2006/main">
              <a:ext uri="{FF2B5EF4-FFF2-40B4-BE49-F238E27FC236}">
                <a16:creationId xmlns:a16="http://schemas.microsoft.com/office/drawing/2014/main" id="{60EA0010-3FE3-481F-AEA5-C14F772A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146" y="32766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Langfuse trace imports</a:t>
            </a:r>
          </a:p>
        </p:txBody>
      </p:sp>
      <p:sp>
        <p:nvSpPr>
          <p:cNvPr id="90" name="milestone-detail-OCT">
            <a:extLst xmlns:a="http://schemas.openxmlformats.org/drawingml/2006/main">
              <a:ext uri="{FF2B5EF4-FFF2-40B4-BE49-F238E27FC236}">
                <a16:creationId xmlns:a16="http://schemas.microsoft.com/office/drawing/2014/main" id="{0C190FD9-00BD-48B3-8B2F-25AB7AFC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146" y="35909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Bring traces into evaluation context.</a:t>
            </a:r>
          </a:p>
        </p:txBody>
      </p:sp>
      <p:sp>
        <p:nvSpPr>
          <p:cNvPr id="91" name="connector-NOV">
            <a:extLst xmlns:a="http://schemas.openxmlformats.org/drawingml/2006/main">
              <a:ext uri="{FF2B5EF4-FFF2-40B4-BE49-F238E27FC236}">
                <a16:creationId xmlns:a16="http://schemas.microsoft.com/office/drawing/2014/main" id="{50C69226-1C7C-4925-827E-4F4529BA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836" y="3009900"/>
            <a:ext cx="14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milestone-dot-NOV">
            <a:extLst xmlns:a="http://schemas.openxmlformats.org/drawingml/2006/main">
              <a:ext uri="{FF2B5EF4-FFF2-40B4-BE49-F238E27FC236}">
                <a16:creationId xmlns:a16="http://schemas.microsoft.com/office/drawing/2014/main" id="{60C90B60-9A24-46C7-938C-05F2115D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636" y="2933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93" name="milestone-box-NOV">
            <a:extLst xmlns:a="http://schemas.openxmlformats.org/drawingml/2006/main">
              <a:ext uri="{FF2B5EF4-FFF2-40B4-BE49-F238E27FC236}">
                <a16:creationId xmlns:a16="http://schemas.microsoft.com/office/drawing/2014/main" id="{A6DB3EA2-7F9E-4ABF-8146-72F3FB02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961" y="32004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94" name="milestone-accent-NOV">
            <a:extLst xmlns:a="http://schemas.openxmlformats.org/drawingml/2006/main">
              <a:ext uri="{FF2B5EF4-FFF2-40B4-BE49-F238E27FC236}">
                <a16:creationId xmlns:a16="http://schemas.microsoft.com/office/drawing/2014/main" id="{B564CE27-F0D2-4BC2-8F93-851742A7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961" y="320040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milestone-title-NOV">
            <a:extLst xmlns:a="http://schemas.openxmlformats.org/drawingml/2006/main">
              <a:ext uri="{FF2B5EF4-FFF2-40B4-BE49-F238E27FC236}">
                <a16:creationId xmlns:a16="http://schemas.microsoft.com/office/drawing/2014/main" id="{BC7A1CDB-937C-4160-BA39-74CB4D86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261" y="32766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Agent CLI health checks</a:t>
            </a:r>
          </a:p>
        </p:txBody>
      </p:sp>
      <p:sp>
        <p:nvSpPr>
          <p:cNvPr id="96" name="milestone-detail-NOV">
            <a:extLst xmlns:a="http://schemas.openxmlformats.org/drawingml/2006/main">
              <a:ext uri="{FF2B5EF4-FFF2-40B4-BE49-F238E27FC236}">
                <a16:creationId xmlns:a16="http://schemas.microsoft.com/office/drawing/2014/main" id="{C2E4FF86-91D6-458F-910F-CFB78470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261" y="35909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JSON output, config checks, retries.</a:t>
            </a:r>
          </a:p>
        </p:txBody>
      </p:sp>
      <p:sp>
        <p:nvSpPr>
          <p:cNvPr id="97" name="connector-DEC">
            <a:extLst xmlns:a="http://schemas.openxmlformats.org/drawingml/2006/main">
              <a:ext uri="{FF2B5EF4-FFF2-40B4-BE49-F238E27FC236}">
                <a16:creationId xmlns:a16="http://schemas.microsoft.com/office/drawing/2014/main" id="{21062A64-51DB-438A-90A6-FE2A815A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219700"/>
            <a:ext cx="14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milestone-dot-DEC">
            <a:extLst xmlns:a="http://schemas.openxmlformats.org/drawingml/2006/main">
              <a:ext uri="{FF2B5EF4-FFF2-40B4-BE49-F238E27FC236}">
                <a16:creationId xmlns:a16="http://schemas.microsoft.com/office/drawing/2014/main" id="{08E384AF-EAA1-447D-B479-1A9443ED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99" name="milestone-box-DEC">
            <a:extLst xmlns:a="http://schemas.openxmlformats.org/drawingml/2006/main">
              <a:ext uri="{FF2B5EF4-FFF2-40B4-BE49-F238E27FC236}">
                <a16:creationId xmlns:a16="http://schemas.microsoft.com/office/drawing/2014/main" id="{534E08B8-A0EB-4955-96E5-045BEAD9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1020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0196"/>
              </a:srgbClr>
            </a:solidFill>
            <a:prstDash val="solid"/>
          </a:ln>
        </p:spPr>
      </p:sp>
      <p:sp>
        <p:nvSpPr>
          <p:cNvPr id="100" name="milestone-accent-DEC">
            <a:extLst xmlns:a="http://schemas.openxmlformats.org/drawingml/2006/main">
              <a:ext uri="{FF2B5EF4-FFF2-40B4-BE49-F238E27FC236}">
                <a16:creationId xmlns:a16="http://schemas.microsoft.com/office/drawing/2014/main" id="{3663811F-2735-4A96-9F30-F7772BC9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1020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milestone-title-DEC">
            <a:extLst xmlns:a="http://schemas.openxmlformats.org/drawingml/2006/main">
              <a:ext uri="{FF2B5EF4-FFF2-40B4-BE49-F238E27FC236}">
                <a16:creationId xmlns:a16="http://schemas.microsoft.com/office/drawing/2014/main" id="{376A0DD2-E9E5-4FC0-B02D-87E52870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4864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Hosted org admin</a:t>
            </a:r>
          </a:p>
        </p:txBody>
      </p:sp>
      <p:sp>
        <p:nvSpPr>
          <p:cNvPr id="102" name="milestone-detail-DEC">
            <a:extLst xmlns:a="http://schemas.openxmlformats.org/drawingml/2006/main">
              <a:ext uri="{FF2B5EF4-FFF2-40B4-BE49-F238E27FC236}">
                <a16:creationId xmlns:a16="http://schemas.microsoft.com/office/drawing/2014/main" id="{B20FEB43-7DAB-441E-BDD4-0DF2A2A4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8007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Platform-ready rollout and governance.</a:t>
            </a:r>
          </a:p>
        </p:txBody>
      </p:sp>
      <p:sp>
        <p:nvSpPr>
          <p:cNvPr id="10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3BDAF8E-DB9B-4815-A0B3-8B5766C1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496050"/>
            <a:ext cx="965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08BBD50-46B4-4024-84C3-B91D5D6C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591300"/>
            <a:ext cx="676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0505E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50505E"/>
                </a:solidFill>
                <a:latin typeface="Aptos Mono"/>
                <a:ea typeface="Aptos Mono"/>
                <a:cs typeface="Aptos Mono"/>
              </a:rPr>
              <a:t>Source: qym platform styling from local dashboard assets. Roadmap copy is editable placeholder content.</a:t>
            </a:r>
          </a:p>
        </p:txBody>
      </p:sp>
      <p:sp>
        <p:nvSpPr>
          <p:cNvPr id="10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30C88FFE-6AB7-4FDF-A697-93933CA6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913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5040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2026-06-04T07:43:10.1140000Z</dcterms:created>
  <dcterms:modified xsi:type="dcterms:W3CDTF">2026-06-04T07:43:10.1140000Z</dcterms:modified>
</coreProperties>
</file>